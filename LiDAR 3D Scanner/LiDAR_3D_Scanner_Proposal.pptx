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B949E"/>
                </a:solidFill>
                <a:latin typeface="Arial"/>
              </a:rPr>
              <a:t>Task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88FF"/>
              </a:solidFill>
              <a:effectLst/>
            </c:spPr>
          </c:dPt>
          <c:dPt>
            <c:idx val="1"/>
            <c:bubble3D val="0"/>
            <c:spPr>
              <a:solidFill>
                <a:srgbClr val="00CC66"/>
              </a:solidFill>
              <a:effectLst/>
            </c:spPr>
          </c:dPt>
          <c:dPt>
            <c:idx val="2"/>
            <c:bubble3D val="0"/>
            <c:spPr>
              <a:solidFill>
                <a:srgbClr val="FFD7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Hardware Tasks</c:v>
                </c:pt>
                <c:pt idx="1">
                  <c:v>Software Tasks</c:v>
                </c:pt>
                <c:pt idx="2">
                  <c:v>Shared Tasks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</c:v>
                </c:pt>
                <c:pt idx="1">
                  <c:v>45</c:v>
                </c:pt>
                <c:pt idx="2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B25 FIT LEVEL 01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Information Technology  |  University of Moratuwa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377440" cy="2377440"/>
          </a:xfrm>
          <a:prstGeom prst="ellipse">
            <a:avLst/>
          </a:prstGeom>
          <a:solidFill>
            <a:srgbClr val="001133">
              <a:alpha val="80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1371600"/>
            <a:ext cx="1828800" cy="1828800"/>
          </a:xfrm>
          <a:prstGeom prst="ellipse">
            <a:avLst/>
          </a:prstGeom>
          <a:solidFill>
            <a:srgbClr val="001A44">
              <a:alpha val="70000"/>
            </a:srgbClr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3611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LiDAR-Based 3D Scanner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42519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 •  AUTOMATED  •  CLOUD ENABLED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4617720"/>
            <a:ext cx="6400800" cy="228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4526280"/>
            <a:ext cx="8229600" cy="530352"/>
          </a:xfrm>
          <a:prstGeom prst="rect">
            <a:avLst/>
          </a:prstGeom>
          <a:solidFill>
            <a:srgbClr val="001A3E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5445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IT25001  |  A.B.C. Fernando  |  BSc (Hons) IT     IT25002  |  D.E.F. Perera  |  BSc (Hons) IT     IT25003  |  G.H.I. Silva  |  BSc (Hons) IT     IT25004  |  J.K.L. Rajapaksa  |  BSc (Hons) IT     IT25005  |  M.N.O. Wickramasinghe  |  BSc (Hons) IT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478231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Dr. [Supervisor Name]  —  Department of Information Technology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11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/ 2026  Academic Year  |  ⚑ Replace placeholder names, index numbers &amp; supervisor name with actual details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023360" cy="4160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3D Scanning?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scanning is the process of capturing the shape of physical objects and converting them into precise digital 3D models.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(Light Detection And Ranging) is one of the most powerful technologies for 3D scanning, using laser pulses to measure distances with millimetre-level precision.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builds a bench-top LiDAR scanner using a rotating turntable and a 360° spinning LiDAR sensor, controlled by an ESP32 microcontroller, capable of generating point clouds and 3D mesh models uploaded to the cloud.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685800"/>
            <a:ext cx="406908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685800"/>
            <a:ext cx="64008" cy="12984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795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94960" y="7955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16128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Time-of-Flight LiDAR + motorised turntable + cloud pipeline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103120"/>
            <a:ext cx="406908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03120"/>
            <a:ext cx="64008" cy="12984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94960" y="22128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Area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257860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Heritage preservation, reverse engineering, AR/VR content creation, education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520440"/>
            <a:ext cx="406908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520440"/>
            <a:ext cx="64008" cy="12984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94960" y="3630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399592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5-member multidisciplinary capstone team covering HW, SW, ME, Data &amp; UX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AIM &amp; OBJECTIVES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777240"/>
          </a:xfrm>
          <a:prstGeom prst="rect">
            <a:avLst/>
          </a:prstGeom>
          <a:solidFill>
            <a:srgbClr val="001A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949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AIM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694944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design and build a precision LiDAR-based 3D scanner that automatically captures dense point clouds of medium-sized objects, generates 3D mesh models, and uploads results to cloud storage — completed within a 12-month capstone project by a 5-member team.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670048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72768"/>
            <a:ext cx="2670048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847088"/>
            <a:ext cx="2670048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184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636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Sub-cm Accuracy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48256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≤2 mm accuracy on reconstructed 3D shapes using LiDAR ToF measurement.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572768"/>
            <a:ext cx="2670048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572768"/>
            <a:ext cx="2670048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1847088"/>
            <a:ext cx="2670048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6184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3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1636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Rotation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048256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stepper motor control for 360° automated turntable rotation with 0.09° resolution.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1572768"/>
            <a:ext cx="2670048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572768"/>
            <a:ext cx="2670048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1847088"/>
            <a:ext cx="2670048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6184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1636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 Capture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72200" y="2048256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and buffer LiDAR point cloud data synchronised with turntable angle in real time.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236976"/>
            <a:ext cx="2670048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236976"/>
            <a:ext cx="2670048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" y="3511296"/>
            <a:ext cx="2670048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28269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4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33009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4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Mesh Generation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3712464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raw point clouds through filtering, registration, and Poisson surface reconstruction.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3236976"/>
            <a:ext cx="2670048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3236976"/>
            <a:ext cx="2670048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0" y="3511296"/>
            <a:ext cx="2670048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328269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703320" y="33009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Upload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37560" y="3712464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 compressed 3D files (PLY/OBJ/STL) to AWS S3 or Firebase via Wi-Fi over HTTPS.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35040" y="3236976"/>
            <a:ext cx="2670048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3236976"/>
            <a:ext cx="2670048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40" name="Shape 38"/>
          <p:cNvSpPr/>
          <p:nvPr/>
        </p:nvSpPr>
        <p:spPr>
          <a:xfrm>
            <a:off x="6035040" y="3511296"/>
            <a:ext cx="2670048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41" name="Text 39"/>
          <p:cNvSpPr/>
          <p:nvPr/>
        </p:nvSpPr>
        <p:spPr>
          <a:xfrm>
            <a:off x="6126480" y="328269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537960" y="33009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72200" y="3712464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React-based web interface to view, download, and share generated 3D models.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PROBLEM &amp; PROPOSED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3977640" cy="4315968"/>
          </a:xfrm>
          <a:prstGeom prst="rect">
            <a:avLst/>
          </a:prstGeom>
          <a:solidFill>
            <a:srgbClr val="1A0808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85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PROBLEMS IDENTIFIED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3703320" cy="822960"/>
          </a:xfrm>
          <a:prstGeom prst="rect">
            <a:avLst/>
          </a:prstGeom>
          <a:solidFill>
            <a:srgbClr val="220808"/>
          </a:solidFill>
          <a:ln w="12700">
            <a:solidFill>
              <a:srgbClr val="44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15568"/>
            <a:ext cx="54864" cy="82296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1795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4447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3D scanners (e.g. Artec, FARO) cost $10,000–$100,000+, limiting access for education and small teams.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029968"/>
            <a:ext cx="3703320" cy="822960"/>
          </a:xfrm>
          <a:prstGeom prst="rect">
            <a:avLst/>
          </a:prstGeom>
          <a:solidFill>
            <a:srgbClr val="220808"/>
          </a:solidFill>
          <a:ln w="12700">
            <a:solidFill>
              <a:srgbClr val="44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029968"/>
            <a:ext cx="54864" cy="82296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0939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photogrammetry and structured-light scanning require extensive setup time and expertise.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944368"/>
            <a:ext cx="3703320" cy="822960"/>
          </a:xfrm>
          <a:prstGeom prst="rect">
            <a:avLst/>
          </a:prstGeom>
          <a:solidFill>
            <a:srgbClr val="220808"/>
          </a:solidFill>
          <a:ln w="12700">
            <a:solidFill>
              <a:srgbClr val="44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944368"/>
            <a:ext cx="54864" cy="82296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008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Cloud Pipeline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273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affordable DIY scanners lack automated cloud upload or remote access capabilities.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858768"/>
            <a:ext cx="3703320" cy="822960"/>
          </a:xfrm>
          <a:prstGeom prst="rect">
            <a:avLst/>
          </a:prstGeom>
          <a:solidFill>
            <a:srgbClr val="220808"/>
          </a:solidFill>
          <a:ln w="12700">
            <a:solidFill>
              <a:srgbClr val="44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58768"/>
            <a:ext cx="54864" cy="82296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922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Portability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4187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academic projects are not modular or reproducible for capstone teams with limited budgets.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621792"/>
            <a:ext cx="4206240" cy="4315968"/>
          </a:xfrm>
          <a:prstGeom prst="rect">
            <a:avLst/>
          </a:prstGeom>
          <a:solidFill>
            <a:srgbClr val="081A08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685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PROPOSED SOLUTION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115568"/>
            <a:ext cx="3886200" cy="822960"/>
          </a:xfrm>
          <a:prstGeom prst="rect">
            <a:avLst/>
          </a:prstGeom>
          <a:solidFill>
            <a:srgbClr val="082208"/>
          </a:solidFill>
          <a:ln w="12700">
            <a:solidFill>
              <a:srgbClr val="0044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115568"/>
            <a:ext cx="54864" cy="82296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1179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LiDAR Scanner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64608" y="14447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YDLIDAR X4 (~LKR 30,000) on a custom turntable — total BOM under LKR 75,000.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029968"/>
            <a:ext cx="3886200" cy="822960"/>
          </a:xfrm>
          <a:prstGeom prst="rect">
            <a:avLst/>
          </a:prstGeom>
          <a:solidFill>
            <a:srgbClr val="082208"/>
          </a:solidFill>
          <a:ln w="12700">
            <a:solidFill>
              <a:srgbClr val="0044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029968"/>
            <a:ext cx="54864" cy="82296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2093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Automated Operation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64608" y="23591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ESP32-controlled stepper motor automates full 360° scan cycle with one button press.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2944368"/>
            <a:ext cx="3886200" cy="822960"/>
          </a:xfrm>
          <a:prstGeom prst="rect">
            <a:avLst/>
          </a:prstGeom>
          <a:solidFill>
            <a:srgbClr val="082208"/>
          </a:solidFill>
          <a:ln w="12700">
            <a:solidFill>
              <a:srgbClr val="0044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944368"/>
            <a:ext cx="54864" cy="82296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3008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Cloud Pipeline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64608" y="32735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upload to AWS S3/Firebase with Flask API backend and 3D web viewer.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3858768"/>
            <a:ext cx="3886200" cy="822960"/>
          </a:xfrm>
          <a:prstGeom prst="rect">
            <a:avLst/>
          </a:prstGeom>
          <a:solidFill>
            <a:srgbClr val="082208"/>
          </a:solidFill>
          <a:ln w="12700">
            <a:solidFill>
              <a:srgbClr val="0044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858768"/>
            <a:ext cx="54864" cy="82296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9" name="Text 37"/>
          <p:cNvSpPr/>
          <p:nvPr/>
        </p:nvSpPr>
        <p:spPr>
          <a:xfrm>
            <a:off x="4864608" y="3922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&amp; Modular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64608" y="41879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PCL + Open3D processing pipeline. Modular hardware allows easy upgrade or repair.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IMPLEMENTATION  |  System Block Diagram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66928"/>
            <a:ext cx="8686800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IMPLEMENTATION  |  Data Flow &amp; Workflow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115568" cy="16459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475488" cy="47548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66420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217627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turntable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(≤350mm dia)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44168" y="1828800"/>
            <a:ext cx="128016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72184" y="1005840"/>
            <a:ext cx="1115568" cy="164592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92224" y="1097280"/>
            <a:ext cx="475488" cy="475488"/>
          </a:xfrm>
          <a:prstGeom prst="ellipse">
            <a:avLst/>
          </a:prstGeom>
          <a:solidFill>
            <a:srgbClr val="39D353"/>
          </a:solidFill>
          <a:ln/>
        </p:spPr>
      </p:sp>
      <p:sp>
        <p:nvSpPr>
          <p:cNvPr id="13" name="Text 11"/>
          <p:cNvSpPr/>
          <p:nvPr/>
        </p:nvSpPr>
        <p:spPr>
          <a:xfrm>
            <a:off x="1792224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36192" y="166420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36192" y="217627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Web/Button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87752" y="1828800"/>
            <a:ext cx="128016" cy="0"/>
          </a:xfrm>
          <a:prstGeom prst="line">
            <a:avLst/>
          </a:prstGeom>
          <a:noFill/>
          <a:ln w="25400">
            <a:solidFill>
              <a:srgbClr val="39D3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15768" y="1005840"/>
            <a:ext cx="1115568" cy="16459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35808" y="1097280"/>
            <a:ext cx="475488" cy="475488"/>
          </a:xfrm>
          <a:prstGeom prst="ellipse">
            <a:avLst/>
          </a:prstGeom>
          <a:solidFill>
            <a:srgbClr val="FF8800"/>
          </a:solidFill>
          <a:ln/>
        </p:spPr>
      </p:sp>
      <p:sp>
        <p:nvSpPr>
          <p:cNvPr id="19" name="Text 17"/>
          <p:cNvSpPr/>
          <p:nvPr/>
        </p:nvSpPr>
        <p:spPr>
          <a:xfrm>
            <a:off x="3035808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79776" y="166420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79776" y="217627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sweep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~9k pts/sec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31336" y="1828800"/>
            <a:ext cx="128016" cy="0"/>
          </a:xfrm>
          <a:prstGeom prst="line">
            <a:avLst/>
          </a:prstGeom>
          <a:noFill/>
          <a:ln w="25400">
            <a:solidFill>
              <a:srgbClr val="FF88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59352" y="1005840"/>
            <a:ext cx="1115568" cy="16459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79392" y="1097280"/>
            <a:ext cx="475488" cy="47548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5" name="Text 23"/>
          <p:cNvSpPr/>
          <p:nvPr/>
        </p:nvSpPr>
        <p:spPr>
          <a:xfrm>
            <a:off x="4279392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23360" y="166420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23360" y="217627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Angle-tag each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cloud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74920" y="1828800"/>
            <a:ext cx="128016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02936" y="1005840"/>
            <a:ext cx="1115568" cy="1645920"/>
          </a:xfrm>
          <a:prstGeom prst="rect">
            <a:avLst/>
          </a:prstGeom>
          <a:solidFill>
            <a:srgbClr val="161B22"/>
          </a:solidFill>
          <a:ln w="25400">
            <a:solidFill>
              <a:srgbClr val="884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22976" y="1097280"/>
            <a:ext cx="475488" cy="475488"/>
          </a:xfrm>
          <a:prstGeom prst="ellipse">
            <a:avLst/>
          </a:prstGeom>
          <a:solidFill>
            <a:srgbClr val="8844FF"/>
          </a:solidFill>
          <a:ln/>
        </p:spPr>
      </p:sp>
      <p:sp>
        <p:nvSpPr>
          <p:cNvPr id="31" name="Text 29"/>
          <p:cNvSpPr/>
          <p:nvPr/>
        </p:nvSpPr>
        <p:spPr>
          <a:xfrm>
            <a:off x="5522976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66944" y="166420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4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84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66944" y="217627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PCL/Open3D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recon.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18504" y="1828800"/>
            <a:ext cx="128016" cy="0"/>
          </a:xfrm>
          <a:prstGeom prst="line">
            <a:avLst/>
          </a:prstGeom>
          <a:noFill/>
          <a:ln w="25400">
            <a:solidFill>
              <a:srgbClr val="8844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1005840"/>
            <a:ext cx="1115568" cy="16459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44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1097280"/>
            <a:ext cx="475488" cy="475488"/>
          </a:xfrm>
          <a:prstGeom prst="ellipse">
            <a:avLst/>
          </a:prstGeom>
          <a:solidFill>
            <a:srgbClr val="FF44AA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10528" y="166420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4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10528" y="217627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→ AWS S3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562088" y="1828800"/>
            <a:ext cx="128016" cy="0"/>
          </a:xfrm>
          <a:prstGeom prst="line">
            <a:avLst/>
          </a:prstGeom>
          <a:noFill/>
          <a:ln w="25400">
            <a:solidFill>
              <a:srgbClr val="FF44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90104" y="1005840"/>
            <a:ext cx="1115568" cy="16459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10144" y="1097280"/>
            <a:ext cx="475488" cy="47548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3" name="Text 41"/>
          <p:cNvSpPr/>
          <p:nvPr/>
        </p:nvSpPr>
        <p:spPr>
          <a:xfrm>
            <a:off x="8010144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754112" y="166420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54112" y="217627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viewer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2907792"/>
            <a:ext cx="393192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9992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TURNTABLE CONTROL LOOP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33375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ESP32 sends step pulse to TMC2209 driver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NEMA17 rotates turntable by 0.09° per micro-step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Encoder reads actual angle → feeds back to ESP32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LiDAR packet is tagged with current angle value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After full 360° — stepper holds; data saved to SD card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0" y="2907792"/>
            <a:ext cx="42519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999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POINT CLOUD PIPELINE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754880" y="3337560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(r, θ, φ) → Cartesian (x, y, z) conversion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Outlier Removal (PCL) — noise filtering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 Grid Downsampling — reduce point density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Surface Reconstruction → watertight mesh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Export: .PLY (colour) / .OBJ (mesh) / .STL (print)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IMPLEMENTATION  |  Technical Hand Sketch (3D View)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66928"/>
            <a:ext cx="8686800" cy="45354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113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Hand-drawn design sketch — all dimensions in mm — final design subject to revision during fabrication phase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COMPONENTS USED &amp; TECHNOLOGIES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9436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50292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 / Notes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Sensor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YDLIDAR X4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0.12–10m, 0.5° res., UART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Microcontroller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 WROOM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 MHz, Wi-Fi/BLE, FreeRTOS, ~$5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Stepper Motor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NEMA17 (42HS40)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1.8°/step, 0.5 Nm, 12V, ~$15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 Driver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TMC2209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Microstepping, silent, SPI/UART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AS5048A Magnetic (1024C)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SPI, absolute angle feedback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MPU-6050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6-DOF, I2C, vibration detection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2.4" ILI9341 LCD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SPI, status/scan info display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 Card Module (32GB)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FAT32, SPI, raw point cloud buffer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Supply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24V 5A DC Adapter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220V AC, 120W rated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Aluminum Extrusion 2020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400mm rails, T-nuts, corner brackets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Bearings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608ZZ Ball Bearings (×4)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8mm bore, low-friction rotation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Firmware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Arduino IDE + FreeRTOS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 C/C++, stepper + LiDAR tasks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+ PCL + Open3D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cloud filter, mesh reconstruction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Flask (Python)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 API for file management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+ Three.js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dashboard, 3D model viewer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S3 / Firebase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upload, remote access, HTTPS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EXPECTED BUDGET (LKR)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rate used: 1 USD ≈ LKR 305 (approx. May 2025)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645920"/>
                <a:gridCol w="2194560"/>
              </a:tblGrid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 / Item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(USD)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(LKR)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YDLIDAR X4 LiDAR Sensor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 WROOM Dev Board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NEMA17 Stepper Motor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TMC2209 Motor Driver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AS5048A Magnetic Encoder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MPU-6050 IMU Module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2.4" ILI9341 LCD Display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Aluminum Extrusion 2020 (4×500mm)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Ball Bearings 608ZZ (×4)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 Turntable Platform (custom)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PCB / Prototype Board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 Card Module + 32GB Card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24V 5A Power Supply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Wiring, Connectors, Misc.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Printed Parts / Enclosure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Fasteners, Hardware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(AWS Free Tier / Firebase)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ESTIMATED COST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~$331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100,955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Costs are estimates. Actual prices may vary with local market, shipping, and exchange rate.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WORK DISTRIBUTION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621792"/>
            <a:ext cx="2834640" cy="21031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21792"/>
            <a:ext cx="2834640" cy="530352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042416"/>
            <a:ext cx="2834640" cy="109728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676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676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Engineer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" y="9326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IT25001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216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Sensor: LiDAR Sensor (YDLIDAR X4)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4904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LiDAR UART driver development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7510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Point cloud data acquisition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011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Sensor calibration &amp; testing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2722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PCB layout for sensor interface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18688" y="621792"/>
            <a:ext cx="2834640" cy="210312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621792"/>
            <a:ext cx="2834640" cy="530352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18" name="Shape 16"/>
          <p:cNvSpPr/>
          <p:nvPr/>
        </p:nvSpPr>
        <p:spPr>
          <a:xfrm>
            <a:off x="3218688" y="1042416"/>
            <a:ext cx="2834640" cy="109728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19" name="Text 17"/>
          <p:cNvSpPr/>
          <p:nvPr/>
        </p:nvSpPr>
        <p:spPr>
          <a:xfrm>
            <a:off x="3328416" y="676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49040" y="676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SW Engineer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49040" y="9326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IT25002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55848" y="1216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Sensor: ESP32 MCU &amp; Motor Control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55848" y="14904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FreeRTOS firmware architecture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55848" y="17510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Stepper motor control (TMC2209)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55848" y="2011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buffering &amp; SD card write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55848" y="22722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Wi-Fi / MQTT communication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08776" y="621792"/>
            <a:ext cx="2834640" cy="2103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88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08776" y="621792"/>
            <a:ext cx="2834640" cy="530352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29" name="Shape 27"/>
          <p:cNvSpPr/>
          <p:nvPr/>
        </p:nvSpPr>
        <p:spPr>
          <a:xfrm>
            <a:off x="6208776" y="1042416"/>
            <a:ext cx="2834640" cy="109728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0" name="Text 28"/>
          <p:cNvSpPr/>
          <p:nvPr/>
        </p:nvSpPr>
        <p:spPr>
          <a:xfrm>
            <a:off x="6318504" y="676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39128" y="676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Engineer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39128" y="9326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IT25003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45936" y="1216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Sensor: Encoder &amp; Turntable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45936" y="14904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Turntable CAD design &amp; fabrication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45936" y="17510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Encoder integration &amp; testing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45936" y="2011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Rail frame assembly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45936" y="22722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Load capacity &amp; wobble validation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2862072"/>
            <a:ext cx="2834640" cy="2103120"/>
          </a:xfrm>
          <a:prstGeom prst="rect">
            <a:avLst/>
          </a:prstGeom>
          <a:solidFill>
            <a:srgbClr val="161B22"/>
          </a:solidFill>
          <a:ln w="19050">
            <a:solidFill>
              <a:srgbClr val="8844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2862072"/>
            <a:ext cx="2834640" cy="530352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40" name="Shape 38"/>
          <p:cNvSpPr/>
          <p:nvPr/>
        </p:nvSpPr>
        <p:spPr>
          <a:xfrm>
            <a:off x="228600" y="3282696"/>
            <a:ext cx="2834640" cy="109728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58952" y="2916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4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 Engineer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58952" y="31729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IT25004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5760" y="3456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Sensor: IMU &amp; Point Cloud Processing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3730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PCL / Open3D pipeline development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5760" y="39913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Filtering, meshing algorithms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65760" y="42519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3D model export (PLY/OBJ/STL)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5760" y="45125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upload &amp; storage scripts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18688" y="2862072"/>
            <a:ext cx="2834640" cy="2103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44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18688" y="2862072"/>
            <a:ext cx="2834640" cy="530352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51" name="Shape 49"/>
          <p:cNvSpPr/>
          <p:nvPr/>
        </p:nvSpPr>
        <p:spPr>
          <a:xfrm>
            <a:off x="3218688" y="3282696"/>
            <a:ext cx="2834640" cy="109728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52" name="Text 50"/>
          <p:cNvSpPr/>
          <p:nvPr/>
        </p:nvSpPr>
        <p:spPr>
          <a:xfrm>
            <a:off x="3328416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3749040" y="2916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Developer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749040" y="31729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IT25005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355848" y="3456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Sensor: LCD Display &amp; Web Frontend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55848" y="3730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LCD status display firmware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355848" y="39913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web dashboard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355848" y="42519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Three.js 3D model viewer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355848" y="45125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Flask REST API integration</a:t>
            </a:r>
            <a:endParaRPr lang="en-US" sz="850" dirty="0"/>
          </a:p>
        </p:txBody>
      </p:sp>
      <p:graphicFrame>
        <p:nvGraphicFramePr>
          <p:cNvPr id="60" name="Chart 0" descr=""/>
          <p:cNvGraphicFramePr/>
          <p:nvPr/>
        </p:nvGraphicFramePr>
        <p:xfrm>
          <a:off x="6080760" y="2697480"/>
          <a:ext cx="28346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PROJECT TIMELINE (12 Months)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566928"/>
            <a:ext cx="541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827020" y="566928"/>
            <a:ext cx="541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68040" y="566928"/>
            <a:ext cx="541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909060" y="566928"/>
            <a:ext cx="541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50080" y="566928"/>
            <a:ext cx="541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91100" y="566928"/>
            <a:ext cx="541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32120" y="566928"/>
            <a:ext cx="541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73140" y="566928"/>
            <a:ext cx="541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14160" y="566928"/>
            <a:ext cx="541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55180" y="566928"/>
            <a:ext cx="541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96200" y="566928"/>
            <a:ext cx="541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37220" y="566928"/>
            <a:ext cx="541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914400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Requirements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0" y="914400"/>
            <a:ext cx="1045464" cy="283464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22986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Selection &amp; Order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68040" y="1229868"/>
            <a:ext cx="504444" cy="283464"/>
          </a:xfrm>
          <a:prstGeom prst="rect">
            <a:avLst/>
          </a:prstGeom>
          <a:solidFill>
            <a:srgbClr val="39D353">
              <a:alpha val="8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54533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Design (CAD)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68040" y="1545336"/>
            <a:ext cx="1045464" cy="283464"/>
          </a:xfrm>
          <a:prstGeom prst="rect">
            <a:avLst/>
          </a:prstGeom>
          <a:solidFill>
            <a:srgbClr val="39D353">
              <a:alpha val="8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860804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Architecture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909060" y="1860804"/>
            <a:ext cx="1045464" cy="283464"/>
          </a:xfrm>
          <a:prstGeom prst="rect">
            <a:avLst/>
          </a:prstGeom>
          <a:solidFill>
            <a:srgbClr val="FF8800">
              <a:alpha val="80000"/>
            </a:srgbClr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17627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Assembly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50080" y="2176272"/>
            <a:ext cx="1586484" cy="283464"/>
          </a:xfrm>
          <a:prstGeom prst="rect">
            <a:avLst/>
          </a:prstGeom>
          <a:solidFill>
            <a:srgbClr val="FF8800">
              <a:alpha val="80000"/>
            </a:srgbClr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491740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&amp; PCB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450080" y="2491740"/>
            <a:ext cx="1586484" cy="283464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80720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Integration &amp; Test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32120" y="2807208"/>
            <a:ext cx="1045464" cy="283464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12267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Pipeline (PCL)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73140" y="3122676"/>
            <a:ext cx="1045464" cy="283464"/>
          </a:xfrm>
          <a:prstGeom prst="rect">
            <a:avLst/>
          </a:prstGeom>
          <a:solidFill>
            <a:srgbClr val="8844FF">
              <a:alpha val="80000"/>
            </a:srgbClr>
          </a:solidFill>
          <a:ln w="12700">
            <a:solidFill>
              <a:srgbClr val="884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438144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Web Dashboard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14160" y="3438144"/>
            <a:ext cx="1045464" cy="283464"/>
          </a:xfrm>
          <a:prstGeom prst="rect">
            <a:avLst/>
          </a:prstGeom>
          <a:solidFill>
            <a:srgbClr val="FF44AA">
              <a:alpha val="80000"/>
            </a:srgbClr>
          </a:solidFill>
          <a:ln w="12700">
            <a:solidFill>
              <a:srgbClr val="FF4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75361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&amp; Accuracy Test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155180" y="3753612"/>
            <a:ext cx="1045464" cy="283464"/>
          </a:xfrm>
          <a:prstGeom prst="rect">
            <a:avLst/>
          </a:prstGeom>
          <a:solidFill>
            <a:srgbClr val="FF4444">
              <a:alpha val="80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069080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Integration &amp; Demo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96200" y="4069080"/>
            <a:ext cx="504444" cy="283464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38454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&amp; Documentation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696200" y="4384548"/>
            <a:ext cx="1045464" cy="283464"/>
          </a:xfrm>
          <a:prstGeom prst="rect">
            <a:avLst/>
          </a:prstGeom>
          <a:solidFill>
            <a:srgbClr val="8B949E">
              <a:alpha val="8000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681728"/>
            <a:ext cx="8686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70001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Note: This is a high-complexity project (Hardware + Software + Algorithms). 12 months is realistic for a dedicated 5-person team with weekly milestones. Delays in component delivery (lead times) are the main risk.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REFERENCES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" y="594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Slamtec RPLIDAR A2M8 Datasheet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3440" y="5943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cdn.sparkfun.com/assets/...rplidar_datasheet_A2M8_v1.0_en.pdf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823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8823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Slamtec RPLIDAR A3M1 Datasheet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88239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generationrobots.com/media/...rplidar_datasheet_A3M1_v1.0_en.pdf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156716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1704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YDLIDAR X4 Datasheet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11704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elecrow.com/download/X4_Lidar_Datasheet.pdf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1444752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584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" y="14584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Slamtec RPLIDAR S1 Product Page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14584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mybotshop.de/SLAMTEC-RPLIDAR-S1-360-Laser-Scanner-40-m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1732788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7465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" y="1746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Velodyne VLP-16 Datasheet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17465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velodynelidar.com (Ouster/Velodyne technical specifications)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020824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0345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" y="20345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Ultimate Turntable for 3D Scanning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203454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blog.arduino.cc/2026/02/12/building-the-ultimate-turntable-for-3d-scanning/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2308860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32257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" y="2322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Motorized 3D Scanning Turntable — Hackster.io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440" y="232257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hackster.io/mertarduino/how-to-build-a-motorized-3d-scanning-turntable-567634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2596896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6106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" y="26106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Cloud Library (PCL) Documentation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261061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pointclouds.org/documentation/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2884932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898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" y="2898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Open3D Library Documentation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3440" y="289864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open3d.org/docs/release/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3172968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1866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" y="31866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Technical Reference Manual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318668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espressif.com/en/products/socs/esp32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3461004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4747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Kernel Documentation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63440" y="347472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freertos.org/Documentation/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" y="3749040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7627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4672" y="37627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 Developer Guide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63440" y="376275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docs.aws.amazon.com/AmazonS3/latest/userguide/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4037076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0507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[13]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04672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60825-1:2014 — Laser Safety Standard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63440" y="405079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iec.ch/publication/3587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5760" y="4325112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3388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[14]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4672" y="43388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Rusu, R.B. &amp; Cousins, S. (2011). 3D is here: Point Cloud Library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663440" y="43388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ICRA, Shanghai, 2011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65760" y="4613148"/>
            <a:ext cx="841248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6268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[15]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04672" y="4626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Zhou, Q.-Y., Park, J., Koltun, V. (2018). Open3D: A Modern Library for 3D Data Processing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663440" y="462686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arXiv:1801.09847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828800" y="4754880"/>
            <a:ext cx="5486400" cy="384048"/>
          </a:xfrm>
          <a:prstGeom prst="rect">
            <a:avLst/>
          </a:prstGeom>
          <a:solidFill>
            <a:srgbClr val="001A3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0" y="4754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|  B25 FIT Level 01 Project  |  LiDAR-Based 3D Scanner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LiDAR-Based 3D Scanner — Project Proposal</dc:title>
  <dc:subject>PptxGenJS Presentation</dc:subject>
  <dc:creator>PptxGenJS</dc:creator>
  <cp:lastModifiedBy>PptxGenJS</cp:lastModifiedBy>
  <cp:revision>1</cp:revision>
  <dcterms:created xsi:type="dcterms:W3CDTF">2026-05-01T07:49:07Z</dcterms:created>
  <dcterms:modified xsi:type="dcterms:W3CDTF">2026-05-01T07:49:07Z</dcterms:modified>
</cp:coreProperties>
</file>
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T Marxiana Antigua" charset="1" panose="02080602070100020303"/>
      <p:regular r:id="rId18"/>
    </p:embeddedFont>
    <p:embeddedFont>
      <p:font typeface="Source Sans Pro" charset="1" panose="020B0503030403020204"/>
      <p:regular r:id="rId19"/>
    </p:embeddedFont>
    <p:embeddedFont>
      <p:font typeface="Source Sans Pro Bold" charset="1" panose="020B0703030403020204"/>
      <p:regular r:id="rId20"/>
    </p:embeddedFont>
    <p:embeddedFont>
      <p:font typeface="Canva Sans Bold" charset="1" panose="020B08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74190" y="-918582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606" y="2803493"/>
            <a:ext cx="1645692" cy="1642700"/>
          </a:xfrm>
          <a:custGeom>
            <a:avLst/>
            <a:gdLst/>
            <a:ahLst/>
            <a:cxnLst/>
            <a:rect r="r" b="b" t="t" l="l"/>
            <a:pathLst>
              <a:path h="1642700" w="1645692">
                <a:moveTo>
                  <a:pt x="0" y="0"/>
                </a:moveTo>
                <a:lnTo>
                  <a:pt x="1645692" y="0"/>
                </a:lnTo>
                <a:lnTo>
                  <a:pt x="1645692" y="1642700"/>
                </a:lnTo>
                <a:lnTo>
                  <a:pt x="0" y="164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51741" y="-1083926"/>
            <a:ext cx="2440518" cy="2623557"/>
          </a:xfrm>
          <a:custGeom>
            <a:avLst/>
            <a:gdLst/>
            <a:ahLst/>
            <a:cxnLst/>
            <a:rect r="r" b="b" t="t" l="l"/>
            <a:pathLst>
              <a:path h="2623557" w="2440518">
                <a:moveTo>
                  <a:pt x="0" y="0"/>
                </a:moveTo>
                <a:lnTo>
                  <a:pt x="2440518" y="0"/>
                </a:lnTo>
                <a:lnTo>
                  <a:pt x="2440518" y="2623556"/>
                </a:lnTo>
                <a:lnTo>
                  <a:pt x="0" y="2623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41712" y="3613558"/>
            <a:ext cx="14463247" cy="126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63"/>
              </a:lnSpc>
            </a:pPr>
            <a:r>
              <a:rPr lang="en-US" sz="10068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LiDAR-Based 3D Scanner​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84203" y="1637810"/>
            <a:ext cx="53195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B25 FIT LEVEL 01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83010" y="2104535"/>
            <a:ext cx="63219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Faculty of Information Technology | University of Moratuwa​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19825" y="4828853"/>
            <a:ext cx="584835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PRECISION • AUTOMATED • CLOUD ENABLED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40561" y="6579871"/>
            <a:ext cx="1979432" cy="540996"/>
            <a:chOff x="0" y="0"/>
            <a:chExt cx="521332" cy="1424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1332" cy="142484"/>
            </a:xfrm>
            <a:custGeom>
              <a:avLst/>
              <a:gdLst/>
              <a:ahLst/>
              <a:cxnLst/>
              <a:rect r="r" b="b" t="t" l="l"/>
              <a:pathLst>
                <a:path h="142484" w="521332">
                  <a:moveTo>
                    <a:pt x="39112" y="0"/>
                  </a:moveTo>
                  <a:lnTo>
                    <a:pt x="482220" y="0"/>
                  </a:lnTo>
                  <a:cubicBezTo>
                    <a:pt x="492593" y="0"/>
                    <a:pt x="502541" y="4121"/>
                    <a:pt x="509876" y="11456"/>
                  </a:cubicBezTo>
                  <a:cubicBezTo>
                    <a:pt x="517211" y="18790"/>
                    <a:pt x="521332" y="28739"/>
                    <a:pt x="521332" y="39112"/>
                  </a:cubicBezTo>
                  <a:lnTo>
                    <a:pt x="521332" y="103373"/>
                  </a:lnTo>
                  <a:cubicBezTo>
                    <a:pt x="521332" y="113746"/>
                    <a:pt x="517211" y="123694"/>
                    <a:pt x="509876" y="131029"/>
                  </a:cubicBezTo>
                  <a:cubicBezTo>
                    <a:pt x="502541" y="138364"/>
                    <a:pt x="492593" y="142484"/>
                    <a:pt x="482220" y="142484"/>
                  </a:cubicBezTo>
                  <a:lnTo>
                    <a:pt x="39112" y="142484"/>
                  </a:lnTo>
                  <a:cubicBezTo>
                    <a:pt x="17511" y="142484"/>
                    <a:pt x="0" y="124974"/>
                    <a:pt x="0" y="103373"/>
                  </a:cubicBezTo>
                  <a:lnTo>
                    <a:pt x="0" y="39112"/>
                  </a:lnTo>
                  <a:cubicBezTo>
                    <a:pt x="0" y="17511"/>
                    <a:pt x="17511" y="0"/>
                    <a:pt x="39112" y="0"/>
                  </a:cubicBezTo>
                  <a:close/>
                </a:path>
              </a:pathLst>
            </a:custGeom>
            <a:ln w="28575" cap="sq">
              <a:solidFill>
                <a:srgbClr val="12110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1332" cy="180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7240" y="6651931"/>
            <a:ext cx="23673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12110F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P</a:t>
            </a:r>
            <a:r>
              <a:rPr lang="en-US" sz="2000">
                <a:solidFill>
                  <a:srgbClr val="12110F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resented By: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054210" y="7319634"/>
            <a:ext cx="4434678" cy="683260"/>
            <a:chOff x="0" y="0"/>
            <a:chExt cx="5912904" cy="91101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912904" cy="911013"/>
              <a:chOff x="0" y="0"/>
              <a:chExt cx="1167981" cy="17995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67981" cy="179953"/>
              </a:xfrm>
              <a:custGeom>
                <a:avLst/>
                <a:gdLst/>
                <a:ahLst/>
                <a:cxnLst/>
                <a:rect r="r" b="b" t="t" l="l"/>
                <a:pathLst>
                  <a:path h="179953" w="1167981">
                    <a:moveTo>
                      <a:pt x="17458" y="0"/>
                    </a:moveTo>
                    <a:lnTo>
                      <a:pt x="1150523" y="0"/>
                    </a:lnTo>
                    <a:cubicBezTo>
                      <a:pt x="1155153" y="0"/>
                      <a:pt x="1159594" y="1839"/>
                      <a:pt x="1162868" y="5113"/>
                    </a:cubicBezTo>
                    <a:cubicBezTo>
                      <a:pt x="1166142" y="8387"/>
                      <a:pt x="1167981" y="12828"/>
                      <a:pt x="1167981" y="17458"/>
                    </a:cubicBezTo>
                    <a:lnTo>
                      <a:pt x="1167981" y="162496"/>
                    </a:lnTo>
                    <a:cubicBezTo>
                      <a:pt x="1167981" y="172137"/>
                      <a:pt x="1160165" y="179953"/>
                      <a:pt x="1150523" y="179953"/>
                    </a:cubicBezTo>
                    <a:lnTo>
                      <a:pt x="17458" y="179953"/>
                    </a:lnTo>
                    <a:cubicBezTo>
                      <a:pt x="7816" y="179953"/>
                      <a:pt x="0" y="172137"/>
                      <a:pt x="0" y="162496"/>
                    </a:cubicBezTo>
                    <a:lnTo>
                      <a:pt x="0" y="17458"/>
                    </a:lnTo>
                    <a:cubicBezTo>
                      <a:pt x="0" y="7816"/>
                      <a:pt x="7816" y="0"/>
                      <a:pt x="17458" y="0"/>
                    </a:cubicBezTo>
                    <a:close/>
                  </a:path>
                </a:pathLst>
              </a:custGeom>
              <a:solidFill>
                <a:srgbClr val="5E7B9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167981" cy="2180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38502" y="215437"/>
              <a:ext cx="5435901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Marxiana Antigua"/>
                  <a:ea typeface="TT Marxiana Antigua"/>
                  <a:cs typeface="TT Marxiana Antigua"/>
                  <a:sym typeface="TT Marxiana Antigua"/>
                </a:rPr>
                <a:t>254037B</a:t>
              </a:r>
              <a:r>
                <a:rPr lang="en-US" sz="2100">
                  <a:solidFill>
                    <a:srgbClr val="FFFFFF"/>
                  </a:solidFill>
                  <a:latin typeface="TT Marxiana Antigua"/>
                  <a:ea typeface="TT Marxiana Antigua"/>
                  <a:cs typeface="TT Marxiana Antigua"/>
                  <a:sym typeface="TT Marxiana Antigua"/>
                </a:rPr>
                <a:t> | CHAMIDYA J.A.S | IT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27836" y="6533504"/>
            <a:ext cx="4434678" cy="683260"/>
            <a:chOff x="0" y="0"/>
            <a:chExt cx="5912904" cy="911013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912904" cy="911013"/>
              <a:chOff x="0" y="0"/>
              <a:chExt cx="1167981" cy="17995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167981" cy="179953"/>
              </a:xfrm>
              <a:custGeom>
                <a:avLst/>
                <a:gdLst/>
                <a:ahLst/>
                <a:cxnLst/>
                <a:rect r="r" b="b" t="t" l="l"/>
                <a:pathLst>
                  <a:path h="179953" w="1167981">
                    <a:moveTo>
                      <a:pt x="17458" y="0"/>
                    </a:moveTo>
                    <a:lnTo>
                      <a:pt x="1150523" y="0"/>
                    </a:lnTo>
                    <a:cubicBezTo>
                      <a:pt x="1155153" y="0"/>
                      <a:pt x="1159594" y="1839"/>
                      <a:pt x="1162868" y="5113"/>
                    </a:cubicBezTo>
                    <a:cubicBezTo>
                      <a:pt x="1166142" y="8387"/>
                      <a:pt x="1167981" y="12828"/>
                      <a:pt x="1167981" y="17458"/>
                    </a:cubicBezTo>
                    <a:lnTo>
                      <a:pt x="1167981" y="162496"/>
                    </a:lnTo>
                    <a:cubicBezTo>
                      <a:pt x="1167981" y="172137"/>
                      <a:pt x="1160165" y="179953"/>
                      <a:pt x="1150523" y="179953"/>
                    </a:cubicBezTo>
                    <a:lnTo>
                      <a:pt x="17458" y="179953"/>
                    </a:lnTo>
                    <a:cubicBezTo>
                      <a:pt x="7816" y="179953"/>
                      <a:pt x="0" y="172137"/>
                      <a:pt x="0" y="162496"/>
                    </a:cubicBezTo>
                    <a:lnTo>
                      <a:pt x="0" y="17458"/>
                    </a:lnTo>
                    <a:cubicBezTo>
                      <a:pt x="0" y="7816"/>
                      <a:pt x="7816" y="0"/>
                      <a:pt x="17458" y="0"/>
                    </a:cubicBezTo>
                    <a:close/>
                  </a:path>
                </a:pathLst>
              </a:custGeom>
              <a:solidFill>
                <a:srgbClr val="5E7B9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167981" cy="2180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38502" y="215437"/>
              <a:ext cx="5435901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Marxiana Antigua"/>
                  <a:ea typeface="TT Marxiana Antigua"/>
                  <a:cs typeface="TT Marxiana Antigua"/>
                  <a:sym typeface="TT Marxiana Antigua"/>
                </a:rPr>
                <a:t>254048J</a:t>
              </a:r>
              <a:r>
                <a:rPr lang="en-US" sz="2100">
                  <a:solidFill>
                    <a:srgbClr val="FFFFFF"/>
                  </a:solidFill>
                  <a:latin typeface="TT Marxiana Antigua"/>
                  <a:ea typeface="TT Marxiana Antigua"/>
                  <a:cs typeface="TT Marxiana Antigua"/>
                  <a:sym typeface="TT Marxiana Antigua"/>
                </a:rPr>
                <a:t> | DE SILVA P.S.S | IT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870449" y="7319634"/>
            <a:ext cx="4434678" cy="683260"/>
            <a:chOff x="0" y="0"/>
            <a:chExt cx="5912904" cy="91101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912904" cy="911013"/>
              <a:chOff x="0" y="0"/>
              <a:chExt cx="1167981" cy="17995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67981" cy="179953"/>
              </a:xfrm>
              <a:custGeom>
                <a:avLst/>
                <a:gdLst/>
                <a:ahLst/>
                <a:cxnLst/>
                <a:rect r="r" b="b" t="t" l="l"/>
                <a:pathLst>
                  <a:path h="179953" w="1167981">
                    <a:moveTo>
                      <a:pt x="17458" y="0"/>
                    </a:moveTo>
                    <a:lnTo>
                      <a:pt x="1150523" y="0"/>
                    </a:lnTo>
                    <a:cubicBezTo>
                      <a:pt x="1155153" y="0"/>
                      <a:pt x="1159594" y="1839"/>
                      <a:pt x="1162868" y="5113"/>
                    </a:cubicBezTo>
                    <a:cubicBezTo>
                      <a:pt x="1166142" y="8387"/>
                      <a:pt x="1167981" y="12828"/>
                      <a:pt x="1167981" y="17458"/>
                    </a:cubicBezTo>
                    <a:lnTo>
                      <a:pt x="1167981" y="162496"/>
                    </a:lnTo>
                    <a:cubicBezTo>
                      <a:pt x="1167981" y="172137"/>
                      <a:pt x="1160165" y="179953"/>
                      <a:pt x="1150523" y="179953"/>
                    </a:cubicBezTo>
                    <a:lnTo>
                      <a:pt x="17458" y="179953"/>
                    </a:lnTo>
                    <a:cubicBezTo>
                      <a:pt x="7816" y="179953"/>
                      <a:pt x="0" y="172137"/>
                      <a:pt x="0" y="162496"/>
                    </a:cubicBezTo>
                    <a:lnTo>
                      <a:pt x="0" y="17458"/>
                    </a:lnTo>
                    <a:cubicBezTo>
                      <a:pt x="0" y="7816"/>
                      <a:pt x="7816" y="0"/>
                      <a:pt x="17458" y="0"/>
                    </a:cubicBezTo>
                    <a:close/>
                  </a:path>
                </a:pathLst>
              </a:custGeom>
              <a:solidFill>
                <a:srgbClr val="5E7B9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167981" cy="2180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38502" y="215437"/>
              <a:ext cx="5435901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Marxiana Antigua"/>
                  <a:ea typeface="TT Marxiana Antigua"/>
                  <a:cs typeface="TT Marxiana Antigua"/>
                  <a:sym typeface="TT Marxiana Antigua"/>
                </a:rPr>
                <a:t>255078H</a:t>
              </a:r>
              <a:r>
                <a:rPr lang="en-US" sz="2100">
                  <a:solidFill>
                    <a:srgbClr val="FFFFFF"/>
                  </a:solidFill>
                  <a:latin typeface="TT Marxiana Antigua"/>
                  <a:ea typeface="TT Marxiana Antigua"/>
                  <a:cs typeface="TT Marxiana Antigua"/>
                  <a:sym typeface="TT Marxiana Antigua"/>
                </a:rPr>
                <a:t> | OMESH N.A.N | ITM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639943" y="7327889"/>
            <a:ext cx="4619357" cy="666750"/>
            <a:chOff x="0" y="0"/>
            <a:chExt cx="6159143" cy="889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6159143" cy="889000"/>
              <a:chOff x="0" y="0"/>
              <a:chExt cx="1216621" cy="17560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16621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1216621">
                    <a:moveTo>
                      <a:pt x="16760" y="0"/>
                    </a:moveTo>
                    <a:lnTo>
                      <a:pt x="1199861" y="0"/>
                    </a:lnTo>
                    <a:cubicBezTo>
                      <a:pt x="1204306" y="0"/>
                      <a:pt x="1208569" y="1766"/>
                      <a:pt x="1211712" y="4909"/>
                    </a:cubicBezTo>
                    <a:cubicBezTo>
                      <a:pt x="1214855" y="8052"/>
                      <a:pt x="1216621" y="12315"/>
                      <a:pt x="1216621" y="16760"/>
                    </a:cubicBezTo>
                    <a:lnTo>
                      <a:pt x="1216621" y="158845"/>
                    </a:lnTo>
                    <a:cubicBezTo>
                      <a:pt x="1216621" y="163290"/>
                      <a:pt x="1214855" y="167553"/>
                      <a:pt x="1211712" y="170696"/>
                    </a:cubicBezTo>
                    <a:cubicBezTo>
                      <a:pt x="1208569" y="173839"/>
                      <a:pt x="1204306" y="175605"/>
                      <a:pt x="1199861" y="175605"/>
                    </a:cubicBezTo>
                    <a:lnTo>
                      <a:pt x="16760" y="175605"/>
                    </a:lnTo>
                    <a:cubicBezTo>
                      <a:pt x="12315" y="175605"/>
                      <a:pt x="8052" y="173839"/>
                      <a:pt x="4909" y="170696"/>
                    </a:cubicBezTo>
                    <a:cubicBezTo>
                      <a:pt x="1766" y="167553"/>
                      <a:pt x="0" y="163290"/>
                      <a:pt x="0" y="158845"/>
                    </a:cubicBezTo>
                    <a:lnTo>
                      <a:pt x="0" y="16760"/>
                    </a:lnTo>
                    <a:cubicBezTo>
                      <a:pt x="0" y="12315"/>
                      <a:pt x="1766" y="8052"/>
                      <a:pt x="4909" y="4909"/>
                    </a:cubicBezTo>
                    <a:cubicBezTo>
                      <a:pt x="8052" y="1766"/>
                      <a:pt x="12315" y="0"/>
                      <a:pt x="16760" y="0"/>
                    </a:cubicBezTo>
                    <a:close/>
                  </a:path>
                </a:pathLst>
              </a:custGeom>
              <a:solidFill>
                <a:srgbClr val="5E7B9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16621" cy="2137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248434" y="205912"/>
              <a:ext cx="566227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T Marxiana Antigua"/>
                  <a:ea typeface="TT Marxiana Antigua"/>
                  <a:cs typeface="TT Marxiana Antigua"/>
                  <a:sym typeface="TT Marxiana Antigua"/>
                </a:rPr>
                <a:t>254101R</a:t>
              </a:r>
              <a:r>
                <a:rPr lang="en-US" sz="2000">
                  <a:solidFill>
                    <a:srgbClr val="FFFFFF"/>
                  </a:solidFill>
                  <a:latin typeface="TT Marxiana Antigua"/>
                  <a:ea typeface="TT Marxiana Antigua"/>
                  <a:cs typeface="TT Marxiana Antigua"/>
                  <a:sym typeface="TT Marxiana Antigua"/>
                </a:rPr>
                <a:t> | KALANSOORIYA O.K | IT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054210" y="6533504"/>
            <a:ext cx="5483101" cy="650240"/>
            <a:chOff x="0" y="0"/>
            <a:chExt cx="7310801" cy="866987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7310801" cy="866987"/>
              <a:chOff x="0" y="0"/>
              <a:chExt cx="1444109" cy="17125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444109" cy="171257"/>
              </a:xfrm>
              <a:custGeom>
                <a:avLst/>
                <a:gdLst/>
                <a:ahLst/>
                <a:cxnLst/>
                <a:rect r="r" b="b" t="t" l="l"/>
                <a:pathLst>
                  <a:path h="171257" w="1444109">
                    <a:moveTo>
                      <a:pt x="14120" y="0"/>
                    </a:moveTo>
                    <a:lnTo>
                      <a:pt x="1429989" y="0"/>
                    </a:lnTo>
                    <a:cubicBezTo>
                      <a:pt x="1433734" y="0"/>
                      <a:pt x="1437325" y="1488"/>
                      <a:pt x="1439973" y="4136"/>
                    </a:cubicBezTo>
                    <a:cubicBezTo>
                      <a:pt x="1442621" y="6783"/>
                      <a:pt x="1444109" y="10375"/>
                      <a:pt x="1444109" y="14120"/>
                    </a:cubicBezTo>
                    <a:lnTo>
                      <a:pt x="1444109" y="157137"/>
                    </a:lnTo>
                    <a:cubicBezTo>
                      <a:pt x="1444109" y="160882"/>
                      <a:pt x="1442621" y="164473"/>
                      <a:pt x="1439973" y="167121"/>
                    </a:cubicBezTo>
                    <a:cubicBezTo>
                      <a:pt x="1437325" y="169769"/>
                      <a:pt x="1433734" y="171257"/>
                      <a:pt x="1429989" y="171257"/>
                    </a:cubicBezTo>
                    <a:lnTo>
                      <a:pt x="14120" y="171257"/>
                    </a:lnTo>
                    <a:cubicBezTo>
                      <a:pt x="10375" y="171257"/>
                      <a:pt x="6783" y="169769"/>
                      <a:pt x="4136" y="167121"/>
                    </a:cubicBezTo>
                    <a:cubicBezTo>
                      <a:pt x="1488" y="164473"/>
                      <a:pt x="0" y="160882"/>
                      <a:pt x="0" y="157137"/>
                    </a:cubicBezTo>
                    <a:lnTo>
                      <a:pt x="0" y="14120"/>
                    </a:lnTo>
                    <a:cubicBezTo>
                      <a:pt x="0" y="10375"/>
                      <a:pt x="1488" y="6783"/>
                      <a:pt x="4136" y="4136"/>
                    </a:cubicBezTo>
                    <a:cubicBezTo>
                      <a:pt x="6783" y="1488"/>
                      <a:pt x="10375" y="0"/>
                      <a:pt x="14120" y="0"/>
                    </a:cubicBezTo>
                    <a:close/>
                  </a:path>
                </a:pathLst>
              </a:custGeom>
              <a:solidFill>
                <a:srgbClr val="5E7B9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444109" cy="209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94887" y="215437"/>
              <a:ext cx="6721027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FFFFFF"/>
                  </a:solidFill>
                  <a:latin typeface="TT Marxiana Antigua"/>
                  <a:ea typeface="TT Marxiana Antigua"/>
                  <a:cs typeface="TT Marxiana Antigua"/>
                  <a:sym typeface="TT Marxiana Antigua"/>
                </a:rPr>
                <a:t>255027D</a:t>
              </a:r>
              <a:r>
                <a:rPr lang="en-US" sz="1900">
                  <a:solidFill>
                    <a:srgbClr val="FFFFFF"/>
                  </a:solidFill>
                  <a:latin typeface="TT Marxiana Antigua"/>
                  <a:ea typeface="TT Marxiana Antigua"/>
                  <a:cs typeface="TT Marxiana Antigua"/>
                  <a:sym typeface="TT Marxiana Antigua"/>
                </a:rPr>
                <a:t> | GOONATILLAKA W.A.D.S.S | ITM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40561" y="8316906"/>
            <a:ext cx="1979432" cy="540996"/>
            <a:chOff x="0" y="0"/>
            <a:chExt cx="521332" cy="1424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1332" cy="142484"/>
            </a:xfrm>
            <a:custGeom>
              <a:avLst/>
              <a:gdLst/>
              <a:ahLst/>
              <a:cxnLst/>
              <a:rect r="r" b="b" t="t" l="l"/>
              <a:pathLst>
                <a:path h="142484" w="521332">
                  <a:moveTo>
                    <a:pt x="39112" y="0"/>
                  </a:moveTo>
                  <a:lnTo>
                    <a:pt x="482220" y="0"/>
                  </a:lnTo>
                  <a:cubicBezTo>
                    <a:pt x="492593" y="0"/>
                    <a:pt x="502541" y="4121"/>
                    <a:pt x="509876" y="11456"/>
                  </a:cubicBezTo>
                  <a:cubicBezTo>
                    <a:pt x="517211" y="18790"/>
                    <a:pt x="521332" y="28739"/>
                    <a:pt x="521332" y="39112"/>
                  </a:cubicBezTo>
                  <a:lnTo>
                    <a:pt x="521332" y="103373"/>
                  </a:lnTo>
                  <a:cubicBezTo>
                    <a:pt x="521332" y="113746"/>
                    <a:pt x="517211" y="123694"/>
                    <a:pt x="509876" y="131029"/>
                  </a:cubicBezTo>
                  <a:cubicBezTo>
                    <a:pt x="502541" y="138364"/>
                    <a:pt x="492593" y="142484"/>
                    <a:pt x="482220" y="142484"/>
                  </a:cubicBezTo>
                  <a:lnTo>
                    <a:pt x="39112" y="142484"/>
                  </a:lnTo>
                  <a:cubicBezTo>
                    <a:pt x="17511" y="142484"/>
                    <a:pt x="0" y="124974"/>
                    <a:pt x="0" y="103373"/>
                  </a:cubicBezTo>
                  <a:lnTo>
                    <a:pt x="0" y="39112"/>
                  </a:lnTo>
                  <a:cubicBezTo>
                    <a:pt x="0" y="17511"/>
                    <a:pt x="17511" y="0"/>
                    <a:pt x="39112" y="0"/>
                  </a:cubicBezTo>
                  <a:close/>
                </a:path>
              </a:pathLst>
            </a:custGeom>
            <a:ln w="28575" cap="sq">
              <a:solidFill>
                <a:srgbClr val="12110F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21332" cy="180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31581" y="8388966"/>
            <a:ext cx="14742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2110F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Supervisor: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16094" y="5381458"/>
            <a:ext cx="266140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AlgoArc (G61)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35982">
            <a:off x="14459420" y="6831570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652293">
            <a:off x="16983529" y="5751008"/>
            <a:ext cx="1645692" cy="1642700"/>
          </a:xfrm>
          <a:custGeom>
            <a:avLst/>
            <a:gdLst/>
            <a:ahLst/>
            <a:cxnLst/>
            <a:rect r="r" b="b" t="t" l="l"/>
            <a:pathLst>
              <a:path h="1642700" w="1645692">
                <a:moveTo>
                  <a:pt x="0" y="0"/>
                </a:moveTo>
                <a:lnTo>
                  <a:pt x="1645693" y="0"/>
                </a:lnTo>
                <a:lnTo>
                  <a:pt x="1645693" y="1642700"/>
                </a:lnTo>
                <a:lnTo>
                  <a:pt x="0" y="164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148079" y="8839846"/>
            <a:ext cx="2440518" cy="2623557"/>
          </a:xfrm>
          <a:custGeom>
            <a:avLst/>
            <a:gdLst/>
            <a:ahLst/>
            <a:cxnLst/>
            <a:rect r="r" b="b" t="t" l="l"/>
            <a:pathLst>
              <a:path h="2623557" w="2440518">
                <a:moveTo>
                  <a:pt x="2440517" y="2623557"/>
                </a:moveTo>
                <a:lnTo>
                  <a:pt x="0" y="2623557"/>
                </a:lnTo>
                <a:lnTo>
                  <a:pt x="0" y="0"/>
                </a:lnTo>
                <a:lnTo>
                  <a:pt x="2440517" y="0"/>
                </a:lnTo>
                <a:lnTo>
                  <a:pt x="2440517" y="262355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1831" y="8800814"/>
            <a:ext cx="818612" cy="818612"/>
            <a:chOff x="0" y="0"/>
            <a:chExt cx="215602" cy="2156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602" cy="215602"/>
            </a:xfrm>
            <a:custGeom>
              <a:avLst/>
              <a:gdLst/>
              <a:ahLst/>
              <a:cxnLst/>
              <a:rect r="r" b="b" t="t" l="l"/>
              <a:pathLst>
                <a:path h="215602" w="215602">
                  <a:moveTo>
                    <a:pt x="0" y="0"/>
                  </a:moveTo>
                  <a:lnTo>
                    <a:pt x="215602" y="0"/>
                  </a:lnTo>
                  <a:lnTo>
                    <a:pt x="215602" y="215602"/>
                  </a:lnTo>
                  <a:lnTo>
                    <a:pt x="0" y="215602"/>
                  </a:lnTo>
                  <a:close/>
                </a:path>
              </a:pathLst>
            </a:custGeom>
            <a:solidFill>
              <a:srgbClr val="5E7B9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5602" cy="253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32555" y="651043"/>
            <a:ext cx="9962224" cy="985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8"/>
              </a:lnSpc>
            </a:pPr>
            <a:r>
              <a:rPr lang="en-US" sz="7900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2555" y="1916185"/>
            <a:ext cx="10822744" cy="664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</a:t>
            </a:r>
            <a:r>
              <a:rPr lang="en-US" sz="27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is project presents an affordable and automated LiDAR-based 3D scanning system designed for applications such as research, education, prototyping, and industry. 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Unlike traditional 3D scanners, which are often expensive and inaccessible, the proposed system combines LiDAR sensing, computer vision, and a motorized turntable to capture detailed object geometry and surface data from multiple angles. 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collected data is processed into 3D point clouds and reconstructed into standard model formats like PLY, OBJ, and STL. By integrating embedded systems, real-time processing, cloud connectivity, and 3D visualization, the system offers a modular, scalable, and cost-effective alternative to existing 3D scanning solutions.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803245"/>
            <a:ext cx="904875" cy="72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424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67026" y="1492005"/>
            <a:ext cx="3443141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Heritage &amp; Cultural Preservation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88596" y="2980243"/>
            <a:ext cx="288309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Reverse Engineering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39549" y="3750702"/>
            <a:ext cx="2667646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Quality Control in Manufacturing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58465" y="5137718"/>
            <a:ext cx="2807022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AR/VR &amp; Game Development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57170" y="6500062"/>
            <a:ext cx="2850024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E-Commerce &amp; Retail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3864" y="8848994"/>
            <a:ext cx="818612" cy="818612"/>
            <a:chOff x="0" y="0"/>
            <a:chExt cx="215602" cy="2156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602" cy="215602"/>
            </a:xfrm>
            <a:custGeom>
              <a:avLst/>
              <a:gdLst/>
              <a:ahLst/>
              <a:cxnLst/>
              <a:rect r="r" b="b" t="t" l="l"/>
              <a:pathLst>
                <a:path h="215602" w="215602">
                  <a:moveTo>
                    <a:pt x="0" y="0"/>
                  </a:moveTo>
                  <a:lnTo>
                    <a:pt x="215602" y="0"/>
                  </a:lnTo>
                  <a:lnTo>
                    <a:pt x="215602" y="215602"/>
                  </a:lnTo>
                  <a:lnTo>
                    <a:pt x="0" y="215602"/>
                  </a:lnTo>
                  <a:close/>
                </a:path>
              </a:pathLst>
            </a:custGeom>
            <a:solidFill>
              <a:srgbClr val="5E7B9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602" cy="253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676429" y="5046275"/>
          <a:ext cx="14935143" cy="4942066"/>
        </p:xfrm>
        <a:graphic>
          <a:graphicData uri="http://schemas.openxmlformats.org/drawingml/2006/table">
            <a:tbl>
              <a:tblPr/>
              <a:tblGrid>
                <a:gridCol w="5086691"/>
                <a:gridCol w="5032443"/>
                <a:gridCol w="4816009"/>
              </a:tblGrid>
              <a:tr h="2471033">
                <a:tc>
                  <a:txBody>
                    <a:bodyPr anchor="t" rtlCol="false"/>
                    <a:lstStyle/>
                    <a:p>
                      <a:pPr algn="l" marL="496569" indent="-248284" lvl="1">
                        <a:lnSpc>
                          <a:spcPts val="3219"/>
                        </a:lnSpc>
                        <a:buAutoNum type="arabicPeriod" startAt="1"/>
                        <a:defRPr/>
                      </a:pPr>
                      <a:r>
                        <a:rPr lang="en-US" b="true" sz="2299">
                          <a:solidFill>
                            <a:srgbClr val="FFFFFF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 Sub-cm Accuracy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Marxiana Antigua"/>
                          <a:ea typeface="TT Marxiana Antigua"/>
                          <a:cs typeface="TT Marxiana Antigua"/>
                          <a:sym typeface="TT Marxiana Antigua"/>
                        </a:rPr>
                        <a:t>Achieve ≤2 mm accuracy on reconstructed3D shapes using LiDAR ToF measurement.​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95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96569" indent="-248284" lvl="1">
                        <a:lnSpc>
                          <a:spcPts val="3219"/>
                        </a:lnSpc>
                        <a:buAutoNum type="arabicPeriod" startAt="1"/>
                        <a:defRPr/>
                      </a:pPr>
                      <a:r>
                        <a:rPr lang="en-US" b="true" sz="2299">
                          <a:solidFill>
                            <a:srgbClr val="FFFFFF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 </a:t>
                      </a:r>
                      <a:r>
                        <a:rPr lang="en-US" b="true" sz="2299">
                          <a:solidFill>
                            <a:srgbClr val="FFFFFF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Automated Rotation​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Marxiana Antigua"/>
                          <a:ea typeface="TT Marxiana Antigua"/>
                          <a:cs typeface="TT Marxiana Antigua"/>
                          <a:sym typeface="TT Marxiana Antigua"/>
                        </a:rPr>
                        <a:t>Implement stepper motor control for 360°automated turntable rotation with 0.09°resolution.​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95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96569" indent="-248284" lvl="1">
                        <a:lnSpc>
                          <a:spcPts val="3219"/>
                        </a:lnSpc>
                        <a:buAutoNum type="arabicPeriod" startAt="1"/>
                        <a:defRPr/>
                      </a:pPr>
                      <a:r>
                        <a:rPr lang="en-US" b="true" sz="2299">
                          <a:solidFill>
                            <a:srgbClr val="FFFFFF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 Real-time Data Capture</a:t>
                      </a:r>
                      <a:r>
                        <a:rPr lang="en-US" b="true" sz="2299">
                          <a:solidFill>
                            <a:srgbClr val="FFFFFF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​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Marxiana Antigua"/>
                          <a:ea typeface="TT Marxiana Antigua"/>
                          <a:cs typeface="TT Marxiana Antigua"/>
                          <a:sym typeface="TT Marxiana Antigua"/>
                        </a:rPr>
                        <a:t>Stream and buffer LiDAR point cloud datasynchronised with turntable angle in realtime.​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95B2"/>
                    </a:solidFill>
                  </a:tcPr>
                </a:tc>
              </a:tr>
              <a:tr h="2471033">
                <a:tc>
                  <a:txBody>
                    <a:bodyPr anchor="t" rtlCol="false"/>
                    <a:lstStyle/>
                    <a:p>
                      <a:pPr algn="l" marL="496569" indent="-248284" lvl="1">
                        <a:lnSpc>
                          <a:spcPts val="3219"/>
                        </a:lnSpc>
                        <a:buAutoNum type="arabicPeriod" startAt="1"/>
                        <a:defRPr/>
                      </a:pPr>
                      <a:r>
                        <a:rPr lang="en-US" b="true" sz="2299">
                          <a:solidFill>
                            <a:srgbClr val="FFFFFF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 3D Mesh Generation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Marxiana Antigua"/>
                          <a:ea typeface="TT Marxiana Antigua"/>
                          <a:cs typeface="TT Marxiana Antigua"/>
                          <a:sym typeface="TT Marxiana Antigua"/>
                        </a:rPr>
                        <a:t>Process raw point clouds through filtering,registration, and Poisson surfacereconstruction.​</a:t>
                      </a:r>
                      <a:r>
                        <a:rPr lang="en-US" sz="2000">
                          <a:solidFill>
                            <a:srgbClr val="FFFFFF"/>
                          </a:solidFill>
                          <a:latin typeface="TT Marxiana Antigua"/>
                          <a:ea typeface="TT Marxiana Antigua"/>
                          <a:cs typeface="TT Marxiana Antigua"/>
                          <a:sym typeface="TT Marxiana Antigua"/>
                        </a:rPr>
                        <a:t>​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95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96569" indent="-248284" lvl="1">
                        <a:lnSpc>
                          <a:spcPts val="3219"/>
                        </a:lnSpc>
                        <a:buAutoNum type="arabicPeriod" startAt="1"/>
                        <a:defRPr/>
                      </a:pPr>
                      <a:r>
                        <a:rPr lang="en-US" b="true" sz="2299">
                          <a:solidFill>
                            <a:srgbClr val="FFFFFF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 Cloud Upload</a:t>
                      </a:r>
                      <a:r>
                        <a:rPr lang="en-US" b="true" sz="2299">
                          <a:solidFill>
                            <a:srgbClr val="FFFFFF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​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Marxiana Antigua"/>
                          <a:ea typeface="TT Marxiana Antigua"/>
                          <a:cs typeface="TT Marxiana Antigua"/>
                          <a:sym typeface="TT Marxiana Antigua"/>
                        </a:rPr>
                        <a:t>Transmit compressed 3D files(PLY/OBJ/STL) to AWS S3 or Firebase viaWi-Fi over HTTPS.​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95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96569" indent="-248284" lvl="1">
                        <a:lnSpc>
                          <a:spcPts val="3219"/>
                        </a:lnSpc>
                        <a:buAutoNum type="arabicPeriod" startAt="1"/>
                        <a:defRPr/>
                      </a:pPr>
                      <a:r>
                        <a:rPr lang="en-US" b="true" sz="2299">
                          <a:solidFill>
                            <a:srgbClr val="FFFFFF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 Web Dashboard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Marxiana Antigua"/>
                          <a:ea typeface="TT Marxiana Antigua"/>
                          <a:cs typeface="TT Marxiana Antigua"/>
                          <a:sym typeface="TT Marxiana Antigua"/>
                        </a:rPr>
                        <a:t>Provide a React-based web interface to view,download, and share generated 3D models.​</a:t>
                      </a:r>
                      <a:r>
                        <a:rPr lang="en-US" sz="2000">
                          <a:solidFill>
                            <a:srgbClr val="FFFFFF"/>
                          </a:solidFill>
                          <a:latin typeface="TT Marxiana Antigua"/>
                          <a:ea typeface="TT Marxiana Antigua"/>
                          <a:cs typeface="TT Marxiana Antigua"/>
                          <a:sym typeface="TT Marxiana Antigua"/>
                        </a:rPr>
                        <a:t>​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95B2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71831" y="936847"/>
            <a:ext cx="1904630" cy="98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7"/>
              </a:lnSpc>
            </a:pPr>
            <a:r>
              <a:rPr lang="en-US" sz="7899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Aim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1831" y="2036122"/>
            <a:ext cx="14871098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 design and develop a microcontroller-based automated LiDAR 3D scanning system capable of generating accurate 3D models with cloud-enabled storage and visualization.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733" y="8851425"/>
            <a:ext cx="904875" cy="72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424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1831" y="3889052"/>
            <a:ext cx="4349289" cy="98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7"/>
              </a:lnSpc>
            </a:pPr>
            <a:r>
              <a:rPr lang="en-US" sz="7899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27255" y="8826970"/>
            <a:ext cx="818612" cy="818612"/>
            <a:chOff x="0" y="0"/>
            <a:chExt cx="215602" cy="2156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602" cy="215602"/>
            </a:xfrm>
            <a:custGeom>
              <a:avLst/>
              <a:gdLst/>
              <a:ahLst/>
              <a:cxnLst/>
              <a:rect r="r" b="b" t="t" l="l"/>
              <a:pathLst>
                <a:path h="215602" w="215602">
                  <a:moveTo>
                    <a:pt x="0" y="0"/>
                  </a:moveTo>
                  <a:lnTo>
                    <a:pt x="215602" y="0"/>
                  </a:lnTo>
                  <a:lnTo>
                    <a:pt x="215602" y="215602"/>
                  </a:lnTo>
                  <a:lnTo>
                    <a:pt x="0" y="215602"/>
                  </a:lnTo>
                  <a:close/>
                </a:path>
              </a:pathLst>
            </a:custGeom>
            <a:solidFill>
              <a:srgbClr val="5E7B9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602" cy="253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620659" y="1877069"/>
          <a:ext cx="7198721" cy="7885857"/>
        </p:xfrm>
        <a:graphic>
          <a:graphicData uri="http://schemas.openxmlformats.org/drawingml/2006/table">
            <a:tbl>
              <a:tblPr/>
              <a:tblGrid>
                <a:gridCol w="6509060"/>
              </a:tblGrid>
              <a:tr h="12336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 b="true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Problems Identified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1802063">
                <a:tc>
                  <a:txBody>
                    <a:bodyPr anchor="t" rtlCol="false"/>
                    <a:lstStyle/>
                    <a:p>
                      <a:pPr algn="l" marL="474976" indent="-237488" lvl="1">
                        <a:lnSpc>
                          <a:spcPts val="3079"/>
                        </a:lnSpc>
                        <a:buAutoNum type="arabicPeriod" startAt="1"/>
                        <a:defRPr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High Cost - 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Commercial 3D scanners (e.g. Artec, FARO) cost $10,000–$100,000+, limiting access for education and small teams.</a:t>
                      </a: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​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760821">
                <a:tc>
                  <a:txBody>
                    <a:bodyPr anchor="t" rtlCol="false"/>
                    <a:lstStyle/>
                    <a:p>
                      <a:pPr algn="l" marL="474976" indent="-237488" lvl="1">
                        <a:lnSpc>
                          <a:spcPts val="3079"/>
                        </a:lnSpc>
                        <a:buAutoNum type="arabicPeriod" startAt="1"/>
                        <a:defRPr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Manual Processes - 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Manual photogrammetry and structured-light scanning requireextensive setup time and expertise.</a:t>
                      </a: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​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328523">
                <a:tc>
                  <a:txBody>
                    <a:bodyPr anchor="t" rtlCol="false"/>
                    <a:lstStyle/>
                    <a:p>
                      <a:pPr algn="l" marL="474976" indent="-237488" lvl="1">
                        <a:lnSpc>
                          <a:spcPts val="3079"/>
                        </a:lnSpc>
                        <a:buAutoNum type="arabicPeriod" startAt="1"/>
                        <a:defRPr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No Cloud Pipeline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​ - Most affordable DIY scanners lack automated cloud upload orremote access capabilities.​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760821">
                <a:tc>
                  <a:txBody>
                    <a:bodyPr anchor="t" rtlCol="false"/>
                    <a:lstStyle/>
                    <a:p>
                      <a:pPr algn="l" marL="474976" indent="-237488" lvl="1">
                        <a:lnSpc>
                          <a:spcPts val="3079"/>
                        </a:lnSpc>
                        <a:buAutoNum type="arabicPeriod" startAt="1"/>
                        <a:defRPr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Limited Portability</a:t>
                      </a: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​ - 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Existing academic projects are not modular or reproducible forcapstone teams with limited budgets.</a:t>
                      </a: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443729" y="1877069"/>
          <a:ext cx="7491215" cy="7934556"/>
        </p:xfrm>
        <a:graphic>
          <a:graphicData uri="http://schemas.openxmlformats.org/drawingml/2006/table">
            <a:tbl>
              <a:tblPr/>
              <a:tblGrid>
                <a:gridCol w="7491215"/>
              </a:tblGrid>
              <a:tr h="13279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 b="true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Proposed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1759666">
                <a:tc>
                  <a:txBody>
                    <a:bodyPr anchor="t" rtlCol="false"/>
                    <a:lstStyle/>
                    <a:p>
                      <a:pPr algn="l" marL="474979" indent="-237490" lvl="1">
                        <a:lnSpc>
                          <a:spcPts val="3079"/>
                        </a:lnSpc>
                        <a:buAutoNum type="arabicPeriod" startAt="1"/>
                        <a:defRPr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Low-Cost LiDAR Scanner​ - 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Us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 YDLIDAR X4 (~LKR 30,000) on a custom turntable — total BOMunder LKR 75,000.</a:t>
                      </a: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​​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1759666">
                <a:tc>
                  <a:txBody>
                    <a:bodyPr anchor="t" rtlCol="false"/>
                    <a:lstStyle/>
                    <a:p>
                      <a:pPr algn="l" marL="474979" indent="-237490" lvl="1">
                        <a:lnSpc>
                          <a:spcPts val="3079"/>
                        </a:lnSpc>
                        <a:buAutoNum type="arabicPeriod" startAt="1"/>
                        <a:defRPr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Fully Automated Operation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​ - ESP32-controlled stepper motor automates full 360° scan cycle withone button press.​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1327652">
                <a:tc>
                  <a:txBody>
                    <a:bodyPr anchor="t" rtlCol="false"/>
                    <a:lstStyle/>
                    <a:p>
                      <a:pPr algn="l" marL="474979" indent="-237490" lvl="1">
                        <a:lnSpc>
                          <a:spcPts val="3079"/>
                        </a:lnSpc>
                        <a:buAutoNum type="arabicPeriod" startAt="1"/>
                        <a:defRPr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Integrated Cloud Pipeline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​ - Wi-Fi upload to AWS S3/Firebase with Flask API backend and 3Dweb viewer.​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1759666">
                <a:tc>
                  <a:txBody>
                    <a:bodyPr anchor="t" rtlCol="false"/>
                    <a:lstStyle/>
                    <a:p>
                      <a:pPr algn="l" marL="474979" indent="-237490" lvl="1">
                        <a:lnSpc>
                          <a:spcPts val="3079"/>
                        </a:lnSpc>
                        <a:buAutoNum type="arabicPeriod" startAt="1"/>
                        <a:defRPr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Open-source &amp; Modular</a:t>
                      </a:r>
                      <a:r>
                        <a:rPr lang="en-US" b="true" sz="2199">
                          <a:solidFill>
                            <a:srgbClr val="00000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​ - 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PCL + Open3D processing pipeline. Modular hardware allows easyupgrade or repair.​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584124" y="631993"/>
            <a:ext cx="12605213" cy="90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4"/>
              </a:lnSpc>
            </a:pPr>
            <a:r>
              <a:rPr lang="en-US" sz="7200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Problem &amp; Proposed 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4124" y="8829401"/>
            <a:ext cx="904875" cy="72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424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71831" y="8800814"/>
            <a:ext cx="818612" cy="818612"/>
            <a:chOff x="0" y="0"/>
            <a:chExt cx="215602" cy="2156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602" cy="215602"/>
            </a:xfrm>
            <a:custGeom>
              <a:avLst/>
              <a:gdLst/>
              <a:ahLst/>
              <a:cxnLst/>
              <a:rect r="r" b="b" t="t" l="l"/>
              <a:pathLst>
                <a:path h="215602" w="215602">
                  <a:moveTo>
                    <a:pt x="0" y="0"/>
                  </a:moveTo>
                  <a:lnTo>
                    <a:pt x="215602" y="0"/>
                  </a:lnTo>
                  <a:lnTo>
                    <a:pt x="215602" y="215602"/>
                  </a:lnTo>
                  <a:lnTo>
                    <a:pt x="0" y="215602"/>
                  </a:lnTo>
                  <a:close/>
                </a:path>
              </a:pathLst>
            </a:custGeom>
            <a:solidFill>
              <a:srgbClr val="5E7B9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602" cy="253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811259" y="1209292"/>
            <a:ext cx="2434179" cy="8321979"/>
          </a:xfrm>
          <a:custGeom>
            <a:avLst/>
            <a:gdLst/>
            <a:ahLst/>
            <a:cxnLst/>
            <a:rect r="r" b="b" t="t" l="l"/>
            <a:pathLst>
              <a:path h="8321979" w="2434179">
                <a:moveTo>
                  <a:pt x="0" y="0"/>
                </a:moveTo>
                <a:lnTo>
                  <a:pt x="2434179" y="0"/>
                </a:lnTo>
                <a:lnTo>
                  <a:pt x="2434179" y="8321979"/>
                </a:lnTo>
                <a:lnTo>
                  <a:pt x="0" y="83219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>
            <a:off x="6157692" y="2107927"/>
            <a:ext cx="7745553" cy="7362360"/>
          </a:xfrm>
          <a:custGeom>
            <a:avLst/>
            <a:gdLst/>
            <a:ahLst/>
            <a:cxnLst/>
            <a:rect r="r" b="b" t="t" l="l"/>
            <a:pathLst>
              <a:path h="7362360" w="7745553">
                <a:moveTo>
                  <a:pt x="0" y="4606512"/>
                </a:moveTo>
                <a:lnTo>
                  <a:pt x="621833" y="4606512"/>
                </a:lnTo>
                <a:cubicBezTo>
                  <a:pt x="682462" y="4606512"/>
                  <a:pt x="740607" y="4630597"/>
                  <a:pt x="783477" y="4673468"/>
                </a:cubicBezTo>
                <a:cubicBezTo>
                  <a:pt x="826348" y="4716338"/>
                  <a:pt x="850433" y="4774483"/>
                  <a:pt x="850433" y="4835112"/>
                </a:cubicBezTo>
                <a:lnTo>
                  <a:pt x="850433" y="7133759"/>
                </a:lnTo>
                <a:cubicBezTo>
                  <a:pt x="850433" y="7194388"/>
                  <a:pt x="874518" y="7252533"/>
                  <a:pt x="917389" y="7295404"/>
                </a:cubicBezTo>
                <a:cubicBezTo>
                  <a:pt x="960259" y="7338275"/>
                  <a:pt x="1018404" y="7362359"/>
                  <a:pt x="1079033" y="7362359"/>
                </a:cubicBezTo>
                <a:lnTo>
                  <a:pt x="6192384" y="7362359"/>
                </a:lnTo>
                <a:cubicBezTo>
                  <a:pt x="6318636" y="7362359"/>
                  <a:pt x="6420984" y="7260011"/>
                  <a:pt x="6420984" y="7133759"/>
                </a:cubicBezTo>
                <a:lnTo>
                  <a:pt x="6420984" y="228600"/>
                </a:lnTo>
                <a:cubicBezTo>
                  <a:pt x="6420984" y="102347"/>
                  <a:pt x="6523332" y="0"/>
                  <a:pt x="6649584" y="0"/>
                </a:cubicBezTo>
                <a:lnTo>
                  <a:pt x="7745552" y="0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9" id="9"/>
          <p:cNvSpPr/>
          <p:nvPr/>
        </p:nvSpPr>
        <p:spPr>
          <a:xfrm>
            <a:off x="6651323" y="6444595"/>
            <a:ext cx="7251922" cy="3353074"/>
          </a:xfrm>
          <a:custGeom>
            <a:avLst/>
            <a:gdLst/>
            <a:ahLst/>
            <a:cxnLst/>
            <a:rect r="r" b="b" t="t" l="l"/>
            <a:pathLst>
              <a:path h="3353074" w="7251922">
                <a:moveTo>
                  <a:pt x="0" y="1572834"/>
                </a:moveTo>
                <a:lnTo>
                  <a:pt x="110912" y="1572834"/>
                </a:lnTo>
                <a:cubicBezTo>
                  <a:pt x="140328" y="1572834"/>
                  <a:pt x="168539" y="1584520"/>
                  <a:pt x="189339" y="1605320"/>
                </a:cubicBezTo>
                <a:cubicBezTo>
                  <a:pt x="210139" y="1626120"/>
                  <a:pt x="221824" y="1654331"/>
                  <a:pt x="221824" y="1683747"/>
                </a:cubicBezTo>
                <a:lnTo>
                  <a:pt x="221824" y="3124474"/>
                </a:lnTo>
                <a:cubicBezTo>
                  <a:pt x="221824" y="3250726"/>
                  <a:pt x="324172" y="3353074"/>
                  <a:pt x="450424" y="3353074"/>
                </a:cubicBezTo>
                <a:lnTo>
                  <a:pt x="6507331" y="3353074"/>
                </a:lnTo>
                <a:cubicBezTo>
                  <a:pt x="6633584" y="3353074"/>
                  <a:pt x="6735931" y="3250726"/>
                  <a:pt x="6735931" y="3124474"/>
                </a:cubicBezTo>
                <a:lnTo>
                  <a:pt x="6735931" y="228600"/>
                </a:lnTo>
                <a:cubicBezTo>
                  <a:pt x="6735931" y="102347"/>
                  <a:pt x="6838278" y="0"/>
                  <a:pt x="6964531" y="0"/>
                </a:cubicBezTo>
                <a:lnTo>
                  <a:pt x="7251921" y="0"/>
                </a:lnTo>
              </a:path>
            </a:pathLst>
          </a:custGeom>
          <a:ln cap="flat" w="19050">
            <a:solidFill>
              <a:srgbClr val="FFC94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90477" y="1130324"/>
            <a:ext cx="10900231" cy="8079796"/>
          </a:xfrm>
          <a:custGeom>
            <a:avLst/>
            <a:gdLst/>
            <a:ahLst/>
            <a:cxnLst/>
            <a:rect r="r" b="b" t="t" l="l"/>
            <a:pathLst>
              <a:path h="8079796" w="10900231">
                <a:moveTo>
                  <a:pt x="0" y="0"/>
                </a:moveTo>
                <a:lnTo>
                  <a:pt x="10900231" y="0"/>
                </a:lnTo>
                <a:lnTo>
                  <a:pt x="10900231" y="8079796"/>
                </a:lnTo>
                <a:lnTo>
                  <a:pt x="0" y="8079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6872" y="487182"/>
            <a:ext cx="11407441" cy="64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5200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Implementation - System Block Diagram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803245"/>
            <a:ext cx="904875" cy="72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424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1784394"/>
            <a:ext cx="282833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INCOMPLETE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19394" y="8848994"/>
            <a:ext cx="818612" cy="818612"/>
            <a:chOff x="0" y="0"/>
            <a:chExt cx="215602" cy="2156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602" cy="215602"/>
            </a:xfrm>
            <a:custGeom>
              <a:avLst/>
              <a:gdLst/>
              <a:ahLst/>
              <a:cxnLst/>
              <a:rect r="r" b="b" t="t" l="l"/>
              <a:pathLst>
                <a:path h="215602" w="215602">
                  <a:moveTo>
                    <a:pt x="0" y="0"/>
                  </a:moveTo>
                  <a:lnTo>
                    <a:pt x="215602" y="0"/>
                  </a:lnTo>
                  <a:lnTo>
                    <a:pt x="215602" y="215602"/>
                  </a:lnTo>
                  <a:lnTo>
                    <a:pt x="0" y="215602"/>
                  </a:lnTo>
                  <a:close/>
                </a:path>
              </a:pathLst>
            </a:custGeom>
            <a:solidFill>
              <a:srgbClr val="5E7B9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602" cy="253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023533" y="1584578"/>
            <a:ext cx="5777647" cy="8455093"/>
          </a:xfrm>
          <a:custGeom>
            <a:avLst/>
            <a:gdLst/>
            <a:ahLst/>
            <a:cxnLst/>
            <a:rect r="r" b="b" t="t" l="l"/>
            <a:pathLst>
              <a:path h="8455093" w="5777647">
                <a:moveTo>
                  <a:pt x="0" y="0"/>
                </a:moveTo>
                <a:lnTo>
                  <a:pt x="5777647" y="0"/>
                </a:lnTo>
                <a:lnTo>
                  <a:pt x="5777647" y="8455093"/>
                </a:lnTo>
                <a:lnTo>
                  <a:pt x="0" y="84550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6262" y="8851425"/>
            <a:ext cx="904875" cy="72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424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872" y="534807"/>
            <a:ext cx="17128615" cy="90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4"/>
              </a:lnSpc>
            </a:pPr>
            <a:r>
              <a:rPr lang="en-US" sz="7200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Implementation - 3D Model Diagram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824412" y="9356407"/>
            <a:ext cx="1043940" cy="296228"/>
            <a:chOff x="0" y="0"/>
            <a:chExt cx="1391920" cy="3949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9910" y="33780"/>
              <a:ext cx="1290398" cy="309120"/>
            </a:xfrm>
            <a:custGeom>
              <a:avLst/>
              <a:gdLst/>
              <a:ahLst/>
              <a:cxnLst/>
              <a:rect r="r" b="b" t="t" l="l"/>
              <a:pathLst>
                <a:path h="309120" w="1290398">
                  <a:moveTo>
                    <a:pt x="958470" y="309120"/>
                  </a:moveTo>
                  <a:cubicBezTo>
                    <a:pt x="270130" y="268480"/>
                    <a:pt x="144400" y="245620"/>
                    <a:pt x="83440" y="229110"/>
                  </a:cubicBezTo>
                  <a:cubicBezTo>
                    <a:pt x="56770" y="221490"/>
                    <a:pt x="40260" y="217680"/>
                    <a:pt x="26290" y="207520"/>
                  </a:cubicBezTo>
                  <a:cubicBezTo>
                    <a:pt x="16130" y="199900"/>
                    <a:pt x="9780" y="192280"/>
                    <a:pt x="5970" y="182120"/>
                  </a:cubicBezTo>
                  <a:cubicBezTo>
                    <a:pt x="890" y="168150"/>
                    <a:pt x="-1650" y="146560"/>
                    <a:pt x="2160" y="132590"/>
                  </a:cubicBezTo>
                  <a:cubicBezTo>
                    <a:pt x="4700" y="121160"/>
                    <a:pt x="11050" y="111000"/>
                    <a:pt x="18670" y="103380"/>
                  </a:cubicBezTo>
                  <a:cubicBezTo>
                    <a:pt x="30100" y="94490"/>
                    <a:pt x="44070" y="88140"/>
                    <a:pt x="64390" y="83060"/>
                  </a:cubicBezTo>
                  <a:cubicBezTo>
                    <a:pt x="94870" y="76710"/>
                    <a:pt x="136780" y="77980"/>
                    <a:pt x="191390" y="80520"/>
                  </a:cubicBezTo>
                  <a:cubicBezTo>
                    <a:pt x="290450" y="86870"/>
                    <a:pt x="544450" y="93220"/>
                    <a:pt x="606680" y="131320"/>
                  </a:cubicBezTo>
                  <a:cubicBezTo>
                    <a:pt x="633350" y="147830"/>
                    <a:pt x="643510" y="169420"/>
                    <a:pt x="646050" y="189740"/>
                  </a:cubicBezTo>
                  <a:cubicBezTo>
                    <a:pt x="648590" y="211330"/>
                    <a:pt x="633350" y="241810"/>
                    <a:pt x="620650" y="255780"/>
                  </a:cubicBezTo>
                  <a:cubicBezTo>
                    <a:pt x="611760" y="265940"/>
                    <a:pt x="602870" y="267210"/>
                    <a:pt x="587630" y="272290"/>
                  </a:cubicBezTo>
                  <a:cubicBezTo>
                    <a:pt x="559690" y="281180"/>
                    <a:pt x="503810" y="287530"/>
                    <a:pt x="460630" y="287530"/>
                  </a:cubicBezTo>
                  <a:cubicBezTo>
                    <a:pt x="417450" y="288800"/>
                    <a:pt x="369190" y="283720"/>
                    <a:pt x="328550" y="277370"/>
                  </a:cubicBezTo>
                  <a:cubicBezTo>
                    <a:pt x="292990" y="271020"/>
                    <a:pt x="262510" y="263400"/>
                    <a:pt x="230760" y="250700"/>
                  </a:cubicBezTo>
                  <a:cubicBezTo>
                    <a:pt x="197740" y="238000"/>
                    <a:pt x="155830" y="229110"/>
                    <a:pt x="132970" y="201170"/>
                  </a:cubicBezTo>
                  <a:cubicBezTo>
                    <a:pt x="107570" y="169420"/>
                    <a:pt x="82170" y="90680"/>
                    <a:pt x="94870" y="60200"/>
                  </a:cubicBezTo>
                  <a:cubicBezTo>
                    <a:pt x="105030" y="37340"/>
                    <a:pt x="127890" y="30990"/>
                    <a:pt x="168530" y="20830"/>
                  </a:cubicBezTo>
                  <a:cubicBezTo>
                    <a:pt x="312040" y="-14730"/>
                    <a:pt x="1093090" y="3050"/>
                    <a:pt x="1204850" y="17020"/>
                  </a:cubicBezTo>
                  <a:cubicBezTo>
                    <a:pt x="1227710" y="19560"/>
                    <a:pt x="1232790" y="19560"/>
                    <a:pt x="1244220" y="25910"/>
                  </a:cubicBezTo>
                  <a:cubicBezTo>
                    <a:pt x="1259460" y="34800"/>
                    <a:pt x="1277240" y="56390"/>
                    <a:pt x="1284860" y="71630"/>
                  </a:cubicBezTo>
                  <a:cubicBezTo>
                    <a:pt x="1289940" y="84330"/>
                    <a:pt x="1291210" y="98300"/>
                    <a:pt x="1289940" y="112270"/>
                  </a:cubicBezTo>
                  <a:cubicBezTo>
                    <a:pt x="1287400" y="124970"/>
                    <a:pt x="1282320" y="138940"/>
                    <a:pt x="1274700" y="150370"/>
                  </a:cubicBezTo>
                  <a:cubicBezTo>
                    <a:pt x="1267080" y="160530"/>
                    <a:pt x="1260730" y="166880"/>
                    <a:pt x="1244220" y="177040"/>
                  </a:cubicBezTo>
                  <a:cubicBezTo>
                    <a:pt x="1203580" y="202440"/>
                    <a:pt x="1053720" y="267210"/>
                    <a:pt x="1001650" y="271020"/>
                  </a:cubicBezTo>
                  <a:cubicBezTo>
                    <a:pt x="977520" y="272290"/>
                    <a:pt x="963550" y="267210"/>
                    <a:pt x="948310" y="257050"/>
                  </a:cubicBezTo>
                  <a:cubicBezTo>
                    <a:pt x="933070" y="248160"/>
                    <a:pt x="919100" y="231650"/>
                    <a:pt x="914020" y="213870"/>
                  </a:cubicBezTo>
                  <a:cubicBezTo>
                    <a:pt x="907670" y="192280"/>
                    <a:pt x="911480" y="151640"/>
                    <a:pt x="925450" y="132590"/>
                  </a:cubicBezTo>
                  <a:cubicBezTo>
                    <a:pt x="939420" y="113540"/>
                    <a:pt x="974980" y="95760"/>
                    <a:pt x="999110" y="97030"/>
                  </a:cubicBezTo>
                  <a:cubicBezTo>
                    <a:pt x="1021970" y="98300"/>
                    <a:pt x="1056260" y="119890"/>
                    <a:pt x="1068960" y="137670"/>
                  </a:cubicBezTo>
                  <a:cubicBezTo>
                    <a:pt x="1080390" y="152910"/>
                    <a:pt x="1085470" y="173230"/>
                    <a:pt x="1082930" y="192280"/>
                  </a:cubicBezTo>
                  <a:cubicBezTo>
                    <a:pt x="1079120" y="213870"/>
                    <a:pt x="1056260" y="248160"/>
                    <a:pt x="1038480" y="259590"/>
                  </a:cubicBezTo>
                  <a:cubicBezTo>
                    <a:pt x="1021970" y="271020"/>
                    <a:pt x="1000380" y="272290"/>
                    <a:pt x="983870" y="269750"/>
                  </a:cubicBezTo>
                  <a:cubicBezTo>
                    <a:pt x="966090" y="268480"/>
                    <a:pt x="945770" y="258320"/>
                    <a:pt x="933070" y="245620"/>
                  </a:cubicBezTo>
                  <a:cubicBezTo>
                    <a:pt x="921640" y="232920"/>
                    <a:pt x="911480" y="212600"/>
                    <a:pt x="908940" y="194820"/>
                  </a:cubicBezTo>
                  <a:cubicBezTo>
                    <a:pt x="906400" y="178310"/>
                    <a:pt x="911480" y="155450"/>
                    <a:pt x="920370" y="140210"/>
                  </a:cubicBezTo>
                  <a:cubicBezTo>
                    <a:pt x="929260" y="124970"/>
                    <a:pt x="943230" y="116080"/>
                    <a:pt x="962280" y="103380"/>
                  </a:cubicBezTo>
                  <a:cubicBezTo>
                    <a:pt x="992760" y="83060"/>
                    <a:pt x="1049910" y="56390"/>
                    <a:pt x="1095630" y="42420"/>
                  </a:cubicBezTo>
                  <a:cubicBezTo>
                    <a:pt x="1137540" y="28450"/>
                    <a:pt x="1193420" y="11940"/>
                    <a:pt x="1225170" y="19560"/>
                  </a:cubicBezTo>
                  <a:cubicBezTo>
                    <a:pt x="1246760" y="23370"/>
                    <a:pt x="1264540" y="37340"/>
                    <a:pt x="1274700" y="53850"/>
                  </a:cubicBezTo>
                  <a:cubicBezTo>
                    <a:pt x="1286130" y="69090"/>
                    <a:pt x="1291210" y="93220"/>
                    <a:pt x="1289940" y="112270"/>
                  </a:cubicBezTo>
                  <a:cubicBezTo>
                    <a:pt x="1287400" y="130050"/>
                    <a:pt x="1275970" y="152910"/>
                    <a:pt x="1262000" y="165610"/>
                  </a:cubicBezTo>
                  <a:cubicBezTo>
                    <a:pt x="1248030" y="178310"/>
                    <a:pt x="1236600" y="180850"/>
                    <a:pt x="1204850" y="187200"/>
                  </a:cubicBezTo>
                  <a:cubicBezTo>
                    <a:pt x="1085470" y="208790"/>
                    <a:pt x="451740" y="203710"/>
                    <a:pt x="298070" y="184660"/>
                  </a:cubicBezTo>
                  <a:cubicBezTo>
                    <a:pt x="244730" y="177040"/>
                    <a:pt x="209170" y="178310"/>
                    <a:pt x="192660" y="156720"/>
                  </a:cubicBezTo>
                  <a:cubicBezTo>
                    <a:pt x="176150" y="135130"/>
                    <a:pt x="176150" y="70360"/>
                    <a:pt x="193930" y="57660"/>
                  </a:cubicBezTo>
                  <a:cubicBezTo>
                    <a:pt x="218060" y="42420"/>
                    <a:pt x="299340" y="112270"/>
                    <a:pt x="361570" y="124970"/>
                  </a:cubicBezTo>
                  <a:cubicBezTo>
                    <a:pt x="433960" y="140210"/>
                    <a:pt x="567310" y="116080"/>
                    <a:pt x="606680" y="131320"/>
                  </a:cubicBezTo>
                  <a:cubicBezTo>
                    <a:pt x="621920" y="137670"/>
                    <a:pt x="627000" y="145290"/>
                    <a:pt x="633350" y="155450"/>
                  </a:cubicBezTo>
                  <a:cubicBezTo>
                    <a:pt x="642240" y="169420"/>
                    <a:pt x="648590" y="192280"/>
                    <a:pt x="646050" y="208790"/>
                  </a:cubicBezTo>
                  <a:cubicBezTo>
                    <a:pt x="643510" y="225300"/>
                    <a:pt x="633350" y="244350"/>
                    <a:pt x="620650" y="255780"/>
                  </a:cubicBezTo>
                  <a:cubicBezTo>
                    <a:pt x="607950" y="267210"/>
                    <a:pt x="596520" y="271020"/>
                    <a:pt x="569850" y="274830"/>
                  </a:cubicBezTo>
                  <a:cubicBezTo>
                    <a:pt x="487300" y="284990"/>
                    <a:pt x="115190" y="257050"/>
                    <a:pt x="40260" y="216410"/>
                  </a:cubicBezTo>
                  <a:cubicBezTo>
                    <a:pt x="14860" y="202440"/>
                    <a:pt x="3430" y="184660"/>
                    <a:pt x="890" y="165610"/>
                  </a:cubicBezTo>
                  <a:cubicBezTo>
                    <a:pt x="-2920" y="146560"/>
                    <a:pt x="5970" y="117350"/>
                    <a:pt x="18670" y="103380"/>
                  </a:cubicBezTo>
                  <a:cubicBezTo>
                    <a:pt x="32640" y="90680"/>
                    <a:pt x="54230" y="84330"/>
                    <a:pt x="80900" y="84330"/>
                  </a:cubicBezTo>
                  <a:cubicBezTo>
                    <a:pt x="127890" y="83060"/>
                    <a:pt x="210440" y="122430"/>
                    <a:pt x="281560" y="136400"/>
                  </a:cubicBezTo>
                  <a:cubicBezTo>
                    <a:pt x="357760" y="150370"/>
                    <a:pt x="428880" y="159260"/>
                    <a:pt x="521590" y="165610"/>
                  </a:cubicBezTo>
                  <a:cubicBezTo>
                    <a:pt x="648590" y="173230"/>
                    <a:pt x="907670" y="147830"/>
                    <a:pt x="976250" y="170690"/>
                  </a:cubicBezTo>
                  <a:cubicBezTo>
                    <a:pt x="999110" y="177040"/>
                    <a:pt x="1008000" y="185930"/>
                    <a:pt x="1016890" y="198630"/>
                  </a:cubicBezTo>
                  <a:cubicBezTo>
                    <a:pt x="1025780" y="211330"/>
                    <a:pt x="1030860" y="231650"/>
                    <a:pt x="1029590" y="248160"/>
                  </a:cubicBezTo>
                  <a:cubicBezTo>
                    <a:pt x="1027050" y="263400"/>
                    <a:pt x="1018160" y="281180"/>
                    <a:pt x="1005460" y="291340"/>
                  </a:cubicBezTo>
                  <a:cubicBezTo>
                    <a:pt x="994030" y="302770"/>
                    <a:pt x="958470" y="309120"/>
                    <a:pt x="958470" y="309120"/>
                  </a:cubicBezTo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0003" y="8986390"/>
            <a:ext cx="818612" cy="818612"/>
            <a:chOff x="0" y="0"/>
            <a:chExt cx="215602" cy="2156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602" cy="215602"/>
            </a:xfrm>
            <a:custGeom>
              <a:avLst/>
              <a:gdLst/>
              <a:ahLst/>
              <a:cxnLst/>
              <a:rect r="r" b="b" t="t" l="l"/>
              <a:pathLst>
                <a:path h="215602" w="215602">
                  <a:moveTo>
                    <a:pt x="0" y="0"/>
                  </a:moveTo>
                  <a:lnTo>
                    <a:pt x="215602" y="0"/>
                  </a:lnTo>
                  <a:lnTo>
                    <a:pt x="215602" y="215602"/>
                  </a:lnTo>
                  <a:lnTo>
                    <a:pt x="0" y="215602"/>
                  </a:lnTo>
                  <a:close/>
                </a:path>
              </a:pathLst>
            </a:custGeom>
            <a:solidFill>
              <a:srgbClr val="5E7B9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602" cy="253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214924"/>
            <a:ext cx="7161673" cy="8707201"/>
          </a:xfrm>
          <a:custGeom>
            <a:avLst/>
            <a:gdLst/>
            <a:ahLst/>
            <a:cxnLst/>
            <a:rect r="r" b="b" t="t" l="l"/>
            <a:pathLst>
              <a:path h="8707201" w="7161673">
                <a:moveTo>
                  <a:pt x="0" y="0"/>
                </a:moveTo>
                <a:lnTo>
                  <a:pt x="7161673" y="0"/>
                </a:lnTo>
                <a:lnTo>
                  <a:pt x="7161673" y="8707201"/>
                </a:lnTo>
                <a:lnTo>
                  <a:pt x="0" y="8707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73371" y="1010045"/>
            <a:ext cx="6712361" cy="9116959"/>
          </a:xfrm>
          <a:custGeom>
            <a:avLst/>
            <a:gdLst/>
            <a:ahLst/>
            <a:cxnLst/>
            <a:rect r="r" b="b" t="t" l="l"/>
            <a:pathLst>
              <a:path h="9116959" w="6712361">
                <a:moveTo>
                  <a:pt x="0" y="0"/>
                </a:moveTo>
                <a:lnTo>
                  <a:pt x="6712361" y="0"/>
                </a:lnTo>
                <a:lnTo>
                  <a:pt x="6712361" y="9116959"/>
                </a:lnTo>
                <a:lnTo>
                  <a:pt x="0" y="91169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6872" y="8988821"/>
            <a:ext cx="904875" cy="72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424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6872" y="468132"/>
            <a:ext cx="12103587" cy="57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2"/>
              </a:lnSpc>
            </a:pPr>
            <a:r>
              <a:rPr lang="en-US" sz="4600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Hardware components &amp; Software technologies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6956" y="8848994"/>
            <a:ext cx="818612" cy="818612"/>
            <a:chOff x="0" y="0"/>
            <a:chExt cx="215602" cy="2156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602" cy="215602"/>
            </a:xfrm>
            <a:custGeom>
              <a:avLst/>
              <a:gdLst/>
              <a:ahLst/>
              <a:cxnLst/>
              <a:rect r="r" b="b" t="t" l="l"/>
              <a:pathLst>
                <a:path h="215602" w="215602">
                  <a:moveTo>
                    <a:pt x="0" y="0"/>
                  </a:moveTo>
                  <a:lnTo>
                    <a:pt x="215602" y="0"/>
                  </a:lnTo>
                  <a:lnTo>
                    <a:pt x="215602" y="215602"/>
                  </a:lnTo>
                  <a:lnTo>
                    <a:pt x="0" y="215602"/>
                  </a:lnTo>
                  <a:close/>
                </a:path>
              </a:pathLst>
            </a:custGeom>
            <a:solidFill>
              <a:srgbClr val="5E7B9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602" cy="253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28332" y="1383922"/>
            <a:ext cx="7248224" cy="8283685"/>
          </a:xfrm>
          <a:custGeom>
            <a:avLst/>
            <a:gdLst/>
            <a:ahLst/>
            <a:cxnLst/>
            <a:rect r="r" b="b" t="t" l="l"/>
            <a:pathLst>
              <a:path h="8283685" w="7248224">
                <a:moveTo>
                  <a:pt x="0" y="0"/>
                </a:moveTo>
                <a:lnTo>
                  <a:pt x="7248224" y="0"/>
                </a:lnTo>
                <a:lnTo>
                  <a:pt x="7248224" y="8283684"/>
                </a:lnTo>
                <a:lnTo>
                  <a:pt x="0" y="8283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2085723"/>
            <a:ext cx="7291271" cy="6115554"/>
          </a:xfrm>
          <a:custGeom>
            <a:avLst/>
            <a:gdLst/>
            <a:ahLst/>
            <a:cxnLst/>
            <a:rect r="r" b="b" t="t" l="l"/>
            <a:pathLst>
              <a:path h="6115554" w="7291271">
                <a:moveTo>
                  <a:pt x="0" y="0"/>
                </a:moveTo>
                <a:lnTo>
                  <a:pt x="7291271" y="0"/>
                </a:lnTo>
                <a:lnTo>
                  <a:pt x="7291271" y="6115554"/>
                </a:lnTo>
                <a:lnTo>
                  <a:pt x="0" y="61155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8805" y="370681"/>
            <a:ext cx="7210425" cy="90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4"/>
              </a:lnSpc>
            </a:pPr>
            <a:r>
              <a:rPr lang="en-US" sz="7200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Estimated Budget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825" y="8851425"/>
            <a:ext cx="904875" cy="72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424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9318" y="8848994"/>
            <a:ext cx="818612" cy="818612"/>
            <a:chOff x="0" y="0"/>
            <a:chExt cx="215602" cy="2156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602" cy="215602"/>
            </a:xfrm>
            <a:custGeom>
              <a:avLst/>
              <a:gdLst/>
              <a:ahLst/>
              <a:cxnLst/>
              <a:rect r="r" b="b" t="t" l="l"/>
              <a:pathLst>
                <a:path h="215602" w="215602">
                  <a:moveTo>
                    <a:pt x="0" y="0"/>
                  </a:moveTo>
                  <a:lnTo>
                    <a:pt x="215602" y="0"/>
                  </a:lnTo>
                  <a:lnTo>
                    <a:pt x="215602" y="215602"/>
                  </a:lnTo>
                  <a:lnTo>
                    <a:pt x="0" y="215602"/>
                  </a:lnTo>
                  <a:close/>
                </a:path>
              </a:pathLst>
            </a:custGeom>
            <a:solidFill>
              <a:srgbClr val="5E7B9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602" cy="253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123169" y="1137635"/>
            <a:ext cx="14387334" cy="8794258"/>
          </a:xfrm>
          <a:custGeom>
            <a:avLst/>
            <a:gdLst/>
            <a:ahLst/>
            <a:cxnLst/>
            <a:rect r="r" b="b" t="t" l="l"/>
            <a:pathLst>
              <a:path h="8794258" w="14387334">
                <a:moveTo>
                  <a:pt x="0" y="0"/>
                </a:moveTo>
                <a:lnTo>
                  <a:pt x="14387334" y="0"/>
                </a:lnTo>
                <a:lnTo>
                  <a:pt x="14387334" y="8794258"/>
                </a:lnTo>
                <a:lnTo>
                  <a:pt x="0" y="8794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6186" y="8851425"/>
            <a:ext cx="904875" cy="72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424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8805" y="361156"/>
            <a:ext cx="7210425" cy="77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6"/>
              </a:lnSpc>
            </a:pPr>
            <a:r>
              <a:rPr lang="en-US" sz="6300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Work Distribution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9318" y="8848994"/>
            <a:ext cx="818612" cy="818612"/>
            <a:chOff x="0" y="0"/>
            <a:chExt cx="215602" cy="2156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602" cy="215602"/>
            </a:xfrm>
            <a:custGeom>
              <a:avLst/>
              <a:gdLst/>
              <a:ahLst/>
              <a:cxnLst/>
              <a:rect r="r" b="b" t="t" l="l"/>
              <a:pathLst>
                <a:path h="215602" w="215602">
                  <a:moveTo>
                    <a:pt x="0" y="0"/>
                  </a:moveTo>
                  <a:lnTo>
                    <a:pt x="215602" y="0"/>
                  </a:lnTo>
                  <a:lnTo>
                    <a:pt x="215602" y="215602"/>
                  </a:lnTo>
                  <a:lnTo>
                    <a:pt x="0" y="215602"/>
                  </a:lnTo>
                  <a:close/>
                </a:path>
              </a:pathLst>
            </a:custGeom>
            <a:solidFill>
              <a:srgbClr val="5E7B9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602" cy="253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167" y="728388"/>
            <a:ext cx="10439316" cy="9809161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11644312" y="1274413"/>
            <a:ext cx="4462489" cy="8341102"/>
          </a:xfrm>
          <a:custGeom>
            <a:avLst/>
            <a:gdLst/>
            <a:ahLst/>
            <a:cxnLst/>
            <a:rect r="r" b="b" t="t" l="l"/>
            <a:pathLst>
              <a:path h="8341102" w="4462489">
                <a:moveTo>
                  <a:pt x="0" y="0"/>
                </a:moveTo>
                <a:lnTo>
                  <a:pt x="4462490" y="0"/>
                </a:lnTo>
                <a:lnTo>
                  <a:pt x="4462490" y="8341102"/>
                </a:lnTo>
                <a:lnTo>
                  <a:pt x="0" y="83411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6186" y="8851425"/>
            <a:ext cx="904875" cy="72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424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8805" y="370681"/>
            <a:ext cx="7210425" cy="90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4"/>
              </a:lnSpc>
            </a:pPr>
            <a:r>
              <a:rPr lang="en-US" sz="7200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Work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1569" y="339186"/>
            <a:ext cx="4409546" cy="98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7"/>
              </a:lnSpc>
            </a:pPr>
            <a:r>
              <a:rPr lang="en-US" sz="7899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Reference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008357"/>
            <a:ext cx="11199182" cy="580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8" indent="-356234" lvl="1">
              <a:lnSpc>
                <a:spcPts val="5807"/>
              </a:lnSpc>
              <a:buAutoNum type="arabicPeriod" startAt="1"/>
            </a:pPr>
            <a:r>
              <a:rPr lang="en-US" b="true" sz="3299">
                <a:solidFill>
                  <a:srgbClr val="5E7B9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YDLIDAR X4 Datasheet</a:t>
            </a:r>
          </a:p>
          <a:p>
            <a:pPr algn="l" marL="712468" indent="-356234" lvl="1">
              <a:lnSpc>
                <a:spcPts val="5807"/>
              </a:lnSpc>
              <a:buAutoNum type="arabicPeriod" startAt="1"/>
            </a:pPr>
            <a:r>
              <a:rPr lang="en-US" b="true" sz="3299">
                <a:solidFill>
                  <a:srgbClr val="5E7B9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ESP32 Technical Reference Manual</a:t>
            </a:r>
          </a:p>
          <a:p>
            <a:pPr algn="l" marL="712468" indent="-356234" lvl="1">
              <a:lnSpc>
                <a:spcPts val="5807"/>
              </a:lnSpc>
              <a:buAutoNum type="arabicPeriod" startAt="1"/>
            </a:pPr>
            <a:r>
              <a:rPr lang="en-US" b="true" sz="3299">
                <a:solidFill>
                  <a:srgbClr val="5E7B9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Raspberry Pi Camera Module 3 Documentation</a:t>
            </a:r>
          </a:p>
          <a:p>
            <a:pPr algn="l" marL="712468" indent="-356234" lvl="1">
              <a:lnSpc>
                <a:spcPts val="5807"/>
              </a:lnSpc>
              <a:buAutoNum type="arabicPeriod" startAt="1"/>
            </a:pPr>
            <a:r>
              <a:rPr lang="en-US" b="true" sz="3299">
                <a:solidFill>
                  <a:srgbClr val="5E7B9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VL53L1X Time-of-Flight Sensor Datasheet</a:t>
            </a:r>
          </a:p>
          <a:p>
            <a:pPr algn="l" marL="712468" indent="-356234" lvl="1">
              <a:lnSpc>
                <a:spcPts val="5807"/>
              </a:lnSpc>
              <a:buAutoNum type="arabicPeriod" startAt="1"/>
            </a:pPr>
            <a:r>
              <a:rPr lang="en-US" b="true" sz="3299">
                <a:solidFill>
                  <a:srgbClr val="5E7B9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Point Cloud Library (PCL) Documentation</a:t>
            </a:r>
          </a:p>
          <a:p>
            <a:pPr algn="l" marL="712468" indent="-356234" lvl="1">
              <a:lnSpc>
                <a:spcPts val="5807"/>
              </a:lnSpc>
              <a:buAutoNum type="arabicPeriod" startAt="1"/>
            </a:pPr>
            <a:r>
              <a:rPr lang="en-US" b="true" sz="3299">
                <a:solidFill>
                  <a:srgbClr val="5E7B9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Open3D: A Modern Library for 3D Data Processing</a:t>
            </a:r>
          </a:p>
          <a:p>
            <a:pPr algn="l" marL="712468" indent="-356234" lvl="1">
              <a:lnSpc>
                <a:spcPts val="5807"/>
              </a:lnSpc>
              <a:buAutoNum type="arabicPeriod" startAt="1"/>
            </a:pPr>
            <a:r>
              <a:rPr lang="en-US" b="true" sz="3299">
                <a:solidFill>
                  <a:srgbClr val="5E7B9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AWS S3 Developer Guide</a:t>
            </a:r>
          </a:p>
          <a:p>
            <a:pPr algn="l" marL="712468" indent="-356234" lvl="1">
              <a:lnSpc>
                <a:spcPts val="5807"/>
              </a:lnSpc>
              <a:buAutoNum type="arabicPeriod" startAt="1"/>
            </a:pPr>
            <a:r>
              <a:rPr lang="en-US" b="true" sz="3299">
                <a:solidFill>
                  <a:srgbClr val="5E7B9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IEC 60825-1:2014 Laser Safety Standard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849994" y="8848994"/>
            <a:ext cx="818612" cy="818612"/>
            <a:chOff x="0" y="0"/>
            <a:chExt cx="215602" cy="2156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602" cy="215602"/>
            </a:xfrm>
            <a:custGeom>
              <a:avLst/>
              <a:gdLst/>
              <a:ahLst/>
              <a:cxnLst/>
              <a:rect r="r" b="b" t="t" l="l"/>
              <a:pathLst>
                <a:path h="215602" w="215602">
                  <a:moveTo>
                    <a:pt x="0" y="0"/>
                  </a:moveTo>
                  <a:lnTo>
                    <a:pt x="215602" y="0"/>
                  </a:lnTo>
                  <a:lnTo>
                    <a:pt x="215602" y="215602"/>
                  </a:lnTo>
                  <a:lnTo>
                    <a:pt x="0" y="215602"/>
                  </a:lnTo>
                  <a:close/>
                </a:path>
              </a:pathLst>
            </a:custGeom>
            <a:solidFill>
              <a:srgbClr val="5E7B9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5602" cy="253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806862" y="8851425"/>
            <a:ext cx="904875" cy="72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424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5044" y="8951594"/>
            <a:ext cx="7076242" cy="323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5" indent="-205102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Additional technical references available in project documentation.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74190" y="-918582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606" y="2803493"/>
            <a:ext cx="1645692" cy="1642700"/>
          </a:xfrm>
          <a:custGeom>
            <a:avLst/>
            <a:gdLst/>
            <a:ahLst/>
            <a:cxnLst/>
            <a:rect r="r" b="b" t="t" l="l"/>
            <a:pathLst>
              <a:path h="1642700" w="1645692">
                <a:moveTo>
                  <a:pt x="0" y="0"/>
                </a:moveTo>
                <a:lnTo>
                  <a:pt x="1645692" y="0"/>
                </a:lnTo>
                <a:lnTo>
                  <a:pt x="1645692" y="1642700"/>
                </a:lnTo>
                <a:lnTo>
                  <a:pt x="0" y="164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35982">
            <a:off x="14459420" y="6831570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652293">
            <a:off x="16983529" y="5751008"/>
            <a:ext cx="1645692" cy="1642700"/>
          </a:xfrm>
          <a:custGeom>
            <a:avLst/>
            <a:gdLst/>
            <a:ahLst/>
            <a:cxnLst/>
            <a:rect r="r" b="b" t="t" l="l"/>
            <a:pathLst>
              <a:path h="1642700" w="1645692">
                <a:moveTo>
                  <a:pt x="0" y="0"/>
                </a:moveTo>
                <a:lnTo>
                  <a:pt x="1645693" y="0"/>
                </a:lnTo>
                <a:lnTo>
                  <a:pt x="1645693" y="1642700"/>
                </a:lnTo>
                <a:lnTo>
                  <a:pt x="0" y="164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831725">
            <a:off x="-742937" y="7811340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0" y="0"/>
                </a:moveTo>
                <a:lnTo>
                  <a:pt x="3125458" y="0"/>
                </a:lnTo>
                <a:lnTo>
                  <a:pt x="3125458" y="3497537"/>
                </a:lnTo>
                <a:lnTo>
                  <a:pt x="0" y="3497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3473863" y="7880583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0" y="0"/>
                </a:moveTo>
                <a:lnTo>
                  <a:pt x="2196274" y="0"/>
                </a:lnTo>
                <a:lnTo>
                  <a:pt x="21962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51741" y="-1083926"/>
            <a:ext cx="2440518" cy="2623557"/>
          </a:xfrm>
          <a:custGeom>
            <a:avLst/>
            <a:gdLst/>
            <a:ahLst/>
            <a:cxnLst/>
            <a:rect r="r" b="b" t="t" l="l"/>
            <a:pathLst>
              <a:path h="2623557" w="2440518">
                <a:moveTo>
                  <a:pt x="0" y="0"/>
                </a:moveTo>
                <a:lnTo>
                  <a:pt x="2440518" y="0"/>
                </a:lnTo>
                <a:lnTo>
                  <a:pt x="2440518" y="2623556"/>
                </a:lnTo>
                <a:lnTo>
                  <a:pt x="0" y="2623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2148079" y="8839846"/>
            <a:ext cx="2440518" cy="2623557"/>
          </a:xfrm>
          <a:custGeom>
            <a:avLst/>
            <a:gdLst/>
            <a:ahLst/>
            <a:cxnLst/>
            <a:rect r="r" b="b" t="t" l="l"/>
            <a:pathLst>
              <a:path h="2623557" w="2440518">
                <a:moveTo>
                  <a:pt x="2440517" y="2623557"/>
                </a:moveTo>
                <a:lnTo>
                  <a:pt x="0" y="2623557"/>
                </a:lnTo>
                <a:lnTo>
                  <a:pt x="0" y="0"/>
                </a:lnTo>
                <a:lnTo>
                  <a:pt x="2440517" y="0"/>
                </a:lnTo>
                <a:lnTo>
                  <a:pt x="2440517" y="262355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95591" y="4310774"/>
            <a:ext cx="12096818" cy="209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41"/>
              </a:lnSpc>
            </a:pPr>
            <a:r>
              <a:rPr lang="en-US" sz="16567">
                <a:solidFill>
                  <a:srgbClr val="5E7B97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Tha</a:t>
            </a:r>
            <a:r>
              <a:rPr lang="en-US" sz="16567">
                <a:solidFill>
                  <a:srgbClr val="5E7B97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DAHIaUPehNo</dc:identifier>
  <dcterms:modified xsi:type="dcterms:W3CDTF">2011-08-01T06:04:30Z</dcterms:modified>
  <cp:revision>1</cp:revision>
  <dc:title>B25 FIT LEVEL 01 PROJECT</dc:title>
</cp:coreProperties>
</file>
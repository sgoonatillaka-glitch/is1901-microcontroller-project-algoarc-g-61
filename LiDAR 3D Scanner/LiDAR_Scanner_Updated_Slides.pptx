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DC06DE9-F79F-4A55-AADE-280AEC738AA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654B16-2025-4460-A024-1324A539D33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191B24-9557-4998-8C49-854B419D61F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E5EF87-D8F9-40D8-936C-ED595A268E0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859E7F-BA5F-47FB-AA7D-D49D285104A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9BE4B7-C018-455D-ADCF-EB94B9D9B78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rgbClr val="001a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365760" y="91440"/>
            <a:ext cx="7772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0d4ff"/>
                </a:solidFill>
                <a:effectLst/>
                <a:uFillTx/>
                <a:latin typeface="Arial"/>
                <a:ea typeface="Arial"/>
              </a:rPr>
              <a:t>04 — IMPLEMENTATION  |  Updated Technical Sketch (With New Sensors)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8046720" y="91440"/>
            <a:ext cx="1005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Arial"/>
              </a:rPr>
              <a:t>Slide 7 (Updated)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" name="Image 0" descr="preencoded.png"/>
          <p:cNvPicPr/>
          <p:nvPr/>
        </p:nvPicPr>
        <p:blipFill>
          <a:blip r:embed="rId1"/>
          <a:stretch/>
        </p:blipFill>
        <p:spPr>
          <a:xfrm>
            <a:off x="182880" y="548640"/>
            <a:ext cx="8777880" cy="452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Shape 3"/>
          <p:cNvSpPr/>
          <p:nvPr/>
        </p:nvSpPr>
        <p:spPr>
          <a:xfrm>
            <a:off x="0" y="4974480"/>
            <a:ext cx="9143640" cy="168840"/>
          </a:xfrm>
          <a:prstGeom prst="rect">
            <a:avLst/>
          </a:prstGeom>
          <a:solidFill>
            <a:srgbClr val="0011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0" y="4974480"/>
            <a:ext cx="9143640" cy="16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ffd700"/>
                </a:solidFill>
                <a:effectLst/>
                <a:uFillTx/>
                <a:latin typeface="Arial"/>
                <a:ea typeface="Arial"/>
              </a:rPr>
              <a:t>★ New sensors: RPi Camera Module 3 (B)  |  VL53L1X ToF (C)  |  WS2812B LED Ring (D)  |  Load Cell + HX711 (F)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rgbClr val="001a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"/>
          <p:cNvSpPr/>
          <p:nvPr/>
        </p:nvSpPr>
        <p:spPr>
          <a:xfrm>
            <a:off x="365760" y="91440"/>
            <a:ext cx="7772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0d4ff"/>
                </a:solidFill>
                <a:effectLst/>
                <a:uFillTx/>
                <a:latin typeface="Arial"/>
                <a:ea typeface="Arial"/>
              </a:rPr>
              <a:t>05 — COMPONENTS USED &amp; TECHNOLOGIES  (Updated)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2"/>
          <p:cNvSpPr/>
          <p:nvPr/>
        </p:nvSpPr>
        <p:spPr>
          <a:xfrm>
            <a:off x="8046720" y="91440"/>
            <a:ext cx="1005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Arial"/>
              </a:rPr>
              <a:t>Slide 8 (Updated)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3"/>
          <p:cNvSpPr/>
          <p:nvPr/>
        </p:nvSpPr>
        <p:spPr>
          <a:xfrm>
            <a:off x="274320" y="548640"/>
            <a:ext cx="4205880" cy="273960"/>
          </a:xfrm>
          <a:prstGeom prst="rect">
            <a:avLst/>
          </a:prstGeom>
          <a:solidFill>
            <a:srgbClr val="001a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4"/>
          <p:cNvSpPr/>
          <p:nvPr/>
        </p:nvSpPr>
        <p:spPr>
          <a:xfrm>
            <a:off x="320040" y="557640"/>
            <a:ext cx="4114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00d4ff"/>
                </a:solidFill>
                <a:effectLst/>
                <a:uFillTx/>
                <a:latin typeface="Arial"/>
                <a:ea typeface="Arial"/>
              </a:rPr>
              <a:t>⚙  HARDWARE COMPONENTS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5"/>
          <p:cNvSpPr/>
          <p:nvPr/>
        </p:nvSpPr>
        <p:spPr>
          <a:xfrm>
            <a:off x="4663440" y="548640"/>
            <a:ext cx="4205880" cy="273960"/>
          </a:xfrm>
          <a:prstGeom prst="rect">
            <a:avLst/>
          </a:prstGeom>
          <a:solidFill>
            <a:srgbClr val="001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6"/>
          <p:cNvSpPr/>
          <p:nvPr/>
        </p:nvSpPr>
        <p:spPr>
          <a:xfrm>
            <a:off x="4709160" y="557640"/>
            <a:ext cx="4114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39d353"/>
                </a:solidFill>
                <a:effectLst/>
                <a:uFillTx/>
                <a:latin typeface="Arial"/>
                <a:ea typeface="Arial"/>
              </a:rPr>
              <a:t>💻  SOFTWARE &amp; TECHNOLOGIES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3" name="Table 0"/>
          <p:cNvGraphicFramePr/>
          <p:nvPr/>
        </p:nvGraphicFramePr>
        <p:xfrm>
          <a:off x="274320" y="850320"/>
          <a:ext cx="4251600" cy="4010040"/>
        </p:xfrm>
        <a:graphic>
          <a:graphicData uri="http://schemas.openxmlformats.org/drawingml/2006/table">
            <a:tbl>
              <a:tblPr/>
              <a:tblGrid>
                <a:gridCol w="2240280"/>
                <a:gridCol w="2011680"/>
              </a:tblGrid>
              <a:tr h="235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Sensor / Component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Spec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</a:tr>
              <a:tr h="235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YDLIDAR X4 (LiDAR)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0.12–10m, 0.5° res., UART, ~$100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235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ffd7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★ RPi Camera Module 3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ffd7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12MP Sony IMX708, autofocus, CSI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235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ffd7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★ RPi Zero 2W (cam ctrl)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ffd7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Quad-core 1GHz, 512MB, Wi-Fi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235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ffd7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★ VL53L1X ToF Sensor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ffd7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±1mm, 4m range, I2C, ~$5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235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ffd7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★ WS2812B NeoPixel Ring (24)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ffd7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5V, SPI/PWM, programmable RGB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235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ffd7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★ Load Cell 5kg + HX711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ffd7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±1g accuracy, 24-bit ADC, SPI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235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ESP32 WROOM MCU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240MHz, Wi-Fi/BLE, FreeRTOS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235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NEMA17 Stepper Motor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1.8°/step, 0.5Nm, 12V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235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TMC2209 Motor Driver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microstepping, silent, UART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235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AS5048A Magnetic Encoder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14-bit, SPI, absolute angle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235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MPU-6050 IMU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6-DOF, I2C, vibration detect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235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2.4" ILI9341 LCD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SPI, 320×240, status display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235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SD Card Module (32GB)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FAT32, SPI, scan data buffer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235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24V 5A DC Power Supply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220V AC input, 120W, multi-rail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235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Aluminum Extrusion 2020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420mm rails, T-nuts, brackets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235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Custom PCB + 608ZZ Bearings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PCB ~$30, bearings ×4 ~$10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" name="Table 1"/>
          <p:cNvGraphicFramePr/>
          <p:nvPr/>
        </p:nvGraphicFramePr>
        <p:xfrm>
          <a:off x="4663440" y="850320"/>
          <a:ext cx="4205880" cy="4010040"/>
        </p:xfrm>
        <a:graphic>
          <a:graphicData uri="http://schemas.openxmlformats.org/drawingml/2006/table">
            <a:tbl>
              <a:tblPr/>
              <a:tblGrid>
                <a:gridCol w="1965960"/>
                <a:gridCol w="2240280"/>
              </a:tblGrid>
              <a:tr h="235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Layer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Tools / Stack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03300"/>
                    </a:solidFill>
                  </a:tcPr>
                </a:tc>
              </a:tr>
              <a:tr h="235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Firmware (ESP32)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Arduino IDE, FreeRTOS C/C++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235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Camera Control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★ Python + PiCamera2 (RPi Zero)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235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LiDAR Driver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YDLIDAR SDK (C++ / Python)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235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Motor Control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Custom stepper lib + TMC2209 UART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235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Point Cloud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PCL (C++) + Open3D (Python)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235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ffd7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★ Texture Mapping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ffd7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OpenCV, UV projection, Blender CLI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235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ffd7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★ Object Detection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ffd7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VL53L1X lib, auto-height config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235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ffd7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★ Weight Logging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ffd7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HX711 lib, metadata JSON logging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235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ffd7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★ LED Control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ffd7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NeoPixel lib (ESP32 RMT driver)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235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Processing Pipeline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Python + NumPy + SciPy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235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Backend API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Flask (Python), REST, CORS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235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Cloud Storage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AWS S3 / Firebase (HTTPS)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235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Web Frontend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React.js + Three.js + WebSocket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235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3D Model Export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PLY (colour) / OBJ / STL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235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Database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Firebase Firestore (scan metadata)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235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Version Control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Git + GitHub (team collaboration)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25" name="Shape 7"/>
          <p:cNvSpPr/>
          <p:nvPr/>
        </p:nvSpPr>
        <p:spPr>
          <a:xfrm>
            <a:off x="274320" y="4846320"/>
            <a:ext cx="8595000" cy="255600"/>
          </a:xfrm>
          <a:prstGeom prst="rect">
            <a:avLst/>
          </a:prstGeom>
          <a:solidFill>
            <a:srgbClr val="111100"/>
          </a:solidFill>
          <a:ln w="12700">
            <a:solidFill>
              <a:srgbClr val="3333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8"/>
          <p:cNvSpPr/>
          <p:nvPr/>
        </p:nvSpPr>
        <p:spPr>
          <a:xfrm>
            <a:off x="320040" y="4855320"/>
            <a:ext cx="8503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d700"/>
                </a:solidFill>
                <a:effectLst/>
                <a:uFillTx/>
                <a:latin typeface="Arial"/>
                <a:ea typeface="Arial"/>
              </a:rPr>
              <a:t>★ Yellow = newly added components/software for Camera, ToF, LED Ring &amp; Load Cell subsystems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rgbClr val="001a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"/>
          <p:cNvSpPr/>
          <p:nvPr/>
        </p:nvSpPr>
        <p:spPr>
          <a:xfrm>
            <a:off x="365760" y="91440"/>
            <a:ext cx="7772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0d4ff"/>
                </a:solidFill>
                <a:effectLst/>
                <a:uFillTx/>
                <a:latin typeface="Arial"/>
                <a:ea typeface="Arial"/>
              </a:rPr>
              <a:t>06 — EXPECTED BUDGET (LKR) — Updated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2"/>
          <p:cNvSpPr/>
          <p:nvPr/>
        </p:nvSpPr>
        <p:spPr>
          <a:xfrm>
            <a:off x="8046720" y="91440"/>
            <a:ext cx="1005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Arial"/>
              </a:rPr>
              <a:t>Slide 9 (Updated)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3"/>
          <p:cNvSpPr/>
          <p:nvPr/>
        </p:nvSpPr>
        <p:spPr>
          <a:xfrm>
            <a:off x="274320" y="530280"/>
            <a:ext cx="8595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i="1" u="none" strike="noStrike">
                <a:solidFill>
                  <a:srgbClr val="8b949e"/>
                </a:solidFill>
                <a:effectLst/>
                <a:uFillTx/>
                <a:latin typeface="Arial"/>
                <a:ea typeface="Arial"/>
              </a:rPr>
              <a:t>Exchange rate: 1 USD ≈ LKR 305  |  ★ = newly added items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1" name="Table 0"/>
          <p:cNvGraphicFramePr/>
          <p:nvPr/>
        </p:nvGraphicFramePr>
        <p:xfrm>
          <a:off x="274320" y="768240"/>
          <a:ext cx="8595000" cy="6207120"/>
        </p:xfrm>
        <a:graphic>
          <a:graphicData uri="http://schemas.openxmlformats.org/drawingml/2006/table">
            <a:tbl>
              <a:tblPr/>
              <a:tblGrid>
                <a:gridCol w="5303520"/>
                <a:gridCol w="1371600"/>
                <a:gridCol w="1920240"/>
              </a:tblGrid>
              <a:tr h="182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Component / Item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USD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LKR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YDLIDAR X4 LiDAR Sensor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$100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30,500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ffd7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★ RPi Camera Module 3 (Sony IMX708)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ffd7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$25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ffd7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7,625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ffd7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★ Raspberry Pi Zero 2W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ffd7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$15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ffd7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4,575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ffd7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★ VL53L1X Short-Range ToF Sensor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ffd7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$5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ffd7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1,525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ffd7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★ WS2812B NeoPixel LED Ring (24px)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ffd7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$8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ffd7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2,440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ffd7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★ Load Cell 5kg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ffd7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$3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ffd7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915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ffd7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★ HX711 Amplifier Module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ffd7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$2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ffd7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610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ESP32 WROOM Dev Board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$5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1,525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NEMA17 Stepper Motor (×2)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$30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9,150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TMC2209 Motor Driver (×2)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$15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4,575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AS5048A Magnetic Encoder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$12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3,660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MPU-6050 IMU Module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$3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915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2.4" ILI9341 LCD Display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$5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1,525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Aluminum Extrusion 2020 (4×500mm)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$20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6,100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Ball Bearings 608ZZ (×4)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$5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1,525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Object Turntable Platform (custom)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$25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7,625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Custom PCB + Prototype Board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$30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9,150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SD Card Module + 32GB Card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$8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2,440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24V 5A Power Supply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$18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5,490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ffd7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★ Camera Arm Mount (3D printed)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ffd7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$5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ffd7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1,525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Wiring, Connectors, Misc.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$25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7,625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3D Printed Parts / Enclosure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$25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7,625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Fasteners, Hardware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$10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3,050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Cloud: AWS S3 / Firebase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$0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0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1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PREVIOUS TOTAL (without new sensors)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1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~$331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1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96,960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11111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1" u="none" strike="noStrike">
                          <a:solidFill>
                            <a:srgbClr val="ffd7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★ ADDITIONAL COST (new sensors)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111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1" u="none" strike="noStrike">
                          <a:solidFill>
                            <a:srgbClr val="ffd7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+$63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111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850" b="1" u="none" strike="noStrike">
                          <a:solidFill>
                            <a:srgbClr val="ffd7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+24,735</a:t>
                      </a:r>
                      <a:endParaRPr lang="en-US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11100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1" u="none" strike="noStrike">
                          <a:solidFill>
                            <a:srgbClr val="00d4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UPDATED TOTAL ESTIMATED COST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01a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1" u="none" strike="noStrike">
                          <a:solidFill>
                            <a:srgbClr val="00d4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~$394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01a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1" u="none" strike="noStrike">
                          <a:solidFill>
                            <a:srgbClr val="00d4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1,19,695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01a44"/>
                    </a:solidFill>
                  </a:tcPr>
                </a:tc>
              </a:tr>
            </a:tbl>
          </a:graphicData>
        </a:graphic>
      </p:graphicFrame>
      <p:sp>
        <p:nvSpPr>
          <p:cNvPr id="32" name="Text 4"/>
          <p:cNvSpPr/>
          <p:nvPr/>
        </p:nvSpPr>
        <p:spPr>
          <a:xfrm>
            <a:off x="274320" y="4974480"/>
            <a:ext cx="8595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i="1" u="none" strike="noStrike">
                <a:solidFill>
                  <a:srgbClr val="8b949e"/>
                </a:solidFill>
                <a:effectLst/>
                <a:uFillTx/>
                <a:latin typeface="Arial"/>
                <a:ea typeface="Arial"/>
              </a:rPr>
              <a:t>* Prices are estimates. RPi Camera Module 3 may require import — check local availability. AWS/Firebase free tier covers ~5GB storage.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rgbClr val="001a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"/>
          <p:cNvSpPr/>
          <p:nvPr/>
        </p:nvSpPr>
        <p:spPr>
          <a:xfrm>
            <a:off x="365760" y="91440"/>
            <a:ext cx="7772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0d4ff"/>
                </a:solidFill>
                <a:effectLst/>
                <a:uFillTx/>
                <a:latin typeface="Arial"/>
                <a:ea typeface="Arial"/>
              </a:rPr>
              <a:t>07 — WORK DISTRIBUTION  (Updated — Equal HW + SW per member)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"/>
          <p:cNvSpPr/>
          <p:nvPr/>
        </p:nvSpPr>
        <p:spPr>
          <a:xfrm>
            <a:off x="8046720" y="91440"/>
            <a:ext cx="1005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Arial"/>
              </a:rPr>
              <a:t>Slide 10 (Updated)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3"/>
          <p:cNvSpPr/>
          <p:nvPr/>
        </p:nvSpPr>
        <p:spPr>
          <a:xfrm>
            <a:off x="91440" y="567000"/>
            <a:ext cx="1700280" cy="4407120"/>
          </a:xfrm>
          <a:prstGeom prst="rect">
            <a:avLst/>
          </a:prstGeom>
          <a:solidFill>
            <a:srgbClr val="161b22"/>
          </a:solidFill>
          <a:ln w="19050">
            <a:solidFill>
              <a:srgbClr val="00d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4"/>
          <p:cNvSpPr/>
          <p:nvPr/>
        </p:nvSpPr>
        <p:spPr>
          <a:xfrm>
            <a:off x="91440" y="567000"/>
            <a:ext cx="1700280" cy="456840"/>
          </a:xfrm>
          <a:prstGeom prst="rect">
            <a:avLst/>
          </a:prstGeom>
          <a:solidFill>
            <a:srgbClr val="001a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5"/>
          <p:cNvSpPr/>
          <p:nvPr/>
        </p:nvSpPr>
        <p:spPr>
          <a:xfrm>
            <a:off x="91440" y="868680"/>
            <a:ext cx="1700280" cy="155160"/>
          </a:xfrm>
          <a:prstGeom prst="rect">
            <a:avLst/>
          </a:prstGeom>
          <a:solidFill>
            <a:srgbClr val="001a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6"/>
          <p:cNvSpPr/>
          <p:nvPr/>
        </p:nvSpPr>
        <p:spPr>
          <a:xfrm>
            <a:off x="182880" y="603360"/>
            <a:ext cx="319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0d4ff"/>
                </a:solidFill>
                <a:effectLst/>
                <a:uFillTx/>
                <a:latin typeface="Arial Black"/>
                <a:ea typeface="Arial Black"/>
              </a:rPr>
              <a:t>M1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7"/>
          <p:cNvSpPr/>
          <p:nvPr/>
        </p:nvSpPr>
        <p:spPr>
          <a:xfrm>
            <a:off x="502920" y="603360"/>
            <a:ext cx="1288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00d4ff"/>
                </a:solidFill>
                <a:effectLst/>
                <a:uFillTx/>
                <a:latin typeface="Arial"/>
                <a:ea typeface="Arial"/>
              </a:rPr>
              <a:t>LiDAR &amp; Point Cloud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8"/>
          <p:cNvSpPr/>
          <p:nvPr/>
        </p:nvSpPr>
        <p:spPr>
          <a:xfrm>
            <a:off x="164520" y="1078920"/>
            <a:ext cx="1554120" cy="200880"/>
          </a:xfrm>
          <a:prstGeom prst="rect">
            <a:avLst/>
          </a:prstGeom>
          <a:solidFill>
            <a:srgbClr val="0011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9"/>
          <p:cNvSpPr/>
          <p:nvPr/>
        </p:nvSpPr>
        <p:spPr>
          <a:xfrm>
            <a:off x="182880" y="1088280"/>
            <a:ext cx="1590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trike="noStrike">
                <a:solidFill>
                  <a:srgbClr val="55aaff"/>
                </a:solidFill>
                <a:effectLst/>
                <a:uFillTx/>
                <a:latin typeface="Arial"/>
                <a:ea typeface="Arial"/>
              </a:rPr>
              <a:t>⚙ HARDWARE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0"/>
          <p:cNvSpPr/>
          <p:nvPr/>
        </p:nvSpPr>
        <p:spPr>
          <a:xfrm>
            <a:off x="182880" y="1316880"/>
            <a:ext cx="159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c9d1d9"/>
                </a:solidFill>
                <a:effectLst/>
                <a:uFillTx/>
                <a:latin typeface="Arial"/>
                <a:ea typeface="Arial"/>
              </a:rPr>
              <a:t>• YDLIDAR X4 UART driver integration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1"/>
          <p:cNvSpPr/>
          <p:nvPr/>
        </p:nvSpPr>
        <p:spPr>
          <a:xfrm>
            <a:off x="182880" y="1700640"/>
            <a:ext cx="159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c9d1d9"/>
                </a:solidFill>
                <a:effectLst/>
                <a:uFillTx/>
                <a:latin typeface="Arial"/>
                <a:ea typeface="Arial"/>
              </a:rPr>
              <a:t>• Sensor mount &amp; calibration jig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2"/>
          <p:cNvSpPr/>
          <p:nvPr/>
        </p:nvSpPr>
        <p:spPr>
          <a:xfrm>
            <a:off x="182880" y="2084760"/>
            <a:ext cx="159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c9d1d9"/>
                </a:solidFill>
                <a:effectLst/>
                <a:uFillTx/>
                <a:latin typeface="Arial"/>
                <a:ea typeface="Arial"/>
              </a:rPr>
              <a:t>• LiDAR angle-sync with encoder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3"/>
          <p:cNvSpPr/>
          <p:nvPr/>
        </p:nvSpPr>
        <p:spPr>
          <a:xfrm>
            <a:off x="182880" y="2468880"/>
            <a:ext cx="159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c9d1d9"/>
                </a:solidFill>
                <a:effectLst/>
                <a:uFillTx/>
                <a:latin typeface="Arial"/>
                <a:ea typeface="Arial"/>
              </a:rPr>
              <a:t>• Accuracy validation with known objects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4"/>
          <p:cNvSpPr/>
          <p:nvPr/>
        </p:nvSpPr>
        <p:spPr>
          <a:xfrm>
            <a:off x="164520" y="2898720"/>
            <a:ext cx="1554120" cy="200880"/>
          </a:xfrm>
          <a:prstGeom prst="rect">
            <a:avLst/>
          </a:prstGeom>
          <a:solidFill>
            <a:srgbClr val="001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5"/>
          <p:cNvSpPr/>
          <p:nvPr/>
        </p:nvSpPr>
        <p:spPr>
          <a:xfrm>
            <a:off x="182880" y="2907720"/>
            <a:ext cx="1590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trike="noStrike">
                <a:solidFill>
                  <a:srgbClr val="55cc88"/>
                </a:solidFill>
                <a:effectLst/>
                <a:uFillTx/>
                <a:latin typeface="Arial"/>
                <a:ea typeface="Arial"/>
              </a:rPr>
              <a:t>💻 SOFTWARE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6"/>
          <p:cNvSpPr/>
          <p:nvPr/>
        </p:nvSpPr>
        <p:spPr>
          <a:xfrm>
            <a:off x="182880" y="3136320"/>
            <a:ext cx="159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c9d1d9"/>
                </a:solidFill>
                <a:effectLst/>
                <a:uFillTx/>
                <a:latin typeface="Arial"/>
                <a:ea typeface="Arial"/>
              </a:rPr>
              <a:t>• PCL / Open3D pipeline development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7"/>
          <p:cNvSpPr/>
          <p:nvPr/>
        </p:nvSpPr>
        <p:spPr>
          <a:xfrm>
            <a:off x="182880" y="3520440"/>
            <a:ext cx="159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c9d1d9"/>
                </a:solidFill>
                <a:effectLst/>
                <a:uFillTx/>
                <a:latin typeface="Arial"/>
                <a:ea typeface="Arial"/>
              </a:rPr>
              <a:t>• Statistical outlier removal + filtering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8"/>
          <p:cNvSpPr/>
          <p:nvPr/>
        </p:nvSpPr>
        <p:spPr>
          <a:xfrm>
            <a:off x="182880" y="3904560"/>
            <a:ext cx="159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c9d1d9"/>
                </a:solidFill>
                <a:effectLst/>
                <a:uFillTx/>
                <a:latin typeface="Arial"/>
                <a:ea typeface="Arial"/>
              </a:rPr>
              <a:t>• Poisson surface reconstruction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9"/>
          <p:cNvSpPr/>
          <p:nvPr/>
        </p:nvSpPr>
        <p:spPr>
          <a:xfrm>
            <a:off x="182880" y="4288680"/>
            <a:ext cx="159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c9d1d9"/>
                </a:solidFill>
                <a:effectLst/>
                <a:uFillTx/>
                <a:latin typeface="Arial"/>
                <a:ea typeface="Arial"/>
              </a:rPr>
              <a:t>• PLY / OBJ / STL export pipeline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20"/>
          <p:cNvSpPr/>
          <p:nvPr/>
        </p:nvSpPr>
        <p:spPr>
          <a:xfrm>
            <a:off x="1883520" y="567000"/>
            <a:ext cx="1700280" cy="4407120"/>
          </a:xfrm>
          <a:prstGeom prst="rect">
            <a:avLst/>
          </a:prstGeom>
          <a:solidFill>
            <a:srgbClr val="161b22"/>
          </a:solidFill>
          <a:ln w="19050">
            <a:solidFill>
              <a:srgbClr val="ffd7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21"/>
          <p:cNvSpPr/>
          <p:nvPr/>
        </p:nvSpPr>
        <p:spPr>
          <a:xfrm>
            <a:off x="1883520" y="567000"/>
            <a:ext cx="1700280" cy="456840"/>
          </a:xfrm>
          <a:prstGeom prst="rect">
            <a:avLst/>
          </a:prstGeom>
          <a:solidFill>
            <a:srgbClr val="001a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22"/>
          <p:cNvSpPr/>
          <p:nvPr/>
        </p:nvSpPr>
        <p:spPr>
          <a:xfrm>
            <a:off x="1883520" y="868680"/>
            <a:ext cx="1700280" cy="155160"/>
          </a:xfrm>
          <a:prstGeom prst="rect">
            <a:avLst/>
          </a:prstGeom>
          <a:solidFill>
            <a:srgbClr val="001a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3"/>
          <p:cNvSpPr/>
          <p:nvPr/>
        </p:nvSpPr>
        <p:spPr>
          <a:xfrm>
            <a:off x="1974960" y="603360"/>
            <a:ext cx="319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d700"/>
                </a:solidFill>
                <a:effectLst/>
                <a:uFillTx/>
                <a:latin typeface="Arial Black"/>
                <a:ea typeface="Arial Black"/>
              </a:rPr>
              <a:t>M2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4"/>
          <p:cNvSpPr/>
          <p:nvPr/>
        </p:nvSpPr>
        <p:spPr>
          <a:xfrm>
            <a:off x="2295000" y="603360"/>
            <a:ext cx="1288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d700"/>
                </a:solidFill>
                <a:effectLst/>
                <a:uFillTx/>
                <a:latin typeface="Arial"/>
                <a:ea typeface="Arial"/>
              </a:rPr>
              <a:t>Camera &amp; Texture Mapping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25"/>
          <p:cNvSpPr/>
          <p:nvPr/>
        </p:nvSpPr>
        <p:spPr>
          <a:xfrm>
            <a:off x="1956960" y="1078920"/>
            <a:ext cx="1554120" cy="200880"/>
          </a:xfrm>
          <a:prstGeom prst="rect">
            <a:avLst/>
          </a:prstGeom>
          <a:solidFill>
            <a:srgbClr val="0011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6"/>
          <p:cNvSpPr/>
          <p:nvPr/>
        </p:nvSpPr>
        <p:spPr>
          <a:xfrm>
            <a:off x="1974960" y="1088280"/>
            <a:ext cx="1590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trike="noStrike">
                <a:solidFill>
                  <a:srgbClr val="55aaff"/>
                </a:solidFill>
                <a:effectLst/>
                <a:uFillTx/>
                <a:latin typeface="Arial"/>
                <a:ea typeface="Arial"/>
              </a:rPr>
              <a:t>⚙ HARDWARE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7"/>
          <p:cNvSpPr/>
          <p:nvPr/>
        </p:nvSpPr>
        <p:spPr>
          <a:xfrm>
            <a:off x="1974960" y="1316880"/>
            <a:ext cx="159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ffd700"/>
                </a:solidFill>
                <a:effectLst/>
                <a:uFillTx/>
                <a:latin typeface="Arial"/>
                <a:ea typeface="Arial"/>
              </a:rPr>
              <a:t>★ RPi Camera Module 3 setup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8"/>
          <p:cNvSpPr/>
          <p:nvPr/>
        </p:nvSpPr>
        <p:spPr>
          <a:xfrm>
            <a:off x="1974960" y="1700640"/>
            <a:ext cx="159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ffd700"/>
                </a:solidFill>
                <a:effectLst/>
                <a:uFillTx/>
                <a:latin typeface="Arial"/>
                <a:ea typeface="Arial"/>
              </a:rPr>
              <a:t>★ RPi Zero 2W wiring + CSI config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9"/>
          <p:cNvSpPr/>
          <p:nvPr/>
        </p:nvSpPr>
        <p:spPr>
          <a:xfrm>
            <a:off x="1974960" y="2084760"/>
            <a:ext cx="159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c9d1d9"/>
                </a:solidFill>
                <a:effectLst/>
                <a:uFillTx/>
                <a:latin typeface="Arial"/>
                <a:ea typeface="Arial"/>
              </a:rPr>
              <a:t>• Camera arm mechanical mounting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30"/>
          <p:cNvSpPr/>
          <p:nvPr/>
        </p:nvSpPr>
        <p:spPr>
          <a:xfrm>
            <a:off x="1974960" y="2468880"/>
            <a:ext cx="159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c9d1d9"/>
                </a:solidFill>
                <a:effectLst/>
                <a:uFillTx/>
                <a:latin typeface="Arial"/>
                <a:ea typeface="Arial"/>
              </a:rPr>
              <a:t>• Turntable sync trigger hardware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31"/>
          <p:cNvSpPr/>
          <p:nvPr/>
        </p:nvSpPr>
        <p:spPr>
          <a:xfrm>
            <a:off x="1956960" y="2898720"/>
            <a:ext cx="1554120" cy="200880"/>
          </a:xfrm>
          <a:prstGeom prst="rect">
            <a:avLst/>
          </a:prstGeom>
          <a:solidFill>
            <a:srgbClr val="001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32"/>
          <p:cNvSpPr/>
          <p:nvPr/>
        </p:nvSpPr>
        <p:spPr>
          <a:xfrm>
            <a:off x="1974960" y="2907720"/>
            <a:ext cx="1590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trike="noStrike">
                <a:solidFill>
                  <a:srgbClr val="55cc88"/>
                </a:solidFill>
                <a:effectLst/>
                <a:uFillTx/>
                <a:latin typeface="Arial"/>
                <a:ea typeface="Arial"/>
              </a:rPr>
              <a:t>💻 SOFTWARE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33"/>
          <p:cNvSpPr/>
          <p:nvPr/>
        </p:nvSpPr>
        <p:spPr>
          <a:xfrm>
            <a:off x="1974960" y="3136320"/>
            <a:ext cx="159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ffd700"/>
                </a:solidFill>
                <a:effectLst/>
                <a:uFillTx/>
                <a:latin typeface="Arial"/>
                <a:ea typeface="Arial"/>
              </a:rPr>
              <a:t>★ PiCamera2 capture software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34"/>
          <p:cNvSpPr/>
          <p:nvPr/>
        </p:nvSpPr>
        <p:spPr>
          <a:xfrm>
            <a:off x="1974960" y="3520440"/>
            <a:ext cx="159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ffd700"/>
                </a:solidFill>
                <a:effectLst/>
                <a:uFillTx/>
                <a:latin typeface="Arial"/>
                <a:ea typeface="Arial"/>
              </a:rPr>
              <a:t>★ UV texture projection (OpenCV)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35"/>
          <p:cNvSpPr/>
          <p:nvPr/>
        </p:nvSpPr>
        <p:spPr>
          <a:xfrm>
            <a:off x="1974960" y="3904560"/>
            <a:ext cx="159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c9d1d9"/>
                </a:solidFill>
                <a:effectLst/>
                <a:uFillTx/>
                <a:latin typeface="Arial"/>
                <a:ea typeface="Arial"/>
              </a:rPr>
              <a:t>• Color PLY / textured OBJ generation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36"/>
          <p:cNvSpPr/>
          <p:nvPr/>
        </p:nvSpPr>
        <p:spPr>
          <a:xfrm>
            <a:off x="1974960" y="4288680"/>
            <a:ext cx="159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c9d1d9"/>
                </a:solidFill>
                <a:effectLst/>
                <a:uFillTx/>
                <a:latin typeface="Arial"/>
                <a:ea typeface="Arial"/>
              </a:rPr>
              <a:t>• Camera–LiDAR registration algorithm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37"/>
          <p:cNvSpPr/>
          <p:nvPr/>
        </p:nvSpPr>
        <p:spPr>
          <a:xfrm>
            <a:off x="3675960" y="567000"/>
            <a:ext cx="1700280" cy="4407120"/>
          </a:xfrm>
          <a:prstGeom prst="rect">
            <a:avLst/>
          </a:prstGeom>
          <a:solidFill>
            <a:srgbClr val="161b22"/>
          </a:solidFill>
          <a:ln w="19050">
            <a:solidFill>
              <a:srgbClr val="39d3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38"/>
          <p:cNvSpPr/>
          <p:nvPr/>
        </p:nvSpPr>
        <p:spPr>
          <a:xfrm>
            <a:off x="3675960" y="567000"/>
            <a:ext cx="1700280" cy="456840"/>
          </a:xfrm>
          <a:prstGeom prst="rect">
            <a:avLst/>
          </a:prstGeom>
          <a:solidFill>
            <a:srgbClr val="001a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39"/>
          <p:cNvSpPr/>
          <p:nvPr/>
        </p:nvSpPr>
        <p:spPr>
          <a:xfrm>
            <a:off x="3675960" y="868680"/>
            <a:ext cx="1700280" cy="155160"/>
          </a:xfrm>
          <a:prstGeom prst="rect">
            <a:avLst/>
          </a:prstGeom>
          <a:solidFill>
            <a:srgbClr val="001a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40"/>
          <p:cNvSpPr/>
          <p:nvPr/>
        </p:nvSpPr>
        <p:spPr>
          <a:xfrm>
            <a:off x="3767400" y="603360"/>
            <a:ext cx="319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39d353"/>
                </a:solidFill>
                <a:effectLst/>
                <a:uFillTx/>
                <a:latin typeface="Arial Black"/>
                <a:ea typeface="Arial Black"/>
              </a:rPr>
              <a:t>M3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41"/>
          <p:cNvSpPr/>
          <p:nvPr/>
        </p:nvSpPr>
        <p:spPr>
          <a:xfrm>
            <a:off x="4087440" y="603360"/>
            <a:ext cx="1288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39d353"/>
                </a:solidFill>
                <a:effectLst/>
                <a:uFillTx/>
                <a:latin typeface="Arial"/>
                <a:ea typeface="Arial"/>
              </a:rPr>
              <a:t>Embedded Systems &amp; Motor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42"/>
          <p:cNvSpPr/>
          <p:nvPr/>
        </p:nvSpPr>
        <p:spPr>
          <a:xfrm>
            <a:off x="3749040" y="1078920"/>
            <a:ext cx="1554120" cy="200880"/>
          </a:xfrm>
          <a:prstGeom prst="rect">
            <a:avLst/>
          </a:prstGeom>
          <a:solidFill>
            <a:srgbClr val="0011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43"/>
          <p:cNvSpPr/>
          <p:nvPr/>
        </p:nvSpPr>
        <p:spPr>
          <a:xfrm>
            <a:off x="3767400" y="1088280"/>
            <a:ext cx="1590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trike="noStrike">
                <a:solidFill>
                  <a:srgbClr val="55aaff"/>
                </a:solidFill>
                <a:effectLst/>
                <a:uFillTx/>
                <a:latin typeface="Arial"/>
                <a:ea typeface="Arial"/>
              </a:rPr>
              <a:t>⚙ HARDWARE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44"/>
          <p:cNvSpPr/>
          <p:nvPr/>
        </p:nvSpPr>
        <p:spPr>
          <a:xfrm>
            <a:off x="3767400" y="1316880"/>
            <a:ext cx="159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c9d1d9"/>
                </a:solidFill>
                <a:effectLst/>
                <a:uFillTx/>
                <a:latin typeface="Arial"/>
                <a:ea typeface="Arial"/>
              </a:rPr>
              <a:t>• NEMA17 + TMC2209 wiring &amp; config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45"/>
          <p:cNvSpPr/>
          <p:nvPr/>
        </p:nvSpPr>
        <p:spPr>
          <a:xfrm>
            <a:off x="3767400" y="1700640"/>
            <a:ext cx="159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c9d1d9"/>
                </a:solidFill>
                <a:effectLst/>
                <a:uFillTx/>
                <a:latin typeface="Arial"/>
                <a:ea typeface="Arial"/>
              </a:rPr>
              <a:t>• AS5048A encoder integration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46"/>
          <p:cNvSpPr/>
          <p:nvPr/>
        </p:nvSpPr>
        <p:spPr>
          <a:xfrm>
            <a:off x="3767400" y="2084760"/>
            <a:ext cx="159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c9d1d9"/>
                </a:solidFill>
                <a:effectLst/>
                <a:uFillTx/>
                <a:latin typeface="Arial"/>
                <a:ea typeface="Arial"/>
              </a:rPr>
              <a:t>• Ball bearing assembly + alignment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47"/>
          <p:cNvSpPr/>
          <p:nvPr/>
        </p:nvSpPr>
        <p:spPr>
          <a:xfrm>
            <a:off x="3767400" y="2468880"/>
            <a:ext cx="159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c9d1d9"/>
                </a:solidFill>
                <a:effectLst/>
                <a:uFillTx/>
                <a:latin typeface="Arial"/>
                <a:ea typeface="Arial"/>
              </a:rPr>
              <a:t>• Custom PCB schematic &amp; layout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48"/>
          <p:cNvSpPr/>
          <p:nvPr/>
        </p:nvSpPr>
        <p:spPr>
          <a:xfrm>
            <a:off x="3749040" y="2898720"/>
            <a:ext cx="1554120" cy="200880"/>
          </a:xfrm>
          <a:prstGeom prst="rect">
            <a:avLst/>
          </a:prstGeom>
          <a:solidFill>
            <a:srgbClr val="001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49"/>
          <p:cNvSpPr/>
          <p:nvPr/>
        </p:nvSpPr>
        <p:spPr>
          <a:xfrm>
            <a:off x="3767400" y="2907720"/>
            <a:ext cx="1590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trike="noStrike">
                <a:solidFill>
                  <a:srgbClr val="55cc88"/>
                </a:solidFill>
                <a:effectLst/>
                <a:uFillTx/>
                <a:latin typeface="Arial"/>
                <a:ea typeface="Arial"/>
              </a:rPr>
              <a:t>💻 SOFTWARE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50"/>
          <p:cNvSpPr/>
          <p:nvPr/>
        </p:nvSpPr>
        <p:spPr>
          <a:xfrm>
            <a:off x="3767400" y="3136320"/>
            <a:ext cx="159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c9d1d9"/>
                </a:solidFill>
                <a:effectLst/>
                <a:uFillTx/>
                <a:latin typeface="Arial"/>
                <a:ea typeface="Arial"/>
              </a:rPr>
              <a:t>• FreeRTOS task architecture (ESP32)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51"/>
          <p:cNvSpPr/>
          <p:nvPr/>
        </p:nvSpPr>
        <p:spPr>
          <a:xfrm>
            <a:off x="3767400" y="3520440"/>
            <a:ext cx="159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c9d1d9"/>
                </a:solidFill>
                <a:effectLst/>
                <a:uFillTx/>
                <a:latin typeface="Arial"/>
                <a:ea typeface="Arial"/>
              </a:rPr>
              <a:t>• Stepper pulse + microstepping code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52"/>
          <p:cNvSpPr/>
          <p:nvPr/>
        </p:nvSpPr>
        <p:spPr>
          <a:xfrm>
            <a:off x="3767400" y="3904560"/>
            <a:ext cx="159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c9d1d9"/>
                </a:solidFill>
                <a:effectLst/>
                <a:uFillTx/>
                <a:latin typeface="Arial"/>
                <a:ea typeface="Arial"/>
              </a:rPr>
              <a:t>• Inter-task synchronization logic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53"/>
          <p:cNvSpPr/>
          <p:nvPr/>
        </p:nvSpPr>
        <p:spPr>
          <a:xfrm>
            <a:off x="3767400" y="4288680"/>
            <a:ext cx="159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c9d1d9"/>
                </a:solidFill>
                <a:effectLst/>
                <a:uFillTx/>
                <a:latin typeface="Arial"/>
                <a:ea typeface="Arial"/>
              </a:rPr>
              <a:t>• UART / SPI / I2C driver layer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54"/>
          <p:cNvSpPr/>
          <p:nvPr/>
        </p:nvSpPr>
        <p:spPr>
          <a:xfrm>
            <a:off x="5468040" y="567000"/>
            <a:ext cx="1700280" cy="4407120"/>
          </a:xfrm>
          <a:prstGeom prst="rect">
            <a:avLst/>
          </a:prstGeom>
          <a:solidFill>
            <a:srgbClr val="161b22"/>
          </a:solidFill>
          <a:ln w="19050">
            <a:solidFill>
              <a:srgbClr val="884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55"/>
          <p:cNvSpPr/>
          <p:nvPr/>
        </p:nvSpPr>
        <p:spPr>
          <a:xfrm>
            <a:off x="5468040" y="567000"/>
            <a:ext cx="1700280" cy="456840"/>
          </a:xfrm>
          <a:prstGeom prst="rect">
            <a:avLst/>
          </a:prstGeom>
          <a:solidFill>
            <a:srgbClr val="001a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56"/>
          <p:cNvSpPr/>
          <p:nvPr/>
        </p:nvSpPr>
        <p:spPr>
          <a:xfrm>
            <a:off x="5468040" y="868680"/>
            <a:ext cx="1700280" cy="155160"/>
          </a:xfrm>
          <a:prstGeom prst="rect">
            <a:avLst/>
          </a:prstGeom>
          <a:solidFill>
            <a:srgbClr val="001a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57"/>
          <p:cNvSpPr/>
          <p:nvPr/>
        </p:nvSpPr>
        <p:spPr>
          <a:xfrm>
            <a:off x="5559480" y="603360"/>
            <a:ext cx="319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8844ff"/>
                </a:solidFill>
                <a:effectLst/>
                <a:uFillTx/>
                <a:latin typeface="Arial Black"/>
                <a:ea typeface="Arial Black"/>
              </a:rPr>
              <a:t>M4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58"/>
          <p:cNvSpPr/>
          <p:nvPr/>
        </p:nvSpPr>
        <p:spPr>
          <a:xfrm>
            <a:off x="5879520" y="603360"/>
            <a:ext cx="1288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8844ff"/>
                </a:solidFill>
                <a:effectLst/>
                <a:uFillTx/>
                <a:latin typeface="Arial"/>
                <a:ea typeface="Arial"/>
              </a:rPr>
              <a:t>Sensing &amp; Cloud Backend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59"/>
          <p:cNvSpPr/>
          <p:nvPr/>
        </p:nvSpPr>
        <p:spPr>
          <a:xfrm>
            <a:off x="5541120" y="1078920"/>
            <a:ext cx="1554120" cy="200880"/>
          </a:xfrm>
          <a:prstGeom prst="rect">
            <a:avLst/>
          </a:prstGeom>
          <a:solidFill>
            <a:srgbClr val="0011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60"/>
          <p:cNvSpPr/>
          <p:nvPr/>
        </p:nvSpPr>
        <p:spPr>
          <a:xfrm>
            <a:off x="5559480" y="1088280"/>
            <a:ext cx="1590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trike="noStrike">
                <a:solidFill>
                  <a:srgbClr val="55aaff"/>
                </a:solidFill>
                <a:effectLst/>
                <a:uFillTx/>
                <a:latin typeface="Arial"/>
                <a:ea typeface="Arial"/>
              </a:rPr>
              <a:t>⚙ HARDWARE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61"/>
          <p:cNvSpPr/>
          <p:nvPr/>
        </p:nvSpPr>
        <p:spPr>
          <a:xfrm>
            <a:off x="5559480" y="1316880"/>
            <a:ext cx="159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ffd700"/>
                </a:solidFill>
                <a:effectLst/>
                <a:uFillTx/>
                <a:latin typeface="Arial"/>
                <a:ea typeface="Arial"/>
              </a:rPr>
              <a:t>★ Load Cell + HX711 calibration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62"/>
          <p:cNvSpPr/>
          <p:nvPr/>
        </p:nvSpPr>
        <p:spPr>
          <a:xfrm>
            <a:off x="5559480" y="1700640"/>
            <a:ext cx="159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ffd700"/>
                </a:solidFill>
                <a:effectLst/>
                <a:uFillTx/>
                <a:latin typeface="Arial"/>
                <a:ea typeface="Arial"/>
              </a:rPr>
              <a:t>★ VL53L1X ToF wiring + I2C test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63"/>
          <p:cNvSpPr/>
          <p:nvPr/>
        </p:nvSpPr>
        <p:spPr>
          <a:xfrm>
            <a:off x="5559480" y="2084760"/>
            <a:ext cx="159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c9d1d9"/>
                </a:solidFill>
                <a:effectLst/>
                <a:uFillTx/>
                <a:latin typeface="Arial"/>
                <a:ea typeface="Arial"/>
              </a:rPr>
              <a:t>• Power rail design (24V/12V/5V/3.3V)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64"/>
          <p:cNvSpPr/>
          <p:nvPr/>
        </p:nvSpPr>
        <p:spPr>
          <a:xfrm>
            <a:off x="5559480" y="2468880"/>
            <a:ext cx="159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c9d1d9"/>
                </a:solidFill>
                <a:effectLst/>
                <a:uFillTx/>
                <a:latin typeface="Arial"/>
                <a:ea typeface="Arial"/>
              </a:rPr>
              <a:t>• PCB fabrication &amp; assembly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65"/>
          <p:cNvSpPr/>
          <p:nvPr/>
        </p:nvSpPr>
        <p:spPr>
          <a:xfrm>
            <a:off x="5541120" y="2898720"/>
            <a:ext cx="1554120" cy="200880"/>
          </a:xfrm>
          <a:prstGeom prst="rect">
            <a:avLst/>
          </a:prstGeom>
          <a:solidFill>
            <a:srgbClr val="001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66"/>
          <p:cNvSpPr/>
          <p:nvPr/>
        </p:nvSpPr>
        <p:spPr>
          <a:xfrm>
            <a:off x="5559480" y="2907720"/>
            <a:ext cx="1590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trike="noStrike">
                <a:solidFill>
                  <a:srgbClr val="55cc88"/>
                </a:solidFill>
                <a:effectLst/>
                <a:uFillTx/>
                <a:latin typeface="Arial"/>
                <a:ea typeface="Arial"/>
              </a:rPr>
              <a:t>💻 SOFTWARE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67"/>
          <p:cNvSpPr/>
          <p:nvPr/>
        </p:nvSpPr>
        <p:spPr>
          <a:xfrm>
            <a:off x="5559480" y="3136320"/>
            <a:ext cx="159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ffd700"/>
                </a:solidFill>
                <a:effectLst/>
                <a:uFillTx/>
                <a:latin typeface="Arial"/>
                <a:ea typeface="Arial"/>
              </a:rPr>
              <a:t>★ Auto-height detection logic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68"/>
          <p:cNvSpPr/>
          <p:nvPr/>
        </p:nvSpPr>
        <p:spPr>
          <a:xfrm>
            <a:off x="5559480" y="3520440"/>
            <a:ext cx="159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ffd700"/>
                </a:solidFill>
                <a:effectLst/>
                <a:uFillTx/>
                <a:latin typeface="Arial"/>
                <a:ea typeface="Arial"/>
              </a:rPr>
              <a:t>★ Weight logging + scan metadata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69"/>
          <p:cNvSpPr/>
          <p:nvPr/>
        </p:nvSpPr>
        <p:spPr>
          <a:xfrm>
            <a:off x="5559480" y="3904560"/>
            <a:ext cx="159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c9d1d9"/>
                </a:solidFill>
                <a:effectLst/>
                <a:uFillTx/>
                <a:latin typeface="Arial"/>
                <a:ea typeface="Arial"/>
              </a:rPr>
              <a:t>• Flask REST API development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70"/>
          <p:cNvSpPr/>
          <p:nvPr/>
        </p:nvSpPr>
        <p:spPr>
          <a:xfrm>
            <a:off x="5559480" y="4288680"/>
            <a:ext cx="159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c9d1d9"/>
                </a:solidFill>
                <a:effectLst/>
                <a:uFillTx/>
                <a:latin typeface="Arial"/>
                <a:ea typeface="Arial"/>
              </a:rPr>
              <a:t>• AWS S3 / Firebase upload pipeline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71"/>
          <p:cNvSpPr/>
          <p:nvPr/>
        </p:nvSpPr>
        <p:spPr>
          <a:xfrm>
            <a:off x="7260480" y="567000"/>
            <a:ext cx="1700280" cy="4407120"/>
          </a:xfrm>
          <a:prstGeom prst="rect">
            <a:avLst/>
          </a:prstGeom>
          <a:solidFill>
            <a:srgbClr val="161b22"/>
          </a:solidFill>
          <a:ln w="19050">
            <a:solidFill>
              <a:srgbClr val="ff4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72"/>
          <p:cNvSpPr/>
          <p:nvPr/>
        </p:nvSpPr>
        <p:spPr>
          <a:xfrm>
            <a:off x="7260480" y="567000"/>
            <a:ext cx="1700280" cy="456840"/>
          </a:xfrm>
          <a:prstGeom prst="rect">
            <a:avLst/>
          </a:prstGeom>
          <a:solidFill>
            <a:srgbClr val="001a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73"/>
          <p:cNvSpPr/>
          <p:nvPr/>
        </p:nvSpPr>
        <p:spPr>
          <a:xfrm>
            <a:off x="7260480" y="868680"/>
            <a:ext cx="1700280" cy="155160"/>
          </a:xfrm>
          <a:prstGeom prst="rect">
            <a:avLst/>
          </a:prstGeom>
          <a:solidFill>
            <a:srgbClr val="001a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74"/>
          <p:cNvSpPr/>
          <p:nvPr/>
        </p:nvSpPr>
        <p:spPr>
          <a:xfrm>
            <a:off x="7351920" y="603360"/>
            <a:ext cx="319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44aa"/>
                </a:solidFill>
                <a:effectLst/>
                <a:uFillTx/>
                <a:latin typeface="Arial Black"/>
                <a:ea typeface="Arial Black"/>
              </a:rPr>
              <a:t>M5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75"/>
          <p:cNvSpPr/>
          <p:nvPr/>
        </p:nvSpPr>
        <p:spPr>
          <a:xfrm>
            <a:off x="7671960" y="603360"/>
            <a:ext cx="1288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44aa"/>
                </a:solidFill>
                <a:effectLst/>
                <a:uFillTx/>
                <a:latin typeface="Arial"/>
                <a:ea typeface="Arial"/>
              </a:rPr>
              <a:t>Display, LED &amp; Web Frontend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76"/>
          <p:cNvSpPr/>
          <p:nvPr/>
        </p:nvSpPr>
        <p:spPr>
          <a:xfrm>
            <a:off x="7333560" y="1078920"/>
            <a:ext cx="1554120" cy="200880"/>
          </a:xfrm>
          <a:prstGeom prst="rect">
            <a:avLst/>
          </a:prstGeom>
          <a:solidFill>
            <a:srgbClr val="0011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77"/>
          <p:cNvSpPr/>
          <p:nvPr/>
        </p:nvSpPr>
        <p:spPr>
          <a:xfrm>
            <a:off x="7351920" y="1088280"/>
            <a:ext cx="1590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trike="noStrike">
                <a:solidFill>
                  <a:srgbClr val="55aaff"/>
                </a:solidFill>
                <a:effectLst/>
                <a:uFillTx/>
                <a:latin typeface="Arial"/>
                <a:ea typeface="Arial"/>
              </a:rPr>
              <a:t>⚙ HARDWARE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78"/>
          <p:cNvSpPr/>
          <p:nvPr/>
        </p:nvSpPr>
        <p:spPr>
          <a:xfrm>
            <a:off x="7351920" y="1316880"/>
            <a:ext cx="159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ffd700"/>
                </a:solidFill>
                <a:effectLst/>
                <a:uFillTx/>
                <a:latin typeface="Arial"/>
                <a:ea typeface="Arial"/>
              </a:rPr>
              <a:t>★ WS2812B LED ring mount + wiring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79"/>
          <p:cNvSpPr/>
          <p:nvPr/>
        </p:nvSpPr>
        <p:spPr>
          <a:xfrm>
            <a:off x="7351920" y="1700640"/>
            <a:ext cx="159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c9d1d9"/>
                </a:solidFill>
                <a:effectLst/>
                <a:uFillTx/>
                <a:latin typeface="Arial"/>
                <a:ea typeface="Arial"/>
              </a:rPr>
              <a:t>• 2.4" LCD SPI wiring + enclosure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80"/>
          <p:cNvSpPr/>
          <p:nvPr/>
        </p:nvSpPr>
        <p:spPr>
          <a:xfrm>
            <a:off x="7351920" y="2084760"/>
            <a:ext cx="159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c9d1d9"/>
                </a:solidFill>
                <a:effectLst/>
                <a:uFillTx/>
                <a:latin typeface="Arial"/>
                <a:ea typeface="Arial"/>
              </a:rPr>
              <a:t>• Power management &amp; fuse design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81"/>
          <p:cNvSpPr/>
          <p:nvPr/>
        </p:nvSpPr>
        <p:spPr>
          <a:xfrm>
            <a:off x="7351920" y="2468880"/>
            <a:ext cx="159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c9d1d9"/>
                </a:solidFill>
                <a:effectLst/>
                <a:uFillTx/>
                <a:latin typeface="Arial"/>
                <a:ea typeface="Arial"/>
              </a:rPr>
              <a:t>• Full system wiring &amp; cable management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82"/>
          <p:cNvSpPr/>
          <p:nvPr/>
        </p:nvSpPr>
        <p:spPr>
          <a:xfrm>
            <a:off x="7333560" y="2898720"/>
            <a:ext cx="1554120" cy="200880"/>
          </a:xfrm>
          <a:prstGeom prst="rect">
            <a:avLst/>
          </a:prstGeom>
          <a:solidFill>
            <a:srgbClr val="001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83"/>
          <p:cNvSpPr/>
          <p:nvPr/>
        </p:nvSpPr>
        <p:spPr>
          <a:xfrm>
            <a:off x="7351920" y="2907720"/>
            <a:ext cx="1590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trike="noStrike">
                <a:solidFill>
                  <a:srgbClr val="55cc88"/>
                </a:solidFill>
                <a:effectLst/>
                <a:uFillTx/>
                <a:latin typeface="Arial"/>
                <a:ea typeface="Arial"/>
              </a:rPr>
              <a:t>💻 SOFTWARE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84"/>
          <p:cNvSpPr/>
          <p:nvPr/>
        </p:nvSpPr>
        <p:spPr>
          <a:xfrm>
            <a:off x="7351920" y="3136320"/>
            <a:ext cx="159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ffd700"/>
                </a:solidFill>
                <a:effectLst/>
                <a:uFillTx/>
                <a:latin typeface="Arial"/>
                <a:ea typeface="Arial"/>
              </a:rPr>
              <a:t>★ NeoPixel LED control (RMT driver)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85"/>
          <p:cNvSpPr/>
          <p:nvPr/>
        </p:nvSpPr>
        <p:spPr>
          <a:xfrm>
            <a:off x="7351920" y="3520440"/>
            <a:ext cx="159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c9d1d9"/>
                </a:solidFill>
                <a:effectLst/>
                <a:uFillTx/>
                <a:latin typeface="Arial"/>
                <a:ea typeface="Arial"/>
              </a:rPr>
              <a:t>• LCD status display firmware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86"/>
          <p:cNvSpPr/>
          <p:nvPr/>
        </p:nvSpPr>
        <p:spPr>
          <a:xfrm>
            <a:off x="7351920" y="3904560"/>
            <a:ext cx="159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c9d1d9"/>
                </a:solidFill>
                <a:effectLst/>
                <a:uFillTx/>
                <a:latin typeface="Arial"/>
                <a:ea typeface="Arial"/>
              </a:rPr>
              <a:t>• React web dashboard + WebSocket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87"/>
          <p:cNvSpPr/>
          <p:nvPr/>
        </p:nvSpPr>
        <p:spPr>
          <a:xfrm>
            <a:off x="7351920" y="4288680"/>
            <a:ext cx="159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c9d1d9"/>
                </a:solidFill>
                <a:effectLst/>
                <a:uFillTx/>
                <a:latin typeface="Arial"/>
                <a:ea typeface="Arial"/>
              </a:rPr>
              <a:t>• Three.js 3D model viewer + download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88"/>
          <p:cNvSpPr/>
          <p:nvPr/>
        </p:nvSpPr>
        <p:spPr>
          <a:xfrm>
            <a:off x="91440" y="5010840"/>
            <a:ext cx="8960760" cy="127800"/>
          </a:xfrm>
          <a:prstGeom prst="rect">
            <a:avLst/>
          </a:prstGeom>
          <a:solidFill>
            <a:srgbClr val="1111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89"/>
          <p:cNvSpPr/>
          <p:nvPr/>
        </p:nvSpPr>
        <p:spPr>
          <a:xfrm>
            <a:off x="137160" y="5010840"/>
            <a:ext cx="886932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ffd700"/>
                </a:solidFill>
                <a:effectLst/>
                <a:uFillTx/>
                <a:latin typeface="Arial"/>
                <a:ea typeface="Arial"/>
              </a:rPr>
              <a:t>★ Yellow = tasks involving the newly added sensors   |   Every member has 4 HW tasks + 4 SW tasks = equal, balanced workload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rgbClr val="001a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"/>
          <p:cNvSpPr/>
          <p:nvPr/>
        </p:nvSpPr>
        <p:spPr>
          <a:xfrm>
            <a:off x="365760" y="91440"/>
            <a:ext cx="7772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0d4ff"/>
                </a:solidFill>
                <a:effectLst/>
                <a:uFillTx/>
                <a:latin typeface="Arial"/>
                <a:ea typeface="Arial"/>
              </a:rPr>
              <a:t>09 — REFERENCES  (Updated)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"/>
          <p:cNvSpPr/>
          <p:nvPr/>
        </p:nvSpPr>
        <p:spPr>
          <a:xfrm>
            <a:off x="8046720" y="91440"/>
            <a:ext cx="1005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Arial"/>
              </a:rPr>
              <a:t>Slide 12 (Updated)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3"/>
          <p:cNvSpPr/>
          <p:nvPr/>
        </p:nvSpPr>
        <p:spPr>
          <a:xfrm>
            <a:off x="274320" y="567000"/>
            <a:ext cx="438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00d4ff"/>
                </a:solidFill>
                <a:effectLst/>
                <a:uFillTx/>
                <a:latin typeface="Arial"/>
                <a:ea typeface="Arial"/>
              </a:rPr>
              <a:t>[1]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4"/>
          <p:cNvSpPr/>
          <p:nvPr/>
        </p:nvSpPr>
        <p:spPr>
          <a:xfrm>
            <a:off x="731520" y="567000"/>
            <a:ext cx="41144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c9d1d9"/>
                </a:solidFill>
                <a:effectLst/>
                <a:uFillTx/>
                <a:latin typeface="Arial"/>
                <a:ea typeface="Arial"/>
              </a:rPr>
              <a:t>Slamtec RPLIDAR A2M8 Datasheet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5"/>
          <p:cNvSpPr/>
          <p:nvPr/>
        </p:nvSpPr>
        <p:spPr>
          <a:xfrm>
            <a:off x="4846320" y="567000"/>
            <a:ext cx="4023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i="1" u="none" strike="noStrike">
                <a:solidFill>
                  <a:srgbClr val="8b949e"/>
                </a:solidFill>
                <a:effectLst/>
                <a:uFillTx/>
                <a:latin typeface="Arial"/>
                <a:ea typeface="Arial"/>
              </a:rPr>
              <a:t>cdn.sparkfun.com/.../rplidar_datasheet_A2M8_v1.0_en.pdf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6"/>
          <p:cNvSpPr/>
          <p:nvPr/>
        </p:nvSpPr>
        <p:spPr>
          <a:xfrm>
            <a:off x="274320" y="813600"/>
            <a:ext cx="8595360" cy="360"/>
          </a:xfrm>
          <a:prstGeom prst="line">
            <a:avLst/>
          </a:prstGeom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7"/>
          <p:cNvSpPr/>
          <p:nvPr/>
        </p:nvSpPr>
        <p:spPr>
          <a:xfrm>
            <a:off x="274320" y="821160"/>
            <a:ext cx="438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00d4ff"/>
                </a:solidFill>
                <a:effectLst/>
                <a:uFillTx/>
                <a:latin typeface="Arial"/>
                <a:ea typeface="Arial"/>
              </a:rPr>
              <a:t>[2]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8"/>
          <p:cNvSpPr/>
          <p:nvPr/>
        </p:nvSpPr>
        <p:spPr>
          <a:xfrm>
            <a:off x="731520" y="821160"/>
            <a:ext cx="41144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c9d1d9"/>
                </a:solidFill>
                <a:effectLst/>
                <a:uFillTx/>
                <a:latin typeface="Arial"/>
                <a:ea typeface="Arial"/>
              </a:rPr>
              <a:t>Slamtec RPLIDAR A3M1 Datasheet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9"/>
          <p:cNvSpPr/>
          <p:nvPr/>
        </p:nvSpPr>
        <p:spPr>
          <a:xfrm>
            <a:off x="4846320" y="821160"/>
            <a:ext cx="4023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i="1" u="none" strike="noStrike">
                <a:solidFill>
                  <a:srgbClr val="8b949e"/>
                </a:solidFill>
                <a:effectLst/>
                <a:uFillTx/>
                <a:latin typeface="Arial"/>
                <a:ea typeface="Arial"/>
              </a:rPr>
              <a:t>generationrobots.com/media/.../rplidar_datasheet_A3M1_v1.0_en.pdf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10"/>
          <p:cNvSpPr/>
          <p:nvPr/>
        </p:nvSpPr>
        <p:spPr>
          <a:xfrm>
            <a:off x="274320" y="1067760"/>
            <a:ext cx="8595360" cy="360"/>
          </a:xfrm>
          <a:prstGeom prst="line">
            <a:avLst/>
          </a:prstGeom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1"/>
          <p:cNvSpPr/>
          <p:nvPr/>
        </p:nvSpPr>
        <p:spPr>
          <a:xfrm>
            <a:off x="274320" y="1075320"/>
            <a:ext cx="438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00d4ff"/>
                </a:solidFill>
                <a:effectLst/>
                <a:uFillTx/>
                <a:latin typeface="Arial"/>
                <a:ea typeface="Arial"/>
              </a:rPr>
              <a:t>[3]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2"/>
          <p:cNvSpPr/>
          <p:nvPr/>
        </p:nvSpPr>
        <p:spPr>
          <a:xfrm>
            <a:off x="731520" y="1075320"/>
            <a:ext cx="41144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c9d1d9"/>
                </a:solidFill>
                <a:effectLst/>
                <a:uFillTx/>
                <a:latin typeface="Arial"/>
                <a:ea typeface="Arial"/>
              </a:rPr>
              <a:t>YDLIDAR X4 Datasheet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3"/>
          <p:cNvSpPr/>
          <p:nvPr/>
        </p:nvSpPr>
        <p:spPr>
          <a:xfrm>
            <a:off x="4846320" y="1075320"/>
            <a:ext cx="4023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i="1" u="none" strike="noStrike">
                <a:solidFill>
                  <a:srgbClr val="8b949e"/>
                </a:solidFill>
                <a:effectLst/>
                <a:uFillTx/>
                <a:latin typeface="Arial"/>
                <a:ea typeface="Arial"/>
              </a:rPr>
              <a:t>elecrow.com/download/X4_Lidar_Datasheet.pdf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4"/>
          <p:cNvSpPr/>
          <p:nvPr/>
        </p:nvSpPr>
        <p:spPr>
          <a:xfrm>
            <a:off x="274320" y="1321920"/>
            <a:ext cx="8595360" cy="360"/>
          </a:xfrm>
          <a:prstGeom prst="line">
            <a:avLst/>
          </a:prstGeom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5"/>
          <p:cNvSpPr/>
          <p:nvPr/>
        </p:nvSpPr>
        <p:spPr>
          <a:xfrm>
            <a:off x="274320" y="1329480"/>
            <a:ext cx="438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00d4ff"/>
                </a:solidFill>
                <a:effectLst/>
                <a:uFillTx/>
                <a:latin typeface="Arial"/>
                <a:ea typeface="Arial"/>
              </a:rPr>
              <a:t>[4]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6"/>
          <p:cNvSpPr/>
          <p:nvPr/>
        </p:nvSpPr>
        <p:spPr>
          <a:xfrm>
            <a:off x="731520" y="1329480"/>
            <a:ext cx="41144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c9d1d9"/>
                </a:solidFill>
                <a:effectLst/>
                <a:uFillTx/>
                <a:latin typeface="Arial"/>
                <a:ea typeface="Arial"/>
              </a:rPr>
              <a:t>Slamtec RPLIDAR S1 Product Page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7"/>
          <p:cNvSpPr/>
          <p:nvPr/>
        </p:nvSpPr>
        <p:spPr>
          <a:xfrm>
            <a:off x="4846320" y="1329480"/>
            <a:ext cx="4023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i="1" u="none" strike="noStrike">
                <a:solidFill>
                  <a:srgbClr val="8b949e"/>
                </a:solidFill>
                <a:effectLst/>
                <a:uFillTx/>
                <a:latin typeface="Arial"/>
                <a:ea typeface="Arial"/>
              </a:rPr>
              <a:t>mybotshop.de/SLAMTEC-RPLIDAR-S1-360-Laser-Scanner-40-m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8"/>
          <p:cNvSpPr/>
          <p:nvPr/>
        </p:nvSpPr>
        <p:spPr>
          <a:xfrm>
            <a:off x="274320" y="1576080"/>
            <a:ext cx="8595360" cy="360"/>
          </a:xfrm>
          <a:prstGeom prst="line">
            <a:avLst/>
          </a:prstGeom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9"/>
          <p:cNvSpPr/>
          <p:nvPr/>
        </p:nvSpPr>
        <p:spPr>
          <a:xfrm>
            <a:off x="274320" y="1583640"/>
            <a:ext cx="438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00d4ff"/>
                </a:solidFill>
                <a:effectLst/>
                <a:uFillTx/>
                <a:latin typeface="Arial"/>
                <a:ea typeface="Arial"/>
              </a:rPr>
              <a:t>[5]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20"/>
          <p:cNvSpPr/>
          <p:nvPr/>
        </p:nvSpPr>
        <p:spPr>
          <a:xfrm>
            <a:off x="731520" y="1583640"/>
            <a:ext cx="41144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ffd700"/>
                </a:solidFill>
                <a:effectLst/>
                <a:uFillTx/>
                <a:latin typeface="Arial"/>
                <a:ea typeface="Arial"/>
              </a:rPr>
              <a:t>★ Raspberry Pi Camera Module 3 Datasheet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21"/>
          <p:cNvSpPr/>
          <p:nvPr/>
        </p:nvSpPr>
        <p:spPr>
          <a:xfrm>
            <a:off x="4846320" y="1583640"/>
            <a:ext cx="4023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i="1" u="none" strike="noStrike">
                <a:solidFill>
                  <a:srgbClr val="8b949e"/>
                </a:solidFill>
                <a:effectLst/>
                <a:uFillTx/>
                <a:latin typeface="Arial"/>
                <a:ea typeface="Arial"/>
              </a:rPr>
              <a:t>datasheets.raspberrypi.com/camera/camera-module-3-product-brief.pdf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22"/>
          <p:cNvSpPr/>
          <p:nvPr/>
        </p:nvSpPr>
        <p:spPr>
          <a:xfrm>
            <a:off x="274320" y="1830600"/>
            <a:ext cx="8595360" cy="360"/>
          </a:xfrm>
          <a:prstGeom prst="line">
            <a:avLst/>
          </a:prstGeom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23"/>
          <p:cNvSpPr/>
          <p:nvPr/>
        </p:nvSpPr>
        <p:spPr>
          <a:xfrm>
            <a:off x="274320" y="1837800"/>
            <a:ext cx="438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00d4ff"/>
                </a:solidFill>
                <a:effectLst/>
                <a:uFillTx/>
                <a:latin typeface="Arial"/>
                <a:ea typeface="Arial"/>
              </a:rPr>
              <a:t>[6]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4"/>
          <p:cNvSpPr/>
          <p:nvPr/>
        </p:nvSpPr>
        <p:spPr>
          <a:xfrm>
            <a:off x="731520" y="1837800"/>
            <a:ext cx="41144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ffd700"/>
                </a:solidFill>
                <a:effectLst/>
                <a:uFillTx/>
                <a:latin typeface="Arial"/>
                <a:ea typeface="Arial"/>
              </a:rPr>
              <a:t>★ Sony IMX708 Image Sensor Specifications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5"/>
          <p:cNvSpPr/>
          <p:nvPr/>
        </p:nvSpPr>
        <p:spPr>
          <a:xfrm>
            <a:off x="4846320" y="1837800"/>
            <a:ext cx="4023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i="1" u="none" strike="noStrike">
                <a:solidFill>
                  <a:srgbClr val="8b949e"/>
                </a:solidFill>
                <a:effectLst/>
                <a:uFillTx/>
                <a:latin typeface="Arial"/>
                <a:ea typeface="Arial"/>
              </a:rPr>
              <a:t>sony-semicon.com/en/products/is/industry/imx708.html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26"/>
          <p:cNvSpPr/>
          <p:nvPr/>
        </p:nvSpPr>
        <p:spPr>
          <a:xfrm>
            <a:off x="274320" y="2084760"/>
            <a:ext cx="8595360" cy="360"/>
          </a:xfrm>
          <a:prstGeom prst="line">
            <a:avLst/>
          </a:prstGeom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7"/>
          <p:cNvSpPr/>
          <p:nvPr/>
        </p:nvSpPr>
        <p:spPr>
          <a:xfrm>
            <a:off x="274320" y="2092320"/>
            <a:ext cx="438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00d4ff"/>
                </a:solidFill>
                <a:effectLst/>
                <a:uFillTx/>
                <a:latin typeface="Arial"/>
                <a:ea typeface="Arial"/>
              </a:rPr>
              <a:t>[7]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8"/>
          <p:cNvSpPr/>
          <p:nvPr/>
        </p:nvSpPr>
        <p:spPr>
          <a:xfrm>
            <a:off x="731520" y="2092320"/>
            <a:ext cx="41144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ffd700"/>
                </a:solidFill>
                <a:effectLst/>
                <a:uFillTx/>
                <a:latin typeface="Arial"/>
                <a:ea typeface="Arial"/>
              </a:rPr>
              <a:t>★ VL53L1X Time-of-Flight Sensor Datasheet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29"/>
          <p:cNvSpPr/>
          <p:nvPr/>
        </p:nvSpPr>
        <p:spPr>
          <a:xfrm>
            <a:off x="4846320" y="2092320"/>
            <a:ext cx="4023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i="1" u="none" strike="noStrike">
                <a:solidFill>
                  <a:srgbClr val="8b949e"/>
                </a:solidFill>
                <a:effectLst/>
                <a:uFillTx/>
                <a:latin typeface="Arial"/>
                <a:ea typeface="Arial"/>
              </a:rPr>
              <a:t>st.com/resource/en/datasheet/vl53l1x.pdf (STMicroelectronics)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30"/>
          <p:cNvSpPr/>
          <p:nvPr/>
        </p:nvSpPr>
        <p:spPr>
          <a:xfrm>
            <a:off x="274320" y="2338920"/>
            <a:ext cx="8595360" cy="360"/>
          </a:xfrm>
          <a:prstGeom prst="line">
            <a:avLst/>
          </a:prstGeom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31"/>
          <p:cNvSpPr/>
          <p:nvPr/>
        </p:nvSpPr>
        <p:spPr>
          <a:xfrm>
            <a:off x="274320" y="2346480"/>
            <a:ext cx="438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00d4ff"/>
                </a:solidFill>
                <a:effectLst/>
                <a:uFillTx/>
                <a:latin typeface="Arial"/>
                <a:ea typeface="Arial"/>
              </a:rPr>
              <a:t>[8]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32"/>
          <p:cNvSpPr/>
          <p:nvPr/>
        </p:nvSpPr>
        <p:spPr>
          <a:xfrm>
            <a:off x="731520" y="2346480"/>
            <a:ext cx="41144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ffd700"/>
                </a:solidFill>
                <a:effectLst/>
                <a:uFillTx/>
                <a:latin typeface="Arial"/>
                <a:ea typeface="Arial"/>
              </a:rPr>
              <a:t>★ WS2812B Intelligent LED Datasheet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33"/>
          <p:cNvSpPr/>
          <p:nvPr/>
        </p:nvSpPr>
        <p:spPr>
          <a:xfrm>
            <a:off x="4846320" y="2346480"/>
            <a:ext cx="4023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i="1" u="none" strike="noStrike">
                <a:solidFill>
                  <a:srgbClr val="8b949e"/>
                </a:solidFill>
                <a:effectLst/>
                <a:uFillTx/>
                <a:latin typeface="Arial"/>
                <a:ea typeface="Arial"/>
              </a:rPr>
              <a:t>cdn-shop.adafruit.com/datasheets/WS2812B.pdf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34"/>
          <p:cNvSpPr/>
          <p:nvPr/>
        </p:nvSpPr>
        <p:spPr>
          <a:xfrm>
            <a:off x="274320" y="2593080"/>
            <a:ext cx="8595360" cy="360"/>
          </a:xfrm>
          <a:prstGeom prst="line">
            <a:avLst/>
          </a:prstGeom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35"/>
          <p:cNvSpPr/>
          <p:nvPr/>
        </p:nvSpPr>
        <p:spPr>
          <a:xfrm>
            <a:off x="274320" y="2600640"/>
            <a:ext cx="438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00d4ff"/>
                </a:solidFill>
                <a:effectLst/>
                <a:uFillTx/>
                <a:latin typeface="Arial"/>
                <a:ea typeface="Arial"/>
              </a:rPr>
              <a:t>[9]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36"/>
          <p:cNvSpPr/>
          <p:nvPr/>
        </p:nvSpPr>
        <p:spPr>
          <a:xfrm>
            <a:off x="731520" y="2600640"/>
            <a:ext cx="41144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ffd700"/>
                </a:solidFill>
                <a:effectLst/>
                <a:uFillTx/>
                <a:latin typeface="Arial"/>
                <a:ea typeface="Arial"/>
              </a:rPr>
              <a:t>★ HX711 24-Bit ADC for Weigh Scales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37"/>
          <p:cNvSpPr/>
          <p:nvPr/>
        </p:nvSpPr>
        <p:spPr>
          <a:xfrm>
            <a:off x="4846320" y="2600640"/>
            <a:ext cx="4023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i="1" u="none" strike="noStrike">
                <a:solidFill>
                  <a:srgbClr val="8b949e"/>
                </a:solidFill>
                <a:effectLst/>
                <a:uFillTx/>
                <a:latin typeface="Arial"/>
                <a:ea typeface="Arial"/>
              </a:rPr>
              <a:t>cdn.sparkfun.com/datasheets/Sensors/ForceFlex/hx711_english.pdf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38"/>
          <p:cNvSpPr/>
          <p:nvPr/>
        </p:nvSpPr>
        <p:spPr>
          <a:xfrm>
            <a:off x="274320" y="2847240"/>
            <a:ext cx="8595360" cy="360"/>
          </a:xfrm>
          <a:prstGeom prst="line">
            <a:avLst/>
          </a:prstGeom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39"/>
          <p:cNvSpPr/>
          <p:nvPr/>
        </p:nvSpPr>
        <p:spPr>
          <a:xfrm>
            <a:off x="274320" y="2854800"/>
            <a:ext cx="438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00d4ff"/>
                </a:solidFill>
                <a:effectLst/>
                <a:uFillTx/>
                <a:latin typeface="Arial"/>
                <a:ea typeface="Arial"/>
              </a:rPr>
              <a:t>[10]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40"/>
          <p:cNvSpPr/>
          <p:nvPr/>
        </p:nvSpPr>
        <p:spPr>
          <a:xfrm>
            <a:off x="731520" y="2854800"/>
            <a:ext cx="41144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ffd700"/>
                </a:solidFill>
                <a:effectLst/>
                <a:uFillTx/>
                <a:latin typeface="Arial"/>
                <a:ea typeface="Arial"/>
              </a:rPr>
              <a:t>★ PiCamera2 Library Documentation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41"/>
          <p:cNvSpPr/>
          <p:nvPr/>
        </p:nvSpPr>
        <p:spPr>
          <a:xfrm>
            <a:off x="4846320" y="2854800"/>
            <a:ext cx="4023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i="1" u="none" strike="noStrike">
                <a:solidFill>
                  <a:srgbClr val="8b949e"/>
                </a:solidFill>
                <a:effectLst/>
                <a:uFillTx/>
                <a:latin typeface="Arial"/>
                <a:ea typeface="Arial"/>
              </a:rPr>
              <a:t>datasheets.raspberrypi.com/camera/picamera2-manual.pdf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42"/>
          <p:cNvSpPr/>
          <p:nvPr/>
        </p:nvSpPr>
        <p:spPr>
          <a:xfrm>
            <a:off x="274320" y="3101400"/>
            <a:ext cx="8595360" cy="360"/>
          </a:xfrm>
          <a:prstGeom prst="line">
            <a:avLst/>
          </a:prstGeom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43"/>
          <p:cNvSpPr/>
          <p:nvPr/>
        </p:nvSpPr>
        <p:spPr>
          <a:xfrm>
            <a:off x="274320" y="3108960"/>
            <a:ext cx="438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00d4ff"/>
                </a:solidFill>
                <a:effectLst/>
                <a:uFillTx/>
                <a:latin typeface="Arial"/>
                <a:ea typeface="Arial"/>
              </a:rPr>
              <a:t>[11]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44"/>
          <p:cNvSpPr/>
          <p:nvPr/>
        </p:nvSpPr>
        <p:spPr>
          <a:xfrm>
            <a:off x="731520" y="3108960"/>
            <a:ext cx="41144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c9d1d9"/>
                </a:solidFill>
                <a:effectLst/>
                <a:uFillTx/>
                <a:latin typeface="Arial"/>
                <a:ea typeface="Arial"/>
              </a:rPr>
              <a:t>Building the Ultimate Turntable for 3D Scanning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45"/>
          <p:cNvSpPr/>
          <p:nvPr/>
        </p:nvSpPr>
        <p:spPr>
          <a:xfrm>
            <a:off x="4846320" y="3108960"/>
            <a:ext cx="4023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i="1" u="none" strike="noStrike">
                <a:solidFill>
                  <a:srgbClr val="8b949e"/>
                </a:solidFill>
                <a:effectLst/>
                <a:uFillTx/>
                <a:latin typeface="Arial"/>
                <a:ea typeface="Arial"/>
              </a:rPr>
              <a:t>blog.arduino.cc/2026/02/12/building-the-ultimate-turntable-for-3d-scanning/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46"/>
          <p:cNvSpPr/>
          <p:nvPr/>
        </p:nvSpPr>
        <p:spPr>
          <a:xfrm>
            <a:off x="274320" y="3355560"/>
            <a:ext cx="8595360" cy="360"/>
          </a:xfrm>
          <a:prstGeom prst="line">
            <a:avLst/>
          </a:prstGeom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47"/>
          <p:cNvSpPr/>
          <p:nvPr/>
        </p:nvSpPr>
        <p:spPr>
          <a:xfrm>
            <a:off x="274320" y="3363120"/>
            <a:ext cx="438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00d4ff"/>
                </a:solidFill>
                <a:effectLst/>
                <a:uFillTx/>
                <a:latin typeface="Arial"/>
                <a:ea typeface="Arial"/>
              </a:rPr>
              <a:t>[12]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48"/>
          <p:cNvSpPr/>
          <p:nvPr/>
        </p:nvSpPr>
        <p:spPr>
          <a:xfrm>
            <a:off x="731520" y="3363120"/>
            <a:ext cx="41144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c9d1d9"/>
                </a:solidFill>
                <a:effectLst/>
                <a:uFillTx/>
                <a:latin typeface="Arial"/>
                <a:ea typeface="Arial"/>
              </a:rPr>
              <a:t>Motorized 3D Scanning Turntable — Hackster.io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49"/>
          <p:cNvSpPr/>
          <p:nvPr/>
        </p:nvSpPr>
        <p:spPr>
          <a:xfrm>
            <a:off x="4846320" y="3363120"/>
            <a:ext cx="4023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i="1" u="none" strike="noStrike">
                <a:solidFill>
                  <a:srgbClr val="8b949e"/>
                </a:solidFill>
                <a:effectLst/>
                <a:uFillTx/>
                <a:latin typeface="Arial"/>
                <a:ea typeface="Arial"/>
              </a:rPr>
              <a:t>hackster.io/mertarduino/how-to-build-a-motorized-3d-scanning-turntable-567634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50"/>
          <p:cNvSpPr/>
          <p:nvPr/>
        </p:nvSpPr>
        <p:spPr>
          <a:xfrm>
            <a:off x="274320" y="3609720"/>
            <a:ext cx="8595360" cy="360"/>
          </a:xfrm>
          <a:prstGeom prst="line">
            <a:avLst/>
          </a:prstGeom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51"/>
          <p:cNvSpPr/>
          <p:nvPr/>
        </p:nvSpPr>
        <p:spPr>
          <a:xfrm>
            <a:off x="274320" y="3617280"/>
            <a:ext cx="438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00d4ff"/>
                </a:solidFill>
                <a:effectLst/>
                <a:uFillTx/>
                <a:latin typeface="Arial"/>
                <a:ea typeface="Arial"/>
              </a:rPr>
              <a:t>[13]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52"/>
          <p:cNvSpPr/>
          <p:nvPr/>
        </p:nvSpPr>
        <p:spPr>
          <a:xfrm>
            <a:off x="731520" y="3617280"/>
            <a:ext cx="41144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c9d1d9"/>
                </a:solidFill>
                <a:effectLst/>
                <a:uFillTx/>
                <a:latin typeface="Arial"/>
                <a:ea typeface="Arial"/>
              </a:rPr>
              <a:t>Point Cloud Library (PCL) Documentation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53"/>
          <p:cNvSpPr/>
          <p:nvPr/>
        </p:nvSpPr>
        <p:spPr>
          <a:xfrm>
            <a:off x="4846320" y="3617280"/>
            <a:ext cx="4023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i="1" u="none" strike="noStrike">
                <a:solidFill>
                  <a:srgbClr val="8b949e"/>
                </a:solidFill>
                <a:effectLst/>
                <a:uFillTx/>
                <a:latin typeface="Arial"/>
                <a:ea typeface="Arial"/>
              </a:rPr>
              <a:t>pointclouds.org/documentation/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54"/>
          <p:cNvSpPr/>
          <p:nvPr/>
        </p:nvSpPr>
        <p:spPr>
          <a:xfrm>
            <a:off x="274320" y="3864240"/>
            <a:ext cx="8595360" cy="360"/>
          </a:xfrm>
          <a:prstGeom prst="line">
            <a:avLst/>
          </a:prstGeom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55"/>
          <p:cNvSpPr/>
          <p:nvPr/>
        </p:nvSpPr>
        <p:spPr>
          <a:xfrm>
            <a:off x="274320" y="3871440"/>
            <a:ext cx="438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00d4ff"/>
                </a:solidFill>
                <a:effectLst/>
                <a:uFillTx/>
                <a:latin typeface="Arial"/>
                <a:ea typeface="Arial"/>
              </a:rPr>
              <a:t>[14]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56"/>
          <p:cNvSpPr/>
          <p:nvPr/>
        </p:nvSpPr>
        <p:spPr>
          <a:xfrm>
            <a:off x="731520" y="3871440"/>
            <a:ext cx="41144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c9d1d9"/>
                </a:solidFill>
                <a:effectLst/>
                <a:uFillTx/>
                <a:latin typeface="Arial"/>
                <a:ea typeface="Arial"/>
              </a:rPr>
              <a:t>Open3D: A Modern Library for 3D Data Processing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57"/>
          <p:cNvSpPr/>
          <p:nvPr/>
        </p:nvSpPr>
        <p:spPr>
          <a:xfrm>
            <a:off x="4846320" y="3871440"/>
            <a:ext cx="4023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i="1" u="none" strike="noStrike">
                <a:solidFill>
                  <a:srgbClr val="8b949e"/>
                </a:solidFill>
                <a:effectLst/>
                <a:uFillTx/>
                <a:latin typeface="Arial"/>
                <a:ea typeface="Arial"/>
              </a:rPr>
              <a:t>open3d.org/docs/release/ — Zhou et al. arXiv:1801.09847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58"/>
          <p:cNvSpPr/>
          <p:nvPr/>
        </p:nvSpPr>
        <p:spPr>
          <a:xfrm>
            <a:off x="274320" y="4118400"/>
            <a:ext cx="8595360" cy="360"/>
          </a:xfrm>
          <a:prstGeom prst="line">
            <a:avLst/>
          </a:prstGeom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59"/>
          <p:cNvSpPr/>
          <p:nvPr/>
        </p:nvSpPr>
        <p:spPr>
          <a:xfrm>
            <a:off x="274320" y="4125600"/>
            <a:ext cx="438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00d4ff"/>
                </a:solidFill>
                <a:effectLst/>
                <a:uFillTx/>
                <a:latin typeface="Arial"/>
                <a:ea typeface="Arial"/>
              </a:rPr>
              <a:t>[15]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60"/>
          <p:cNvSpPr/>
          <p:nvPr/>
        </p:nvSpPr>
        <p:spPr>
          <a:xfrm>
            <a:off x="731520" y="4125600"/>
            <a:ext cx="41144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ffd700"/>
                </a:solidFill>
                <a:effectLst/>
                <a:uFillTx/>
                <a:latin typeface="Arial"/>
                <a:ea typeface="Arial"/>
              </a:rPr>
              <a:t>★ OpenCV Texture Projection &amp; UV Mapping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61"/>
          <p:cNvSpPr/>
          <p:nvPr/>
        </p:nvSpPr>
        <p:spPr>
          <a:xfrm>
            <a:off x="4846320" y="4125600"/>
            <a:ext cx="4023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i="1" u="none" strike="noStrike">
                <a:solidFill>
                  <a:srgbClr val="8b949e"/>
                </a:solidFill>
                <a:effectLst/>
                <a:uFillTx/>
                <a:latin typeface="Arial"/>
                <a:ea typeface="Arial"/>
              </a:rPr>
              <a:t>docs.opencv.org/4.x/d9/dab/tutorial_homography.html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62"/>
          <p:cNvSpPr/>
          <p:nvPr/>
        </p:nvSpPr>
        <p:spPr>
          <a:xfrm>
            <a:off x="274320" y="4372560"/>
            <a:ext cx="8595360" cy="360"/>
          </a:xfrm>
          <a:prstGeom prst="line">
            <a:avLst/>
          </a:prstGeom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63"/>
          <p:cNvSpPr/>
          <p:nvPr/>
        </p:nvSpPr>
        <p:spPr>
          <a:xfrm>
            <a:off x="274320" y="4380120"/>
            <a:ext cx="438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00d4ff"/>
                </a:solidFill>
                <a:effectLst/>
                <a:uFillTx/>
                <a:latin typeface="Arial"/>
                <a:ea typeface="Arial"/>
              </a:rPr>
              <a:t>[16]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64"/>
          <p:cNvSpPr/>
          <p:nvPr/>
        </p:nvSpPr>
        <p:spPr>
          <a:xfrm>
            <a:off x="731520" y="4380120"/>
            <a:ext cx="41144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c9d1d9"/>
                </a:solidFill>
                <a:effectLst/>
                <a:uFillTx/>
                <a:latin typeface="Arial"/>
                <a:ea typeface="Arial"/>
              </a:rPr>
              <a:t>ESP32 Technical Reference Manual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65"/>
          <p:cNvSpPr/>
          <p:nvPr/>
        </p:nvSpPr>
        <p:spPr>
          <a:xfrm>
            <a:off x="4846320" y="4380120"/>
            <a:ext cx="4023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i="1" u="none" strike="noStrike">
                <a:solidFill>
                  <a:srgbClr val="8b949e"/>
                </a:solidFill>
                <a:effectLst/>
                <a:uFillTx/>
                <a:latin typeface="Arial"/>
                <a:ea typeface="Arial"/>
              </a:rPr>
              <a:t>espressif.com/en/products/socs/esp32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66"/>
          <p:cNvSpPr/>
          <p:nvPr/>
        </p:nvSpPr>
        <p:spPr>
          <a:xfrm>
            <a:off x="274320" y="4626720"/>
            <a:ext cx="8595360" cy="360"/>
          </a:xfrm>
          <a:prstGeom prst="line">
            <a:avLst/>
          </a:prstGeom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67"/>
          <p:cNvSpPr/>
          <p:nvPr/>
        </p:nvSpPr>
        <p:spPr>
          <a:xfrm>
            <a:off x="274320" y="4634280"/>
            <a:ext cx="438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00d4ff"/>
                </a:solidFill>
                <a:effectLst/>
                <a:uFillTx/>
                <a:latin typeface="Arial"/>
                <a:ea typeface="Arial"/>
              </a:rPr>
              <a:t>[17]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68"/>
          <p:cNvSpPr/>
          <p:nvPr/>
        </p:nvSpPr>
        <p:spPr>
          <a:xfrm>
            <a:off x="731520" y="4634280"/>
            <a:ext cx="41144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c9d1d9"/>
                </a:solidFill>
                <a:effectLst/>
                <a:uFillTx/>
                <a:latin typeface="Arial"/>
                <a:ea typeface="Arial"/>
              </a:rPr>
              <a:t>AWS S3 Developer Guide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69"/>
          <p:cNvSpPr/>
          <p:nvPr/>
        </p:nvSpPr>
        <p:spPr>
          <a:xfrm>
            <a:off x="4846320" y="4634280"/>
            <a:ext cx="4023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i="1" u="none" strike="noStrike">
                <a:solidFill>
                  <a:srgbClr val="8b949e"/>
                </a:solidFill>
                <a:effectLst/>
                <a:uFillTx/>
                <a:latin typeface="Arial"/>
                <a:ea typeface="Arial"/>
              </a:rPr>
              <a:t>docs.aws.amazon.com/AmazonS3/latest/userguide/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70"/>
          <p:cNvSpPr/>
          <p:nvPr/>
        </p:nvSpPr>
        <p:spPr>
          <a:xfrm>
            <a:off x="274320" y="4880880"/>
            <a:ext cx="8595360" cy="360"/>
          </a:xfrm>
          <a:prstGeom prst="line">
            <a:avLst/>
          </a:prstGeom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71"/>
          <p:cNvSpPr/>
          <p:nvPr/>
        </p:nvSpPr>
        <p:spPr>
          <a:xfrm>
            <a:off x="274320" y="4888440"/>
            <a:ext cx="438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00d4ff"/>
                </a:solidFill>
                <a:effectLst/>
                <a:uFillTx/>
                <a:latin typeface="Arial"/>
                <a:ea typeface="Arial"/>
              </a:rPr>
              <a:t>[18]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72"/>
          <p:cNvSpPr/>
          <p:nvPr/>
        </p:nvSpPr>
        <p:spPr>
          <a:xfrm>
            <a:off x="731520" y="4888440"/>
            <a:ext cx="41144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c9d1d9"/>
                </a:solidFill>
                <a:effectLst/>
                <a:uFillTx/>
                <a:latin typeface="Arial"/>
                <a:ea typeface="Arial"/>
              </a:rPr>
              <a:t>IEC 60825-1:2014 — Laser Safety Standard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73"/>
          <p:cNvSpPr/>
          <p:nvPr/>
        </p:nvSpPr>
        <p:spPr>
          <a:xfrm>
            <a:off x="4846320" y="4888440"/>
            <a:ext cx="4023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i="1" u="none" strike="noStrike">
                <a:solidFill>
                  <a:srgbClr val="8b949e"/>
                </a:solidFill>
                <a:effectLst/>
                <a:uFillTx/>
                <a:latin typeface="Arial"/>
                <a:ea typeface="Arial"/>
              </a:rPr>
              <a:t>iec.ch/publication/3587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</TotalTime>
  <Application>LibreOffice/25.8.5.2$Windows_X86_64 LibreOffice_project/9c8b85f387cc00a89945a79c9e6239f32e450ac2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2026-05-03T12:29:05Z</dcterms:created>
  <dc:creator>PptxGenJS</dc:creator>
  <dc:description/>
  <dc:language>en-US</dc:language>
  <cp:lastModifiedBy/>
  <dcterms:modified xsi:type="dcterms:W3CDTF">2026-05-03T22:05:11Z</dcterms:modified>
  <cp:revision>2</cp:revision>
  <dc:subject>PptxGenJS Presentation</dc:subject>
  <dc:title>LiDAR 3D Scanner — Updated Slides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5</vt:i4>
  </property>
  <property fmtid="{D5CDD505-2E9C-101B-9397-08002B2CF9AE}" pid="3" name="PresentationFormat">
    <vt:lpwstr>On-screen Show (16:9)</vt:lpwstr>
  </property>
  <property fmtid="{D5CDD505-2E9C-101B-9397-08002B2CF9AE}" pid="4" name="Slides">
    <vt:i4>5</vt:i4>
  </property>
</Properties>
</file>
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B5FB8-890C-4DDB-833A-502BAEB4060E}" v="127" dt="2026-07-24T15:39:22.552"/>
    <p1510:client id="{50DDE8CE-637A-480D-B71A-CAF5F75171FA}" v="546" dt="2026-07-23T15:45:14.924"/>
    <p1510:client id="{E5DFB0E1-DED9-4CE7-8BBB-3E3B8F749999}" v="9" dt="2026-07-25T05:49:28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302AB-8DA1-4840-8033-EE626C8A582B}" type="datetimeFigureOut"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92BC1-AF31-4868-BF5D-377E350DB0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87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2 5   F I T   L E V E L   0 1   P R O J E C 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" y="123444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Smart Hydro-Dipping Workstation with Automated Chemical Handling and Safety-Controlled Process Monitoring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3291840"/>
          <a:ext cx="8714232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254037B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254048J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255078H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254101R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255027D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5321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Programmes: 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in Information Technology   /   BSc (Hons) in Information Technology &amp; Management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: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23560" y="6309360"/>
            <a:ext cx="2743200" cy="0"/>
          </a:xfrm>
          <a:prstGeom prst="line">
            <a:avLst/>
          </a:prstGeom>
          <a:noFill/>
          <a:ln w="12700">
            <a:solidFill>
              <a:srgbClr val="44526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492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Hydro-dipping (water transfer printing) applies a printed pattern onto a 3D object by floating a special film on water, activating it with a chemical solvent, and dipping the object through the film.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automotive trim, sports equipment, phone accessories, and small-scale product customization.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hydro-dipping is almost entirely manual — an operator handles film placement, spraying, and dipping by hand, usually in an open or lightly ventilated space.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handling causes inconsistent coating quality and repeated direct exposure to activator fumes, with no real monitoring of chemical concentration or process conditions.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introduces a compact, semi-automated workstation that automates the core stages of the process and adds sensor-based monitoring inside an enclosed, ventilated housing.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52360" y="1234440"/>
            <a:ext cx="4251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 Automated by This System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52360" y="1828800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1828800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Placement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78340" y="2606040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2990088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2990088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Spray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78340" y="3767328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52360" y="4151376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4151376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Dipping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78340" y="4928616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5312664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5312664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&amp; Ventilation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7295" cy="1051560"/>
          </a:xfrm>
          <a:prstGeom prst="roundRect">
            <a:avLst>
              <a:gd name="adj" fmla="val 5217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compact, semi-automated hydro-dipping workstation that performs controlled hydrographic coating with improved consistency, operator safety, and reduced chemical exposure, using sensor-based monitoring and enclosed operation.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compact automated hydro-dipping system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coating consistency compared to manual dipping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direct human exposure to activator chemicals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multiple industrial-grade sensors for monitoring and safety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controlled dipping and drying operations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safe enclosed workstation with ventilation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70168" y="251460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70168" y="292608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precise dipping mechanism with controlled movement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sensor-driven automation using embedded systems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controlled activator spray subsystem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safe power distribution architecture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fail-safe emergency shutdown operations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environmental conditions inside the enclosure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Coating Quality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dipping speed, incorrect angles, film distortion and air bubbles reduce print quality.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80944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80944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Exposure Risk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fumes irritate skin, eyes and lungs; most small setups lack containment or ventilation.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15968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15968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Process Control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timing, water conditions and dipping precision cannot be controlled manually, hurting repeatability.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650992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650992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Hobby-Level Systems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chemicals, no emergency shutdown, no monitoring — unsuitable for a controlled environment.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0168" y="118872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70168" y="1645920"/>
            <a:ext cx="5364328" cy="4846320"/>
          </a:xfrm>
          <a:prstGeom prst="roundRect">
            <a:avLst>
              <a:gd name="adj" fmla="val 1132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8768" y="1828800"/>
            <a:ext cx="49071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enclosed workstation with automated process control and integrated safety monitoring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film handling and precision dipping automation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sensor-timed activator spraying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Sensor-based environmental and chemical monitoring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chemical containment with automated drying &amp; ventilation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safety interlocks throughout the whole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 — How It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58817"/>
            <a:ext cx="11548872" cy="4651828"/>
          </a:xfrm>
          <a:prstGeom prst="rect">
            <a:avLst/>
          </a:prstGeom>
          <a:ln w="15875">
            <a:solidFill>
              <a:srgbClr val="94A3B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851392" y="1060704"/>
            <a:ext cx="29260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WORKSTATION HOUSING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642291"/>
            <a:ext cx="2922451" cy="1031384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956779"/>
            <a:ext cx="2929708" cy="2388469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99512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 /  INPUTS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47912" y="1643634"/>
            <a:ext cx="2639423" cy="1764355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7912" y="4352871"/>
            <a:ext cx="2639423" cy="1002356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7912" y="1394569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 /  OUTPUTS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28616" y="1624875"/>
            <a:ext cx="2331720" cy="3730171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423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
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Dual-Core Controller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C2152DF2-273B-B1A8-2729-98D0EFD25EC0}"/>
              </a:ext>
            </a:extLst>
          </p:cNvPr>
          <p:cNvSpPr/>
          <p:nvPr/>
        </p:nvSpPr>
        <p:spPr>
          <a:xfrm>
            <a:off x="594359" y="1393226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POWER BLOCK</a:t>
            </a:r>
            <a:endParaRPr lang="en-US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0B5C683A-E7CA-5F5C-8243-098EF907EFE6}"/>
              </a:ext>
            </a:extLst>
          </p:cNvPr>
          <p:cNvSpPr/>
          <p:nvPr/>
        </p:nvSpPr>
        <p:spPr>
          <a:xfrm>
            <a:off x="8918302" y="4100140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DISPLAY / UI</a:t>
            </a:r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4286FA-A080-602F-72EC-AA09DDF4E8C3}"/>
              </a:ext>
            </a:extLst>
          </p:cNvPr>
          <p:cNvSpPr txBox="1"/>
          <p:nvPr/>
        </p:nvSpPr>
        <p:spPr>
          <a:xfrm>
            <a:off x="592817" y="1896836"/>
            <a:ext cx="34194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- 230V AC Mains + Safety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-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SMPS (24V / 12V / 5V Rails)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26980D-CDEC-4B4F-A148-BEFCCAB04E27}"/>
              </a:ext>
            </a:extLst>
          </p:cNvPr>
          <p:cNvSpPr txBox="1"/>
          <p:nvPr/>
        </p:nvSpPr>
        <p:spPr>
          <a:xfrm>
            <a:off x="602343" y="3093356"/>
            <a:ext cx="3381374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- Water Temp (PT100 RTD Sensor 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  + MAX31865 </a:t>
            </a:r>
            <a:r>
              <a:rPr lang="en-US" sz="1400" dirty="0">
                <a:ea typeface="+mn-lt"/>
                <a:cs typeface="+mn-lt"/>
              </a:rPr>
              <a:t>Amplifier Module) </a:t>
            </a:r>
            <a:endParaRPr lang="en-US"/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Water Level (JSN-SR04T 2.0  Water-</a:t>
            </a:r>
          </a:p>
          <a:p>
            <a:r>
              <a:rPr lang="en-US" sz="1400">
                <a:ea typeface="+mn-lt"/>
                <a:cs typeface="+mn-lt"/>
              </a:rPr>
              <a:t>  proof Ultrasonic Ranging Module)</a:t>
            </a:r>
            <a:endParaRPr lang="en-US"/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</a:t>
            </a:r>
            <a:r>
              <a:rPr lang="en-US" sz="1400">
                <a:ea typeface="+mn-lt"/>
                <a:cs typeface="+mn-lt"/>
              </a:rPr>
              <a:t>VOC/Gas Sensor (ENS160)</a:t>
            </a:r>
            <a:endParaRPr lang="en-US" sz="1400" dirty="0">
              <a:ea typeface="+mn-lt"/>
              <a:cs typeface="+mn-lt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Limit Switches &amp; </a:t>
            </a:r>
            <a:r>
              <a:rPr lang="en-US" sz="1400">
                <a:ea typeface="+mn-lt"/>
                <a:cs typeface="+mn-lt"/>
              </a:rPr>
              <a:t>Leak Sensor  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</a:t>
            </a:r>
            <a:r>
              <a:rPr lang="en-US" sz="1400" dirty="0">
                <a:ea typeface="+mn-lt"/>
                <a:cs typeface="+mn-lt"/>
              </a:rPr>
              <a:t>Airflow Sensor &amp; Rotary Encoder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9953CD-5A9A-4871-C15B-CACEBBB3A74D}"/>
              </a:ext>
            </a:extLst>
          </p:cNvPr>
          <p:cNvSpPr txBox="1"/>
          <p:nvPr/>
        </p:nvSpPr>
        <p:spPr>
          <a:xfrm>
            <a:off x="8962572" y="1927678"/>
            <a:ext cx="322897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- Dipping Stepper </a:t>
            </a:r>
            <a:r>
              <a:rPr lang="en-US" sz="1400">
                <a:ea typeface="+mn-lt"/>
                <a:cs typeface="+mn-lt"/>
              </a:rPr>
              <a:t>(NEMA17)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Activator </a:t>
            </a:r>
            <a:r>
              <a:rPr lang="en-US" sz="1400">
                <a:ea typeface="+mn-lt"/>
                <a:cs typeface="+mn-lt"/>
              </a:rPr>
              <a:t>Solenoid Valve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Film </a:t>
            </a:r>
            <a:r>
              <a:rPr lang="en-US" sz="1400">
                <a:ea typeface="+mn-lt"/>
                <a:cs typeface="+mn-lt"/>
              </a:rPr>
              <a:t>Feed Roller Motor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Exhaust Fans &amp; Carbon Filter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PTC Ceramic Drying </a:t>
            </a:r>
            <a:r>
              <a:rPr lang="en-US" sz="1400" dirty="0">
                <a:ea typeface="+mn-lt"/>
                <a:cs typeface="+mn-lt"/>
              </a:rPr>
              <a:t>Heater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2E7C4D-AF59-EC6A-209D-392E7CDF8062}"/>
              </a:ext>
            </a:extLst>
          </p:cNvPr>
          <p:cNvSpPr txBox="1"/>
          <p:nvPr/>
        </p:nvSpPr>
        <p:spPr>
          <a:xfrm>
            <a:off x="8950325" y="4594679"/>
            <a:ext cx="31813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- LCD Touchscreen Interface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Status Indicators / </a:t>
            </a:r>
            <a:r>
              <a:rPr lang="en-US" sz="1400" dirty="0">
                <a:ea typeface="+mn-lt"/>
                <a:cs typeface="+mn-lt"/>
              </a:rPr>
              <a:t>Wi-Fi Dash</a:t>
            </a:r>
            <a:endParaRPr lang="en-US" sz="1400">
              <a:ea typeface="Calibri"/>
              <a:cs typeface="Calibri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8294E4-8E23-3E8C-891E-02FD69CA79E2}"/>
              </a:ext>
            </a:extLst>
          </p:cNvPr>
          <p:cNvCxnSpPr/>
          <p:nvPr/>
        </p:nvCxnSpPr>
        <p:spPr>
          <a:xfrm flipV="1">
            <a:off x="3528333" y="2156144"/>
            <a:ext cx="1396091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8AAAB9B-90F0-1E2D-F9E9-BF6A38ADB634}"/>
              </a:ext>
            </a:extLst>
          </p:cNvPr>
          <p:cNvCxnSpPr>
            <a:cxnSpLocks/>
          </p:cNvCxnSpPr>
          <p:nvPr/>
        </p:nvCxnSpPr>
        <p:spPr>
          <a:xfrm flipV="1">
            <a:off x="7273019" y="4805000"/>
            <a:ext cx="1679119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293E184-E185-5CF9-415B-9FC8BCC4F9A0}"/>
              </a:ext>
            </a:extLst>
          </p:cNvPr>
          <p:cNvCxnSpPr>
            <a:cxnSpLocks/>
          </p:cNvCxnSpPr>
          <p:nvPr/>
        </p:nvCxnSpPr>
        <p:spPr>
          <a:xfrm flipV="1">
            <a:off x="7258504" y="2468201"/>
            <a:ext cx="1693634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73958B-A0A6-72A1-69FB-E1D3AA3A17AA}"/>
              </a:ext>
            </a:extLst>
          </p:cNvPr>
          <p:cNvCxnSpPr>
            <a:cxnSpLocks/>
          </p:cNvCxnSpPr>
          <p:nvPr/>
        </p:nvCxnSpPr>
        <p:spPr>
          <a:xfrm flipV="1">
            <a:off x="3521075" y="4587286"/>
            <a:ext cx="1396091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2F07E4C-D826-7EF7-99FB-B5A6C6CB1E5F}"/>
              </a:ext>
            </a:extLst>
          </p:cNvPr>
          <p:cNvSpPr txBox="1"/>
          <p:nvPr/>
        </p:nvSpPr>
        <p:spPr>
          <a:xfrm>
            <a:off x="3777056" y="1854868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5V Power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A54C3D-893F-D56D-7C6B-2996C2719789}"/>
              </a:ext>
            </a:extLst>
          </p:cNvPr>
          <p:cNvSpPr txBox="1"/>
          <p:nvPr/>
        </p:nvSpPr>
        <p:spPr>
          <a:xfrm>
            <a:off x="3777055" y="4293267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Input Data</a:t>
            </a:r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1495D1-455A-B76D-22EE-054A19A6E406}"/>
              </a:ext>
            </a:extLst>
          </p:cNvPr>
          <p:cNvSpPr txBox="1"/>
          <p:nvPr/>
        </p:nvSpPr>
        <p:spPr>
          <a:xfrm>
            <a:off x="7456427" y="2159667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Control Signals</a:t>
            </a:r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1905AD-002C-67C0-3DC6-7BBCCEA85437}"/>
              </a:ext>
            </a:extLst>
          </p:cNvPr>
          <p:cNvSpPr txBox="1"/>
          <p:nvPr/>
        </p:nvSpPr>
        <p:spPr>
          <a:xfrm>
            <a:off x="7420141" y="4510982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Display Data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Flow — Power On to Completion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Initialization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fan, water level, door-lock &amp; E-Stop checks; system enters READY state.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2498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3938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95418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length, dipping mode &amp; drying duration entered via LCD / touchscreen.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19237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9237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30717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Feeding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Motorized roller pulls, measures &amp; places film on the water surface.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Stabilization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confirm temperature &amp; surface stability before proceeding.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2498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3938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3938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5418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Spray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nozzle sprays for a calibrated duration; VOC sensor halts spray if fumes exceed threshold.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27797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9237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30717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Dipping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Stepper-driven linear rail lowers the object smoothly; limit switches guard travel range.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is lifted slowly; excess liquid drains back into the tank.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2498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3938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3938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5418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&amp; Ventilation
</a:t>
            </a:r>
            <a:endParaRPr lang="en-US" sz="1250" dirty="0"/>
          </a:p>
          <a:p>
            <a:pPr>
              <a:lnSpc>
                <a:spcPct val="105000"/>
              </a:lnSpc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Exhaust fans (+ PTC heater) dry the object while </a:t>
            </a:r>
            <a:r>
              <a:rPr lang="en-US" sz="10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VOC is monitored.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27797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9237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9237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30717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Completion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unlocks once fumes clear and drying finishes; system resets to READY.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367528"/>
            <a:ext cx="11277295" cy="713232"/>
          </a:xfrm>
          <a:prstGeom prst="roundRect">
            <a:avLst>
              <a:gd name="adj" fmla="val 7692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367528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Cycle: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dashboard trim panel is processed — 25 cm of film is fed and placed on the water, activator is sprayed for 4 seconds, the panel is dipped and extracted over about 12 seconds, then dried for 6 minutes with the exhaust fan on high before the enclosure unlocks.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Concept Sketch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7295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261872"/>
            <a:ext cx="11130991" cy="4928616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1127729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reserved for the hand-drawn concept sketch of the dipping platform, enclosure and roller layout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A316CF-3F5F-47E7-2879-20F6AD202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5" t="1087" r="17183" b="3069"/>
          <a:stretch>
            <a:fillRect/>
          </a:stretch>
        </p:blipFill>
        <p:spPr>
          <a:xfrm rot="5400000">
            <a:off x="3658483" y="-325597"/>
            <a:ext cx="4866689" cy="8104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55768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Industrial Development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 RTD + MAX31865 Amplifier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Ultrasonic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Chemical 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SGP30 / ENS160 Air Quality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Omron Industrial Limit Switches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Liquid Leak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Hall-Effect Airflow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Touchscreen / Rotary Encoder + LCD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188720"/>
          <a:ext cx="5455768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MGN12 Linear Rail + Lead Screw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 17 Stepper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TMC2209 Silent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Nozzle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HVLP Fine Mist Nozzle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Solenoid 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 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Centrifugal 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Activated Carbon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Drying Heater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 Ceramic Heater (Low Power)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95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230V AC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38448" y="1874520"/>
            <a:ext cx="685800" cy="18288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24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4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Protection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/ MCB / EMI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/ E-Stop Relay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67448" y="1874520"/>
            <a:ext cx="685800" cy="18288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53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3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2301088" y="2331720"/>
            <a:ext cx="722376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516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32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DC Rail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motors, exhaust fans, solenoid valve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6095848" y="2331720"/>
            <a:ext cx="342900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4992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08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Rail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system &amp; auxiliary devices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24848" y="2331720"/>
            <a:ext cx="36576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4468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184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DC Rail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controller &amp; sensor logic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1127729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Features Built Into the Power System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— instantly cuts power to motors, spray system &amp; heater, while keeping the controller alive for diagnostics.</a:t>
            </a:r>
            <a:endParaRPr lang="en-US" sz="13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Logic &amp; Motor Power — prevents motor electrical noise from affecting sensitive sensor readings.</a:t>
            </a:r>
            <a:endParaRPr lang="en-US" sz="13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Fault Protection — critical given the close proximity of electronics to water.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&amp;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Firmware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on the Arduino framework (or ESP-IDF) for the ESP32; FreeRTOS dual-core task scheduling for parallel sensor polling and actuator control.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816352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816352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Protocols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for the gas sensor &amp; touchscreen, SPI for the MAX31865 RTD amplifier, UART for debug logging, PWM for stepper and fan speed control.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398264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398264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Software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/ touchscreen driver library (e.g. LVGL or TFT_eSPI) for menu navigation, live status display and input handling.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2025396"/>
            <a:ext cx="5455768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9896" y="2025396"/>
            <a:ext cx="505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Connectivity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 / Bluetooth for an optional companion dashboard, live sensor logging and remote status alerts.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8728" y="3790188"/>
            <a:ext cx="5455768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9896" y="3790188"/>
            <a:ext cx="505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Design Tools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/ PlatformIO for firmware; Fusion 360 / KiCad for mechanical &amp; PCB design; Git for version control.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Project Budget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455768" cy="4279392"/>
        </p:xfrm>
        <a:graphic>
          <a:graphicData uri="http://schemas.openxmlformats.org/drawingml/2006/table">
            <a:tbl>
              <a:tblPr/>
              <a:tblGrid>
                <a:gridCol w="408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(LKR)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Industrial Dev.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 RTD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MAX31865 Amplifier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Ultrasonic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Air Quality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Omron Limit 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Leak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Hall-Effect Airflow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MGN12 Rail + Lead Screw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NEMA17 Stepper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TMC2209 Driver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HVLP Spray Nozzle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143000"/>
          <a:ext cx="5455768" cy="4279392"/>
        </p:xfrm>
        <a:graphic>
          <a:graphicData uri="http://schemas.openxmlformats.org/drawingml/2006/table">
            <a:tbl>
              <a:tblPr/>
              <a:tblGrid>
                <a:gridCol w="408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(LKR)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Solenoid Valve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Centrifugal Fan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Activated Carbon Filter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 Ceramic Heater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Touchscreen / Encoder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SMPS Units (24V/12V/5V)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Wiring, Connectors, Terminals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Frame &amp; Panels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Chemical-Resistant Water Tank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Fasteners &amp; Mounting 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Fabrication / Prototype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5989320"/>
            <a:ext cx="11277295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598932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 LKR 102,000        Contingency (10%):  LKR 10,200     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Total:  LKR 112,200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10 Months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0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0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29882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29882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9283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19283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08685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08685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8086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98086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7488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87488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6889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76889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6291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66291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55692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55692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45094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945094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34495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Requirement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155448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867912" y="161848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96596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Component Selection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57314" y="202996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Components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37744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5446715" y="2441448"/>
            <a:ext cx="734538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Assembly (Rail, Platform, Enclosure)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6715" y="2852928"/>
            <a:ext cx="2313341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&amp; Firmware Development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320040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36117" y="3264408"/>
            <a:ext cx="2313341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1188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 Assembly &amp; Safety Testing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25518" y="367588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&amp; Ventilation Subsystem Integration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402336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7814920" y="408736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3484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Integration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604321" y="449884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4632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Calibration &amp; Debugging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0" y="484632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9393723" y="491032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25780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Presentation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83124" y="532180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Distribution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422742"/>
              </p:ext>
            </p:extLst>
          </p:nvPr>
        </p:nvGraphicFramePr>
        <p:xfrm>
          <a:off x="457200" y="1143000"/>
          <a:ext cx="11064240" cy="52120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Module(s)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254037B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(PT100 + MAX31865)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Stabilization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Heating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sensing firmware &amp; water-condition checks before spray.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254048J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&amp; Leak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logic, leak-triggered safety cut-off integration.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255078H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 (ITM)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VOC / Gas  Sensors (ENS160)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Ventilation &amp; Filtration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(Fans + Carbon Filter)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Fume monitoring, exhaust control logic, IoT dashboard/alerts.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254101R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(Rail, Stepper, TMC2209)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Dipping-axis motion control, travel-limit safety logic.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255027D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 (ITM)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Airflow Sensor &amp; Rotary Encoder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Drying Mechanism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Exhaust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 control, film feed logic</a:t>
                      </a:r>
                      <a:endParaRPr lang="en-US" sz="10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233160"/>
            <a:ext cx="112772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jointly contribute to overall ESP32 firmware architecture, system integration, and testing of safety interlocks across subsystems.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Stands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Real-World Relevance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real problems in small-scale manufacturing, automotive customization and product finishing.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07738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08906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Engineering Scope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over-mechanical or over-software-heavy — a well-balanced embedded systems project.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158277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59445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Safety Engineering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chemical exposure, ventilation and electrical isolation, which most student projects ignore.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0332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Thinking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Resembles a miniature smart manufacturing workstation rather than a hobby prototype.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07738" y="356616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8906" y="370332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Evaluation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embedded systems, sensor integration, automation, power electronics and safety engineering in one project.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729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Espressif Systems, "ESP32 Series Datasheet," 2023.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Texas Instruments, "PT100 RTD Temperature Sensing Reference Design,"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Maxim Integrated / Analog Devices, "MAX31865 RTD-to-Digital Converter Datasheet," 2021.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Sensirion AG, "SGP30 Multi-Pixel Gas Sensor Datasheet,"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ScioSense, "ENS160 Digital Air Quality Sensor Datasheet," 2023.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TRINAMIC Motion Control, "TMC2209 Datasheet — Silent StepStick Driver,"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Omron Corporation, "General Purpose Limit Switch Catalogue," 2021.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Pepperl+Fuchs, "Ultrasonic Sensors for Level Measurement — Technical Guide,"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M. P. Groover, "Fundamentals of Modern Manufacturing: Materials, Processes and Systems," Wiley, 2020.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Manufacturer application notes on hydrographic (water transfer) printing process fundamentals.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Smart Hydro-Dipping Workstation  •  B25 FIT Level 01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 Smart Hydro-Dipping Workstation</dc:title>
  <dc:subject>PptxGenJS Presentation</dc:subject>
  <dc:creator>B25 FIT Level 01 Group</dc:creator>
  <cp:lastModifiedBy>B25 FIT Level 01 Group</cp:lastModifiedBy>
  <cp:revision>180</cp:revision>
  <dcterms:created xsi:type="dcterms:W3CDTF">2026-07-07T02:26:14Z</dcterms:created>
  <dcterms:modified xsi:type="dcterms:W3CDTF">2026-07-25T05:49:49Z</dcterms:modified>
</cp:coreProperties>
</file>
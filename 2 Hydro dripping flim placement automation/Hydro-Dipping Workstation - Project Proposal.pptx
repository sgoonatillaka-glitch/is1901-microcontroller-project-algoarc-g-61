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2 5   F I T   L E V E L   0 1   P R O J E C 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" y="1234440"/>
            <a:ext cx="99971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 Smart Hydro-Dipping Workstation with Automated Chemical Handling and Safety-Controlled Process Monitoring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3291840"/>
          <a:ext cx="871423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114800"/>
                <a:gridCol w="2679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No.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254037B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CHAMIDYA J.A.S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254048J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SILVA P.S.S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255078H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OMESH N.A.N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&amp;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254101R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KALANSOORIYA O.K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255027D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GOONATILLAKA W.A.D.S.S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&amp;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6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5321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Programmes:  </a:t>
            </a:r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(Hons) in Information Technology   /   BSc (Hons) in Information Technology &amp; Management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: 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23560" y="6309360"/>
            <a:ext cx="2743200" cy="0"/>
          </a:xfrm>
          <a:prstGeom prst="line">
            <a:avLst/>
          </a:prstGeom>
          <a:noFill/>
          <a:ln w="12700">
            <a:solidFill>
              <a:srgbClr val="44526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6492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Hydro-dipping (water transfer printing) applies a printed pattern onto a 3D object by floating a special film on water, activating it with a chemical solvent, and dipping the object through the film.</a:t>
            </a:r>
            <a:endParaRPr lang="en-US" sz="13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automotive trim, sports equipment, phone accessories, and small-scale product customization.</a:t>
            </a:r>
            <a:endParaRPr lang="en-US" sz="13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hydro-dipping is almost entirely manual — an operator handles film placement, spraying, and dipping by hand, usually in an open or lightly ventilated space.</a:t>
            </a:r>
            <a:endParaRPr lang="en-US" sz="13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handling causes inconsistent coating quality and repeated direct exposure to activator fumes, with no real monitoring of chemical concentration or process conditions.</a:t>
            </a:r>
            <a:endParaRPr lang="en-US" sz="13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introduces a compact, semi-automated workstation that automates the core stages of the process and adds sensor-based monitoring inside an enclosed, ventilated housing.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52360" y="1234440"/>
            <a:ext cx="42519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 Automated by This System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52360" y="1828800"/>
            <a:ext cx="4251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0" y="1828800"/>
            <a:ext cx="4251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Placement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578340" y="2606040"/>
            <a:ext cx="18288" cy="38404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52360" y="2990088"/>
            <a:ext cx="4251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2990088"/>
            <a:ext cx="4251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 Spray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578340" y="3767328"/>
            <a:ext cx="18288" cy="38404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52360" y="4151376"/>
            <a:ext cx="4251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4151376"/>
            <a:ext cx="4251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Dipping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78340" y="4928616"/>
            <a:ext cx="18288" cy="38404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5312664"/>
            <a:ext cx="42519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5312664"/>
            <a:ext cx="42519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&amp; Ventilation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7295" cy="1051560"/>
          </a:xfrm>
          <a:prstGeom prst="roundRect">
            <a:avLst>
              <a:gd name="adj" fmla="val 5217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develop a compact, semi-automated hydro-dipping workstation that performs controlled hydrographic coating with improved consistency, operator safety, and reduced chemical exposure, using sensor-based monitoring and enclosed operation.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5364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53643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compact automated hydro-dipping system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coating consistency compared to manual dipping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direct human exposure to activator chemicals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multiple industrial-grade sensors for monitoring and safety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controlled dipping and drying operations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safe enclosed workstation with ventilation control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70168" y="2514600"/>
            <a:ext cx="5364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70168" y="2926080"/>
            <a:ext cx="53643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precise dipping mechanism with controlled movement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sensor-driven automation using embedded systems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controlled activator spray subsystem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safe power distribution architecture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fail-safe emergency shutdown operations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environmental conditions inside the enclosure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Proposed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364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49985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Coating Quality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dipping speed, incorrect angles, film distortion and air bubbles reduce print quality.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980944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80944"/>
            <a:ext cx="49985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Exposure Risk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 fumes irritate skin, eyes and lungs; most small setups lack containment or ventilation.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315968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315968"/>
            <a:ext cx="49985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Process Control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timing, water conditions and dipping precision cannot be controlled manually, hurting repeatability.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650992"/>
            <a:ext cx="536432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650992"/>
            <a:ext cx="49985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Hobby-Level Systems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chemicals, no emergency shutdown, no monitoring — unsuitable for a controlled environment.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70168" y="1188720"/>
            <a:ext cx="536432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Solution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70168" y="1645920"/>
            <a:ext cx="5364328" cy="4846320"/>
          </a:xfrm>
          <a:prstGeom prst="roundRect">
            <a:avLst>
              <a:gd name="adj" fmla="val 1132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8768" y="1828800"/>
            <a:ext cx="490712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enclosed workstation with automated process control and integrated safety monitoring</a:t>
            </a:r>
            <a:endParaRPr lang="en-US" sz="13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film handling and precision dipping automation</a:t>
            </a:r>
            <a:endParaRPr lang="en-US" sz="13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Intelligent, sensor-timed activator spraying</a:t>
            </a:r>
            <a:endParaRPr lang="en-US" sz="13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Sensor-based environmental and chemical monitoring</a:t>
            </a:r>
            <a:endParaRPr lang="en-US" sz="13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chemical containment with automated drying &amp; ventilation</a:t>
            </a:r>
            <a:endParaRPr lang="en-US" sz="1300" dirty="0"/>
          </a:p>
          <a:p>
            <a:pPr algn="l"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safety interlocks throughout the whole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Block Diagram — How It Works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11548872" cy="4572000"/>
          </a:xfrm>
          <a:prstGeom prst="rect">
            <a:avLst/>
          </a:prstGeom>
          <a:ln w="15875">
            <a:solidFill>
              <a:srgbClr val="94A3B8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8851392" y="1060704"/>
            <a:ext cx="29260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WORKSTATION HOUSING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2697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Temp.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PT100 + MAX31865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107692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07692"/>
            <a:ext cx="2697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798064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98064"/>
            <a:ext cx="2697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/ Gas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SGP30 / ENS160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488436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88436"/>
            <a:ext cx="2697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Limit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(Omron)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4178808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178808"/>
            <a:ext cx="2697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 Sensor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869180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869180"/>
            <a:ext cx="2697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Check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Hall-Effect Sensor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1124712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 /  INPUTS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97112" y="1643634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7112" y="1643634"/>
            <a:ext cx="2697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Dipping Axis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NEMA17 + TMC2209 + Rail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97112" y="2393442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97112" y="2393442"/>
            <a:ext cx="2697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 Spray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 Valve + Nozzle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97112" y="3143250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97112" y="3143250"/>
            <a:ext cx="2697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Fans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Carbon Filter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97112" y="3893058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97112" y="3893058"/>
            <a:ext cx="2697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Heater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 Ceramic Heater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97112" y="4642866"/>
            <a:ext cx="2697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97112" y="4642866"/>
            <a:ext cx="26974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Feed Motor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(Roller Mechanism)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97112" y="1351026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  /  OUTPUTS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28616" y="1371600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1371600"/>
            <a:ext cx="2331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/ Touchscreen + Encoder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28616" y="242316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2423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
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Dual-Core Controller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94476" y="1920240"/>
            <a:ext cx="18288" cy="5029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3291840" y="1700784"/>
            <a:ext cx="1636776" cy="140817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291840" y="2391156"/>
            <a:ext cx="1636776" cy="71780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291840" y="3081528"/>
            <a:ext cx="1636776" cy="2743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3291840" y="3108960"/>
            <a:ext cx="1636776" cy="6629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3291840" y="3108960"/>
            <a:ext cx="1636776" cy="135331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3291840" y="3108960"/>
            <a:ext cx="1636776" cy="204368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7260336" y="1927098"/>
            <a:ext cx="1636776" cy="118186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7260336" y="2676906"/>
            <a:ext cx="1636776" cy="43205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260336" y="3108960"/>
            <a:ext cx="1636776" cy="31775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260336" y="3108960"/>
            <a:ext cx="1636776" cy="106756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260336" y="3108960"/>
            <a:ext cx="1636776" cy="181737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896612" y="3076956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8332" y="3076956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5788152"/>
            <a:ext cx="11548872" cy="621792"/>
          </a:xfrm>
          <a:prstGeom prst="roundRect">
            <a:avLst>
              <a:gd name="adj" fmla="val 8824"/>
            </a:avLst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5788152"/>
            <a:ext cx="11274552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DISTRIBUTION:   230V AC Mains  →  Protection (Fuse / MCB / EMI / E-Stop Relay)  →  SMPS  →  24V (motors, fans, solenoid)  |  12V (spray)  |  5V (ESP32 &amp; sensors)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 flipV="1">
            <a:off x="6094476" y="3794760"/>
            <a:ext cx="18288" cy="1993392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  <a:tailEnd type="none"/>
          </a:ln>
        </p:spPr>
      </p:sp>
      <p:sp>
        <p:nvSpPr>
          <p:cNvPr id="50" name="Shape 48"/>
          <p:cNvSpPr/>
          <p:nvPr/>
        </p:nvSpPr>
        <p:spPr>
          <a:xfrm flipV="1">
            <a:off x="1943100" y="5436108"/>
            <a:ext cx="18288" cy="352044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  <a:tailEnd type="none"/>
          </a:ln>
        </p:spPr>
      </p:sp>
      <p:sp>
        <p:nvSpPr>
          <p:cNvPr id="51" name="Shape 49"/>
          <p:cNvSpPr/>
          <p:nvPr/>
        </p:nvSpPr>
        <p:spPr>
          <a:xfrm flipV="1">
            <a:off x="10245852" y="5209794"/>
            <a:ext cx="18288" cy="578358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8897112" y="5358384"/>
            <a:ext cx="36576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36024" y="5239512"/>
            <a:ext cx="225856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/ Data Line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897112" y="5614416"/>
            <a:ext cx="36576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9336024" y="5495544"/>
            <a:ext cx="225856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Line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Flow — Power On to Completion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075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Initialization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Sensor, fan, water level, door-lock &amp; E-Stop checks; system enters READY state.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2498" y="12344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3938" y="13258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3938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95418" y="13075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length, dipping mode &amp; drying duration entered via LCD / touchscreen.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27797" y="12344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19237" y="13258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9237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30717" y="13075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Feeding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Motorized roller pulls, measures &amp; places film on the water surface.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6974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6791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Stabilization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confirm temperature &amp; surface stability before proceeding.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92498" y="26060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3938" y="26974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3938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95418" y="26791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 Spray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 nozzle sprays for a calibrated duration; VOC sensor halts spray if fumes exceed threshold.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27797" y="26060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19237" y="26974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9237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30717" y="26791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Dipping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Stepper-driven linear rail lowers the object smoothly; limit switches guard travel range.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0690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40507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is lifted slowly; excess liquid drains back into the tank.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92498" y="39776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3938" y="40690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3938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95418" y="40507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&amp; Ventilation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fans (+ optional PTC heater) dry the object while VOC is monitored.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27797" y="3977640"/>
            <a:ext cx="3606698" cy="1170432"/>
          </a:xfrm>
          <a:prstGeom prst="roundRect">
            <a:avLst>
              <a:gd name="adj" fmla="val 46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19237" y="40690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19237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30717" y="4050792"/>
            <a:ext cx="296661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Completion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unlocks once fumes clear and drying finishes; system resets to READY.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57200" y="5367528"/>
            <a:ext cx="11277295" cy="713232"/>
          </a:xfrm>
          <a:prstGeom prst="roundRect">
            <a:avLst>
              <a:gd name="adj" fmla="val 7692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367528"/>
            <a:ext cx="10820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Cycle: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dashboard trim panel is processed — 25 cm of film is fed and placed on the water, activator is sprayed for 4 seconds, the panel is dipped and extracted over about 12 seconds, then dried for 6 minutes with the exhaust fan on high before the enclosure unlocks.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 Concept Sketch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7295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1261872"/>
            <a:ext cx="11130991" cy="4928616"/>
          </a:xfrm>
          <a:prstGeom prst="rect">
            <a:avLst/>
          </a:prstGeom>
          <a:ln w="9525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3291840"/>
            <a:ext cx="1127729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reserved for the hand-drawn concept sketch of the dipping platform, enclosure and roller layout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455768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184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Controller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Industrial Development 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PT100 RTD + MAX31865 Amplifier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Ultrasonic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 / Chemical Gas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SGP30 / ENS160 Air Quality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Omron Industrial Limit Switches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Capacitive Liquid Leak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Hall-Effect Airflow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Touchscreen / Rotary Encoder + LCD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188720"/>
          <a:ext cx="5455768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184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Motion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MGN12 Linear Rail + Lead Screw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Motor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NEMA 17 Stepper Motor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TMC2209 Silent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Spray Nozzle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HVLP Fine Mist Nozzle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Spray Valve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Solenoid Valve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Exhaust Fan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Brushless Centrifugal Fan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Activated Carbon 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Drying Heater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PTC Ceramic Heater (Low Power)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System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95248" y="14173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248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230V AC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38448" y="1874520"/>
            <a:ext cx="685800" cy="18288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724248" y="14173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4248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Protection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/ MCB / EMI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/ E-Stop Relay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67448" y="1874520"/>
            <a:ext cx="685800" cy="18288"/>
          </a:xfrm>
          <a:prstGeom prst="line">
            <a:avLst/>
          </a:prstGeom>
          <a:noFill/>
          <a:ln w="2222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53248" y="14173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3248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H="1">
            <a:off x="2301088" y="2331720"/>
            <a:ext cx="7223760" cy="77724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5168" y="310896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328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24V DC Rail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motors, exhaust fans, solenoid valve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H="1">
            <a:off x="6095848" y="2331720"/>
            <a:ext cx="3429000" cy="77724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49928" y="310896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7088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DC Rail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system &amp; auxiliary devices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524848" y="2331720"/>
            <a:ext cx="365760" cy="77724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44688" y="310896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1848" y="31089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DC Rail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controller &amp; sensor logic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251960"/>
            <a:ext cx="1127729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Features Built Into the Power System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11277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 — instantly cuts power to motors, spray system &amp; heater, while keeping the controller alive for diagnostics.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Logic &amp; Motor Power — prevents motor electrical noise from affecting sensitive sensor readings.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Fault Protection — critical given the close proximity of electronics to water.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 &amp; Technologies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55768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34440"/>
            <a:ext cx="505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Firmware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 on the Arduino framework (or ESP-IDF) for the ESP32; FreeRTOS dual-core task scheduling for parallel sensor polling and actuator control.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816352"/>
            <a:ext cx="5455768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816352"/>
            <a:ext cx="505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Protocols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for the gas sensor &amp; touchscreen, SPI for the MAX31865 RTD amplifier, UART for debug logging, PWM for stepper and fan speed control.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398264"/>
            <a:ext cx="5455768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398264"/>
            <a:ext cx="505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Software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/ touchscreen driver library (e.g. LVGL or TFT_eSPI) for menu navigation, live status display and input handling.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2025396"/>
            <a:ext cx="5455768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9896" y="2025396"/>
            <a:ext cx="505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Connectivity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WiFi / Bluetooth for an optional companion dashboard, live sensor logging and remote status alerts.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78728" y="3790188"/>
            <a:ext cx="5455768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9896" y="3790188"/>
            <a:ext cx="505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Design Tools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/ PlatformIO for firmware; Fusion 360 / KiCad for mechanical &amp; PCB design; Git for version control.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Project Budget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455768" cy="914400"/>
        </p:xfrm>
        <a:graphic>
          <a:graphicData uri="http://schemas.openxmlformats.org/drawingml/2006/table">
            <a:tbl>
              <a:tblPr/>
              <a:tblGrid>
                <a:gridCol w="4084168"/>
                <a:gridCol w="640080"/>
                <a:gridCol w="731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(LKR)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Industrial Dev. 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PT100 RTD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MAX31865 Amplifier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Ultrasonic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 / Air Quality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Omron Limit Switches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Capacitive Leak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Hall-Effect Airflow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MGN12 Rail + Lead Screw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NEMA17 Stepper Motor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TMC2209 Driver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HVLP Spray Nozzle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143000"/>
          <a:ext cx="5455768" cy="914400"/>
        </p:xfrm>
        <a:graphic>
          <a:graphicData uri="http://schemas.openxmlformats.org/drawingml/2006/table">
            <a:tbl>
              <a:tblPr/>
              <a:tblGrid>
                <a:gridCol w="4084168"/>
                <a:gridCol w="640080"/>
                <a:gridCol w="731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(LKR)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Solenoid Valve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Brushless Centrifugal Fan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Activated Carbon Filter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PTC Ceramic Heater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Touchscreen / Encoder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SMPS Units (24V/12V/5V)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Wiring, Connectors, Terminals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Enclosure Frame &amp; Panels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Chemical-Resistant Water Tank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Fasteners &amp; Mounting Hardware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PCB Fabrication / Prototype 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5989320"/>
            <a:ext cx="11277295" cy="594360"/>
          </a:xfrm>
          <a:prstGeom prst="roundRect">
            <a:avLst>
              <a:gd name="adj" fmla="val 923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31520" y="598932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Subtotal:  LKR 102,000        </a:t>
            </a:r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(10%):  LKR 10,200      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Total:  LKR 112,200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 — 10 Months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0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840480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29882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29882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19283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19283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08685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08685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8086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98086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87488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87488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6889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76889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6291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366291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55692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155692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45094" y="1188720"/>
            <a:ext cx="7894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945094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34495" y="1508760"/>
            <a:ext cx="0" cy="41148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55448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Requirement Analysis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155448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3867912" y="161848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96596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Component Selection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57314" y="202996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37744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of Components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237744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5446715" y="2441448"/>
            <a:ext cx="734538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78892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Assembly (Rail, Platform, Enclosure)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46715" y="2852928"/>
            <a:ext cx="2313341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20040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Integration &amp; Firmware Development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320040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34"/>
          <p:cNvSpPr/>
          <p:nvPr/>
        </p:nvSpPr>
        <p:spPr>
          <a:xfrm>
            <a:off x="6236117" y="3264408"/>
            <a:ext cx="2313341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1188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 Assembly &amp; Safety Testing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25518" y="367588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2336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&amp; Ventilation Subsystem Integration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0" y="402336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Shape 39"/>
          <p:cNvSpPr/>
          <p:nvPr/>
        </p:nvSpPr>
        <p:spPr>
          <a:xfrm>
            <a:off x="7814920" y="408736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43484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Integration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604321" y="449884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4632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Calibration &amp; Debugging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840480" y="4846320"/>
            <a:ext cx="7894015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Shape 44"/>
          <p:cNvSpPr/>
          <p:nvPr/>
        </p:nvSpPr>
        <p:spPr>
          <a:xfrm>
            <a:off x="9393723" y="491032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257800"/>
            <a:ext cx="3246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Final Presentation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183124" y="5321808"/>
            <a:ext cx="1523939" cy="283464"/>
          </a:xfrm>
          <a:prstGeom prst="roundRect">
            <a:avLst>
              <a:gd name="adj" fmla="val 19355"/>
            </a:avLst>
          </a:prstGeom>
          <a:solidFill>
            <a:srgbClr val="0D9488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Distribution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77295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920240"/>
                <a:gridCol w="2331720"/>
                <a:gridCol w="44805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Module(s)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Responsibilities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254037B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CHAMIDYA J.A.S (IT)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Temperature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(PT100 + MAX31865)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Stabilization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Heating 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sensing firmware &amp; water-condition checks before spray.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254048J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SILVA P.S.S (IT)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 &amp;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 &amp; Leak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 logic, leak-triggered safety cut-off integration.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255078H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OMESH N.A.N (ITM)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 / Gas &amp;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Sensors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Ventilation &amp; Filtration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(Fans + Carbon Filter)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Fume monitoring, exhaust control logic, IoT dashboard/alerts.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254101R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KALANSOORIYA O.K (IT)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Limit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(Rail, Stepper, TMC2209)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Dipping-axis motion control, travel-limit safety logic.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255027D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GOONATILLAKA W.A.D.S.S (ITM)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Sensing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Spray &amp; UI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(Solenoid + LCD/Touchscreen)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Spray-timing control, film feed logic, user interface firmware.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623560"/>
            <a:ext cx="11277295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jointly contribute to overall ESP32 firmware architecture, system integration, and testing of safety interlocks across subsystems.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Stands 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6304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Real-World Relevance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real problems in small-scale manufacturing, automotive customization and product finishing.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07738" y="132588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08906" y="146304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Engineering Scope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over-mechanical or over-software-heavy — a well-balanced embedded systems project.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158277" y="132588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59445" y="146304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Safety Engineering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chemical exposure, ventilation and electrical isolation, which most student projects ignore.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70332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Thinking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Resembles a miniature smart manufacturing workstation rather than a hobby prototype.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07738" y="3566160"/>
            <a:ext cx="3576218" cy="1965960"/>
          </a:xfrm>
          <a:prstGeom prst="roundRect">
            <a:avLst>
              <a:gd name="adj" fmla="val 2791"/>
            </a:avLst>
          </a:prstGeom>
          <a:solidFill>
            <a:srgbClr val="E6FBF8"/>
          </a:solidFill>
          <a:ln w="12700">
            <a:solidFill>
              <a:srgbClr val="B7EB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8906" y="3703320"/>
            <a:ext cx="31738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Evaluation
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embedded systems, sensor integration, automation, power electronics and safety engineering in one project.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7729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Espressif Systems, "ESP32 Series Datasheet," 2023.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Texas Instruments, "PT100 RTD Temperature Sensing Reference Design," 2022.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Maxim Integrated / Analog Devices, "MAX31865 RTD-to-Digital Converter Datasheet," 2021.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Sensirion AG, "SGP30 Multi-Pixel Gas Sensor Datasheet," 2022.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ScioSense, "ENS160 Digital Air Quality Sensor Datasheet," 2023.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TRINAMIC Motion Control, "TMC2209 Datasheet — Silent StepStick Driver," 2022.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Omron Corporation, "General Purpose Limit Switch Catalogue," 2021.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Pepperl+Fuchs, "Ultrasonic Sensors for Level Measurement — Technical Guide," 2022.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M. P. Groover, "Fundamentals of Modern Manufacturing: Materials, Processes and Systems," Wiley, 2020.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Manufacturer application notes on hydrographic (water transfer) printing process fundamentals.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Hydro-Dipping Workstation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Smart Hydro-Dipping Workstation  •  B25 FIT Level 01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Compact Smart Hydro-Dipping Workstation</dc:title>
  <dc:subject>PptxGenJS Presentation</dc:subject>
  <dc:creator>B25 FIT Level 01 Group</dc:creator>
  <cp:lastModifiedBy>B25 FIT Level 01 Group</cp:lastModifiedBy>
  <cp:revision>1</cp:revision>
  <dcterms:created xsi:type="dcterms:W3CDTF">2026-07-07T02:26:14Z</dcterms:created>
  <dcterms:modified xsi:type="dcterms:W3CDTF">2026-07-07T02:26:14Z</dcterms:modified>
</cp:coreProperties>
</file>
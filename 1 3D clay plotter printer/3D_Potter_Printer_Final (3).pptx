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58" r:id="rId4"/>
    <p:sldId id="260" r:id="rId5"/>
    <p:sldId id="259" r:id="rId6"/>
    <p:sldId id="275" r:id="rId7"/>
    <p:sldId id="272" r:id="rId8"/>
    <p:sldId id="270" r:id="rId9"/>
    <p:sldId id="271" r:id="rId10"/>
    <p:sldId id="276" r:id="rId11"/>
    <p:sldId id="264" r:id="rId12"/>
    <p:sldId id="262" r:id="rId13"/>
    <p:sldId id="261" r:id="rId14"/>
    <p:sldId id="267" r:id="rId15"/>
    <p:sldId id="266" r:id="rId16"/>
    <p:sldId id="265" r:id="rId17"/>
    <p:sldId id="274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6FF7"/>
    <a:srgbClr val="1DA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8D110-FC1E-4AE0-9BE3-B7B0BDB9FCC4}" v="254" dt="2026-07-25T12:16:10.940"/>
    <p1510:client id="{0D5642CA-684B-40E6-8B92-4589CE5AF276}" v="111" dt="2026-07-25T11:26:47.271"/>
    <p1510:client id="{1DE55F0E-E602-4FEE-820F-1F00C4D2273F}" v="20" dt="2026-07-25T03:59:38.518"/>
    <p1510:client id="{1EAF6376-945C-4287-ADBC-47E89DE59629}" v="116" dt="2026-07-24T18:49:54.371"/>
    <p1510:client id="{4B041190-7440-4161-B947-503410A8441E}" v="1045" dt="2026-07-25T11:53:44.984"/>
    <p1510:client id="{4B98B335-7C52-48AF-AA3A-5E1D864F8724}" v="48" dt="2026-07-25T07:52:34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(LKR)</c:v>
                </c:pt>
              </c:strCache>
            </c:strRef>
          </c:tx>
          <c:spPr>
            <a:solidFill>
              <a:srgbClr val="F0A03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Frame</c:v>
                </c:pt>
                <c:pt idx="1">
                  <c:v>Motors</c:v>
                </c:pt>
                <c:pt idx="2">
                  <c:v>MCU</c:v>
                </c:pt>
                <c:pt idx="3">
                  <c:v>Drivers</c:v>
                </c:pt>
                <c:pt idx="4">
                  <c:v>Sensors</c:v>
                </c:pt>
                <c:pt idx="5">
                  <c:v>Display</c:v>
                </c:pt>
                <c:pt idx="6">
                  <c:v>Extruder</c:v>
                </c:pt>
                <c:pt idx="7">
                  <c:v>PSU</c:v>
                </c:pt>
                <c:pt idx="8">
                  <c:v>PCB</c:v>
                </c:pt>
                <c:pt idx="9">
                  <c:v>Misc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18000</c:v>
                </c:pt>
                <c:pt idx="1">
                  <c:v>16000</c:v>
                </c:pt>
                <c:pt idx="2">
                  <c:v>5500</c:v>
                </c:pt>
                <c:pt idx="3">
                  <c:v>5000</c:v>
                </c:pt>
                <c:pt idx="4">
                  <c:v>3500</c:v>
                </c:pt>
                <c:pt idx="5">
                  <c:v>4000</c:v>
                </c:pt>
                <c:pt idx="6">
                  <c:v>12000</c:v>
                </c:pt>
                <c:pt idx="7">
                  <c:v>6000</c:v>
                </c:pt>
                <c:pt idx="8">
                  <c:v>7000</c:v>
                </c:pt>
                <c:pt idx="9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7-4E97-942D-57866EF7C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81C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A34E1-FF83-4DDC-A146-58B181EC6B39}" type="datetimeFigureOut"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ABA31-FA69-4284-9AE0-588D97C58B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277B-D11E-DED0-4FAF-A1DC4450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0C8AF-7F73-D591-C197-8A494DD4C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F7EB8-2852-4EA4-39F4-E5B3F12AA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54D0A-EDF3-FCAC-4633-9BAD047EF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2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38AD-AFAD-2530-038D-3500ED66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9C4AB-E68D-2EE2-311F-9532ED12F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59107-952D-6EEE-5B18-2FA1E3DF9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29E5E-2E2A-24A2-7450-A7FAE005B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4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E7B7-92A5-9DD4-68B2-A3336B88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3F0EE-7CD0-29BB-4D7B-54CBCB562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6E3CF-D250-2E26-EE40-0B7A6A54C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3E79A-B468-34EA-9C81-FA2BE5654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40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74320"/>
            <a:ext cx="2011680" cy="2011680"/>
          </a:xfrm>
          <a:prstGeom prst="ellipse">
            <a:avLst/>
          </a:prstGeom>
          <a:solidFill>
            <a:srgbClr val="7C6FF7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640080"/>
            <a:ext cx="1280160" cy="1280160"/>
          </a:xfrm>
          <a:prstGeom prst="ellipse">
            <a:avLst/>
          </a:prstGeom>
          <a:solidFill>
            <a:srgbClr val="1EBFA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2926080"/>
            <a:ext cx="1645920" cy="1645920"/>
          </a:xfrm>
          <a:prstGeom prst="ellipse">
            <a:avLst/>
          </a:prstGeom>
          <a:solidFill>
            <a:srgbClr val="E860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200">
                <a:solidFill>
                  <a:srgbClr val="F0EEF8"/>
                </a:solidFill>
              </a:rPr>
              <a:t>LEVEL 01 PROJECT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274320" y="1404718"/>
            <a:ext cx="566928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0EEF8"/>
                </a:solidFill>
                <a:latin typeface="Georgia"/>
                <a:ea typeface="Georgia" pitchFamily="34" charset="-122"/>
                <a:cs typeface="Georgia" pitchFamily="34" charset="-120"/>
              </a:rPr>
              <a:t>Microcontroller         Based Dual – Mode Clay Fabrication System</a:t>
            </a:r>
            <a:endParaRPr lang="en-US" sz="400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8C8C8"/>
                </a:solidFill>
              </a:rPr>
              <a:t>Arduino / ESP32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8C8C8"/>
                </a:solidFill>
              </a:rPr>
              <a:t>Stepper Motors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8C8C8"/>
                </a:solidFill>
              </a:rPr>
              <a:t>Clay Extrusion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8C8C8"/>
                </a:solidFill>
              </a:rPr>
              <a:t>Sensor Suite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8C8C8"/>
                </a:solidFill>
              </a:rPr>
              <a:t>Real-Time Control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0EEF8"/>
                </a:solidFill>
              </a:rPr>
              <a:t>Microcontroller-Based 3D Potter Printer  ·  Automated Clay Printing System</a:t>
            </a:r>
            <a:endParaRPr lang="en-US" sz="100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9211D47-D9EF-815A-23E5-B737F1F17984}"/>
              </a:ext>
            </a:extLst>
          </p:cNvPr>
          <p:cNvSpPr/>
          <p:nvPr/>
        </p:nvSpPr>
        <p:spPr>
          <a:xfrm>
            <a:off x="6487434" y="211748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254037B – CHAMIDYA J.A.S (IT)</a:t>
            </a:r>
            <a:endParaRPr lang="en-US" sz="110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2EBBB4F-8867-658A-31C9-55A4DABCB29F}"/>
              </a:ext>
            </a:extLst>
          </p:cNvPr>
          <p:cNvSpPr/>
          <p:nvPr/>
        </p:nvSpPr>
        <p:spPr>
          <a:xfrm>
            <a:off x="6487434" y="241008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254048J – DE SILVA P.S.S (IT)</a:t>
            </a:r>
            <a:endParaRPr lang="en-US" sz="110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D32A0A8-6449-781F-2AF1-6677D6E3387A}"/>
              </a:ext>
            </a:extLst>
          </p:cNvPr>
          <p:cNvSpPr/>
          <p:nvPr/>
        </p:nvSpPr>
        <p:spPr>
          <a:xfrm>
            <a:off x="6487434" y="27026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255078H – OMESH N.A.N (ITM)</a:t>
            </a:r>
            <a:endParaRPr lang="en-US" sz="110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F7047A1-E36F-D36E-5C75-E176A2A73E9D}"/>
              </a:ext>
            </a:extLst>
          </p:cNvPr>
          <p:cNvSpPr/>
          <p:nvPr/>
        </p:nvSpPr>
        <p:spPr>
          <a:xfrm>
            <a:off x="6491830" y="297473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254101R – KALANSOORIYA O.K (IT)</a:t>
            </a:r>
            <a:endParaRPr lang="en-US" sz="110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FC3ACBE-FC62-1092-67D6-FC08CCDD8FC9}"/>
              </a:ext>
            </a:extLst>
          </p:cNvPr>
          <p:cNvSpPr/>
          <p:nvPr/>
        </p:nvSpPr>
        <p:spPr>
          <a:xfrm>
            <a:off x="6491830" y="326733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255027D – GOONATILLAKA W.A.D.S.S (ITM)</a:t>
            </a:r>
            <a:endParaRPr lang="en-US" sz="110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521AF7C-FB14-0E24-9918-5B4719A184EA}"/>
              </a:ext>
            </a:extLst>
          </p:cNvPr>
          <p:cNvSpPr/>
          <p:nvPr/>
        </p:nvSpPr>
        <p:spPr>
          <a:xfrm>
            <a:off x="274203" y="4444805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</a:rPr>
              <a:t>Supervisor: </a:t>
            </a: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Mr. B.H. Sudantha</a:t>
            </a:r>
            <a:endParaRPr lang="en-US" sz="11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69010-ACC7-93FA-4CF6-89A9BDFD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3E77B1-E94B-DDE9-5FA3-FCB7100D0C8A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86C387-BC68-7A26-3894-ED47E135E8E9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A9AEE6-295C-4EC5-15BB-FAD4C55A33F6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66C69C9-10D3-D009-74E6-40EAF4D8BE0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8A26523-C06F-E69D-F802-C6704102B358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Contents</a:t>
            </a:r>
            <a:endParaRPr lang="en-US" sz="900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2099693-4816-FB68-9C3E-0877ECDD3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08656"/>
              </p:ext>
            </p:extLst>
          </p:nvPr>
        </p:nvGraphicFramePr>
        <p:xfrm>
          <a:off x="604156" y="778328"/>
          <a:ext cx="3590924" cy="398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794594705"/>
                    </a:ext>
                  </a:extLst>
                </a:gridCol>
                <a:gridCol w="3133724">
                  <a:extLst>
                    <a:ext uri="{9D8B030D-6E8A-4147-A177-3AD203B41FA5}">
                      <a16:colId xmlns:a16="http://schemas.microsoft.com/office/drawing/2014/main" val="228649837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No.</a:t>
                      </a:r>
                    </a:p>
                  </a:txBody>
                  <a:tcPr>
                    <a:solidFill>
                      <a:srgbClr val="7C6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Content</a:t>
                      </a:r>
                    </a:p>
                  </a:txBody>
                  <a:tcPr>
                    <a:solidFill>
                      <a:srgbClr val="7C6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761692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96351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Key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43604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Aim and 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95368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Problem and 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170102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Block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981800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Operational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98183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Power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67736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Hand Drawn Sketch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06184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Automated Material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09181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Sensor System and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7484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Components and Technologies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23082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Expected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3234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9830D523-05ED-9304-C3F1-4ECB4DDCB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561408"/>
              </p:ext>
            </p:extLst>
          </p:nvPr>
        </p:nvGraphicFramePr>
        <p:xfrm>
          <a:off x="4680855" y="778328"/>
          <a:ext cx="3609975" cy="153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794594705"/>
                    </a:ext>
                  </a:extLst>
                </a:gridCol>
                <a:gridCol w="3152775">
                  <a:extLst>
                    <a:ext uri="{9D8B030D-6E8A-4147-A177-3AD203B41FA5}">
                      <a16:colId xmlns:a16="http://schemas.microsoft.com/office/drawing/2014/main" val="228649837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No.</a:t>
                      </a:r>
                    </a:p>
                  </a:txBody>
                  <a:tcPr>
                    <a:solidFill>
                      <a:srgbClr val="7C6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Content</a:t>
                      </a:r>
                    </a:p>
                  </a:txBody>
                  <a:tcPr>
                    <a:solidFill>
                      <a:srgbClr val="7C6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761692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Work Distribution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23082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Project Process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32340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163449"/>
                  </a:ext>
                </a:extLst>
              </a:tr>
              <a:tr h="3065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/>
                        <a:t>Conclusion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180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68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C8C8C8"/>
                </a:solidFill>
              </a:rPr>
              <a:t>This project designs and develops an automated 3D pottery printer capable of creating ceramic structures — cups, pots, vases, artistic models and prototypes — using microcontroller-based XYZ motion, clay extrusion, moisture monitoring, pattern drawing and shape accuracy.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🎯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6FF7"/>
                </a:solidFill>
              </a:rPr>
              <a:t>Purpose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Automate traditional pottery using precision engineering and microcontroller technology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⚙️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6FF7"/>
                </a:solidFill>
              </a:rPr>
              <a:t>Mechanism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C8C8C8"/>
                </a:solidFill>
              </a:rPr>
              <a:t>3-axis stepper motor gantry + auger/piston clay extrusion with nozzle control and pattern </a:t>
            </a:r>
            <a:r>
              <a:rPr lang="en-US" sz="1100" err="1">
                <a:solidFill>
                  <a:srgbClr val="C8C8C8"/>
                </a:solidFill>
              </a:rPr>
              <a:t>drawi</a:t>
            </a:r>
            <a:r>
              <a:rPr lang="en-US" sz="1100">
                <a:solidFill>
                  <a:srgbClr val="C8C8C8"/>
                </a:solidFill>
              </a:rPr>
              <a:t>ng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📡</a:t>
            </a:r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6FF7"/>
                </a:solidFill>
              </a:rPr>
              <a:t>Sensing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Moisture, load cell, ultrasonic, limit switches &amp; DHT22 for environment monitoring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🖥️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6FF7"/>
                </a:solidFill>
              </a:rPr>
              <a:t>Interface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562356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LCD display, keypad, SD card input, real-time status &amp; safety shut-off system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</a:t>
            </a:r>
            <a:r>
              <a:rPr lang="en-US" sz="900" err="1">
                <a:solidFill>
                  <a:srgbClr val="F0EEF8"/>
                </a:solidFill>
              </a:rPr>
              <a:t>Introduc</a:t>
            </a:r>
            <a:r>
              <a:rPr lang="en-US" sz="900">
                <a:solidFill>
                  <a:srgbClr val="F0EEF8"/>
                </a:solidFill>
              </a:rPr>
              <a:t>tion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📐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33272" y="868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3-Axis Motion Control (X, Y, Z)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🔩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468112" y="868680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  <a:ea typeface="Calibri"/>
                <a:cs typeface="Calibri"/>
              </a:rPr>
              <a:t>Automated Pattern Drawing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636776"/>
            <a:ext cx="64008" cy="6400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🪣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033272" y="1636776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</a:rPr>
              <a:t>Controlled Clay Extrusion (Auger)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636776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💧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5468112" y="16367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Moisture Sensor — Anti-Clog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2004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404872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🎚️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1033272" y="2404872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</a:rPr>
              <a:t>Automated Material Preparation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404872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🌡️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468112" y="24048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Temperature &amp; Humidity Monitor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32004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172968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🖥️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103327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LCD Display + Keypad Interface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475488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172968"/>
            <a:ext cx="64008" cy="6400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💾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546811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SD Card / USB File Input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32004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941064"/>
            <a:ext cx="64008" cy="640080"/>
          </a:xfrm>
          <a:prstGeom prst="rect">
            <a:avLst/>
          </a:prstGeom>
          <a:solidFill>
            <a:srgbClr val="E03A3A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🛑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1033272" y="39410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EEF8"/>
                </a:solidFill>
              </a:rPr>
              <a:t>Emergency Safety Shut-Off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475488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941064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📊</a:t>
            </a:r>
            <a:endParaRPr lang="en-US" sz="1800"/>
          </a:p>
        </p:txBody>
      </p:sp>
      <p:sp>
        <p:nvSpPr>
          <p:cNvPr id="44" name="Text 42"/>
          <p:cNvSpPr/>
          <p:nvPr/>
        </p:nvSpPr>
        <p:spPr>
          <a:xfrm>
            <a:off x="5468112" y="3941064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</a:rPr>
              <a:t>Bust / Sculpture Creation</a:t>
            </a:r>
            <a:endParaRPr lang="en-US" sz="120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Key Features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84048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0F1117"/>
                </a:solidFill>
              </a:rPr>
              <a:t>AIM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6616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C8C8C8"/>
                </a:solidFill>
              </a:rPr>
              <a:t>To design and develop a fully automated, microcontroller-based 3D pottery printer that can fabricate ceramic objects from digital designs — replacing manual pottery techniques with precise, repeatable, sensor-guided clay extrusion and pattern drawing.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solidFill>
            <a:srgbClr val="1EBFA0">
              <a:alpha val="85000"/>
            </a:srgbClr>
          </a:solidFill>
          <a:ln w="12700">
            <a:solidFill>
              <a:srgbClr val="1EB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Automate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solidFill>
            <a:srgbClr val="7C6FF7">
              <a:alpha val="85000"/>
            </a:srgbClr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Precision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solidFill>
            <a:srgbClr val="3A8FE8">
              <a:alpha val="85000"/>
            </a:srgbClr>
          </a:solidFill>
          <a:ln w="12700">
            <a:solidFill>
              <a:srgbClr val="3A8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Reproduce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389120" y="822960"/>
            <a:ext cx="443484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F0EEF8"/>
                </a:solidFill>
              </a:rPr>
              <a:t>OBJECTIVES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4526280" y="1408176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1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919472" y="1389888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</a:rPr>
              <a:t>Design a 3-axis (X, Y, Z) stepper motor gantry system with auto-bed leveling for accurate layer-by-layer clay deposition and automated pattern designing.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526280" y="2039112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2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919472" y="202082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Develop a clay extrusion mechanism using an auger/piston system with moisture-sensor feedback to prevent nozzle clogging.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526280" y="2670048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3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919472" y="2651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Program a microcontroller (Arduino Mega / ESP32) to interpret G-code, control motion, and manage sensor-driven adjustments.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526280" y="3300984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919472" y="32826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Integrate a sensor suite (moisture, load cell, ultrasonic, DHT22, limit switches) for automated material identification.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26280" y="3931920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5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919472" y="39136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Implement a user interface with LCD display, keypad, and SD card input, including a safety emergency-stop system.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Aim &amp; Objectives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52F59-7036-28A6-97D7-EC5698AD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B31E0D-34DF-F08B-3419-4E0A627E287D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4956BD-B069-718E-A9E5-BCCAED58AEE2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6E5F5D-51BA-7984-160C-066E29E8D80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Problem and Proposed Solution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B4BCB1-49AB-B87A-1AE8-A462F71FFFB6}"/>
              </a:ext>
            </a:extLst>
          </p:cNvPr>
          <p:cNvSpPr/>
          <p:nvPr/>
        </p:nvSpPr>
        <p:spPr>
          <a:xfrm>
            <a:off x="320040" y="822960"/>
            <a:ext cx="384048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0B02D3-157C-9AFD-7B1E-D1AD1C4B88D2}"/>
              </a:ext>
            </a:extLst>
          </p:cNvPr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A3A66C-22A8-6DE2-732C-58A4FF6D71E5}"/>
              </a:ext>
            </a:extLst>
          </p:cNvPr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0F1117"/>
                </a:solidFill>
                <a:ea typeface="Calibri"/>
                <a:cs typeface="Calibri"/>
              </a:rPr>
              <a:t>PROBLEM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B4B86B3-9EA2-979F-1344-B42462A6B22E}"/>
              </a:ext>
            </a:extLst>
          </p:cNvPr>
          <p:cNvSpPr/>
          <p:nvPr/>
        </p:nvSpPr>
        <p:spPr>
          <a:xfrm>
            <a:off x="4389120" y="822960"/>
            <a:ext cx="443484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1F43AE-513B-AF34-7141-507AD2374221}"/>
              </a:ext>
            </a:extLst>
          </p:cNvPr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solidFill>
            <a:srgbClr val="1DA68E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DF93AE-C483-6418-02E0-64BBB12D511F}"/>
              </a:ext>
            </a:extLst>
          </p:cNvPr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F0EEF8"/>
                </a:solidFill>
                <a:ea typeface="Calibri"/>
                <a:cs typeface="Calibri"/>
              </a:rPr>
              <a:t>SOLUTION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F7D6050-8EC2-BBBC-C77D-D2C12963AF79}"/>
              </a:ext>
            </a:extLst>
          </p:cNvPr>
          <p:cNvSpPr/>
          <p:nvPr/>
        </p:nvSpPr>
        <p:spPr>
          <a:xfrm>
            <a:off x="4526280" y="1408176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A5EAA8-4163-5200-CEC2-6667818DE08F}"/>
              </a:ext>
            </a:extLst>
          </p:cNvPr>
          <p:cNvSpPr/>
          <p:nvPr/>
        </p:nvSpPr>
        <p:spPr>
          <a:xfrm>
            <a:off x="45262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1</a:t>
            </a:r>
            <a:endParaRPr lang="en-US" sz="11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F2FEC55-C2E5-07B5-7940-31307F12F71E}"/>
              </a:ext>
            </a:extLst>
          </p:cNvPr>
          <p:cNvSpPr/>
          <p:nvPr/>
        </p:nvSpPr>
        <p:spPr>
          <a:xfrm>
            <a:off x="4919472" y="1389888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  <a:ea typeface="+mn-lt"/>
                <a:cs typeface="+mn-lt"/>
              </a:rPr>
              <a:t>One ESP32-based 3-axis (X, Y, Z) gantry prints both pottery vessels and sculptural forms from a digital G-code file — no separate machines needed.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179C9ED-F2CF-D926-CAEE-D04BACEE9E74}"/>
              </a:ext>
            </a:extLst>
          </p:cNvPr>
          <p:cNvSpPr/>
          <p:nvPr/>
        </p:nvSpPr>
        <p:spPr>
          <a:xfrm>
            <a:off x="4526280" y="2039112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367C9F-7AB7-A1EF-AE09-B55D632AD20C}"/>
              </a:ext>
            </a:extLst>
          </p:cNvPr>
          <p:cNvSpPr/>
          <p:nvPr/>
        </p:nvSpPr>
        <p:spPr>
          <a:xfrm>
            <a:off x="452628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2</a:t>
            </a:r>
            <a:endParaRPr lang="en-US" sz="11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B46D14-5A4E-B2CF-FF00-A683319D7CCB}"/>
              </a:ext>
            </a:extLst>
          </p:cNvPr>
          <p:cNvSpPr/>
          <p:nvPr/>
        </p:nvSpPr>
        <p:spPr>
          <a:xfrm>
            <a:off x="4919472" y="2020824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  <a:ea typeface="+mn-lt"/>
                <a:cs typeface="+mn-lt"/>
              </a:rPr>
              <a:t>Automated material preparation (mixing + moisture sensing) removes manual clay loading and pre-mixing entirely.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E265B68-C5CC-7377-499F-11BCB0B295C3}"/>
              </a:ext>
            </a:extLst>
          </p:cNvPr>
          <p:cNvSpPr/>
          <p:nvPr/>
        </p:nvSpPr>
        <p:spPr>
          <a:xfrm>
            <a:off x="4526280" y="2670048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8D8F24-CDBF-72EF-B851-FDE3A98DD6A5}"/>
              </a:ext>
            </a:extLst>
          </p:cNvPr>
          <p:cNvSpPr/>
          <p:nvPr/>
        </p:nvSpPr>
        <p:spPr>
          <a:xfrm>
            <a:off x="45262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3</a:t>
            </a:r>
            <a:endParaRPr lang="en-US"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F18F92-5273-BB43-4569-81BA1B31E120}"/>
              </a:ext>
            </a:extLst>
          </p:cNvPr>
          <p:cNvSpPr/>
          <p:nvPr/>
        </p:nvSpPr>
        <p:spPr>
          <a:xfrm>
            <a:off x="4919472" y="2651760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  <a:ea typeface="+mn-lt"/>
                <a:cs typeface="+mn-lt"/>
              </a:rPr>
              <a:t>Built for ~Rs. 87,000 – 95,000 — a fraction of the cost of single-purpose commercial clay printers.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1D494FF-79A2-0B94-D542-3614AF347CC9}"/>
              </a:ext>
            </a:extLst>
          </p:cNvPr>
          <p:cNvSpPr/>
          <p:nvPr/>
        </p:nvSpPr>
        <p:spPr>
          <a:xfrm>
            <a:off x="4526280" y="3300984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9B7F7D-C8DE-1A7B-E529-D5EA6665958F}"/>
              </a:ext>
            </a:extLst>
          </p:cNvPr>
          <p:cNvSpPr/>
          <p:nvPr/>
        </p:nvSpPr>
        <p:spPr>
          <a:xfrm>
            <a:off x="45262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4</a:t>
            </a:r>
            <a:endParaRPr lang="en-US"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3C64973-9949-8809-C1EE-8F209F5829D3}"/>
              </a:ext>
            </a:extLst>
          </p:cNvPr>
          <p:cNvSpPr/>
          <p:nvPr/>
        </p:nvSpPr>
        <p:spPr>
          <a:xfrm>
            <a:off x="4919472" y="3282696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----</a:t>
            </a:r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DE60C70-E3FA-781D-BF14-5A0E86C17D87}"/>
              </a:ext>
            </a:extLst>
          </p:cNvPr>
          <p:cNvSpPr/>
          <p:nvPr/>
        </p:nvSpPr>
        <p:spPr>
          <a:xfrm>
            <a:off x="4526280" y="3931920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CEBA1A-8BE0-E2A2-EE26-2995EAD0863E}"/>
              </a:ext>
            </a:extLst>
          </p:cNvPr>
          <p:cNvSpPr/>
          <p:nvPr/>
        </p:nvSpPr>
        <p:spPr>
          <a:xfrm>
            <a:off x="45262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5</a:t>
            </a:r>
            <a:endParaRPr lang="en-US"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A5782F2-FA14-70C3-CA08-D38BB68ED4BD}"/>
              </a:ext>
            </a:extLst>
          </p:cNvPr>
          <p:cNvSpPr/>
          <p:nvPr/>
        </p:nvSpPr>
        <p:spPr>
          <a:xfrm>
            <a:off x="4919472" y="3913632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-----</a:t>
            </a:r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5E03BF2-2A98-6CE2-7C51-3E77BA689100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87619FA-906D-60A7-DF1B-17F3AD3368F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 Problem and Proposed Solution</a:t>
            </a:r>
            <a:endParaRPr lang="en-US" sz="90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263ABA58-854F-0ABA-DF19-228B642F66C2}"/>
              </a:ext>
            </a:extLst>
          </p:cNvPr>
          <p:cNvSpPr/>
          <p:nvPr/>
        </p:nvSpPr>
        <p:spPr>
          <a:xfrm>
            <a:off x="438694" y="1435390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F8959C63-B4A7-7F94-E0AB-FC11D809AB7D}"/>
              </a:ext>
            </a:extLst>
          </p:cNvPr>
          <p:cNvSpPr/>
          <p:nvPr/>
        </p:nvSpPr>
        <p:spPr>
          <a:xfrm>
            <a:off x="438694" y="14353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1</a:t>
            </a:r>
            <a:endParaRPr lang="en-US" sz="110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1DCD650E-85C8-9909-79F1-FA7DB0016963}"/>
              </a:ext>
            </a:extLst>
          </p:cNvPr>
          <p:cNvSpPr/>
          <p:nvPr/>
        </p:nvSpPr>
        <p:spPr>
          <a:xfrm>
            <a:off x="831886" y="1411660"/>
            <a:ext cx="3324497" cy="6540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  <a:ea typeface="+mn-lt"/>
                <a:cs typeface="+mn-lt"/>
              </a:rPr>
              <a:t>Hand-thrown pottery demands years of skill — wall thickness, shape and repeatability are hard for beginners, small studios and educators to achieve consistently.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125D49A-A0D6-16B9-5EEB-3E475402B191}"/>
              </a:ext>
            </a:extLst>
          </p:cNvPr>
          <p:cNvSpPr/>
          <p:nvPr/>
        </p:nvSpPr>
        <p:spPr>
          <a:xfrm>
            <a:off x="438694" y="2066326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A944D6B0-A1C5-B029-5B98-7F1EA6E26846}"/>
              </a:ext>
            </a:extLst>
          </p:cNvPr>
          <p:cNvSpPr/>
          <p:nvPr/>
        </p:nvSpPr>
        <p:spPr>
          <a:xfrm>
            <a:off x="438694" y="20663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2</a:t>
            </a:r>
            <a:endParaRPr lang="en-US" sz="110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80C2B83-CAC2-41FB-DBFF-F05904E3B052}"/>
              </a:ext>
            </a:extLst>
          </p:cNvPr>
          <p:cNvSpPr/>
          <p:nvPr/>
        </p:nvSpPr>
        <p:spPr>
          <a:xfrm>
            <a:off x="831886" y="2042596"/>
            <a:ext cx="3324498" cy="5560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dirty="0">
                <a:solidFill>
                  <a:srgbClr val="C8C8C8"/>
                </a:solidFill>
                <a:ea typeface="+mn-lt"/>
                <a:cs typeface="+mn-lt"/>
              </a:rPr>
              <a:t>Existing commercial clay 3D printers (e.g. WASP, Delta WASP) are single-purpose, expensive, and require manually pre-mixed clay to be loaded by hand.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40A3E47F-09E8-20C9-483E-EE1E2EC20BE8}"/>
              </a:ext>
            </a:extLst>
          </p:cNvPr>
          <p:cNvSpPr/>
          <p:nvPr/>
        </p:nvSpPr>
        <p:spPr>
          <a:xfrm>
            <a:off x="438694" y="2697262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AD5B0A19-E1C9-DE00-FAA0-8CBF66F0A400}"/>
              </a:ext>
            </a:extLst>
          </p:cNvPr>
          <p:cNvSpPr/>
          <p:nvPr/>
        </p:nvSpPr>
        <p:spPr>
          <a:xfrm>
            <a:off x="438694" y="269726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3</a:t>
            </a:r>
            <a:endParaRPr lang="en-US" sz="110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5C86B570-BEB8-6D38-9F68-D2BFE296E657}"/>
              </a:ext>
            </a:extLst>
          </p:cNvPr>
          <p:cNvSpPr/>
          <p:nvPr/>
        </p:nvSpPr>
        <p:spPr>
          <a:xfrm>
            <a:off x="831886" y="2673532"/>
            <a:ext cx="3319055" cy="5560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C8C8C8"/>
                </a:solidFill>
                <a:ea typeface="+mn-lt"/>
                <a:cs typeface="+mn-lt"/>
              </a:rPr>
              <a:t>Hobbyists, small studios and ceramics/STEAM education programs have no affordable, versatile machine that covers both pottery and sculptural work.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88100585-AFB9-22C5-6B06-6BA891FB38E2}"/>
              </a:ext>
            </a:extLst>
          </p:cNvPr>
          <p:cNvSpPr/>
          <p:nvPr/>
        </p:nvSpPr>
        <p:spPr>
          <a:xfrm>
            <a:off x="438694" y="3328198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9C969C36-6C49-4B01-5ECD-8D33ED0E9F8B}"/>
              </a:ext>
            </a:extLst>
          </p:cNvPr>
          <p:cNvSpPr/>
          <p:nvPr/>
        </p:nvSpPr>
        <p:spPr>
          <a:xfrm>
            <a:off x="438694" y="33281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4</a:t>
            </a:r>
            <a:endParaRPr lang="en-US" sz="110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D0FDE359-8773-5967-7609-6C91C5841047}"/>
              </a:ext>
            </a:extLst>
          </p:cNvPr>
          <p:cNvSpPr/>
          <p:nvPr/>
        </p:nvSpPr>
        <p:spPr>
          <a:xfrm>
            <a:off x="831886" y="3309910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------</a:t>
            </a:r>
            <a:endParaRPr lang="en-US" sz="1050">
              <a:solidFill>
                <a:srgbClr val="C8C8C8"/>
              </a:solidFill>
              <a:ea typeface="Calibri"/>
              <a:cs typeface="Calibri"/>
            </a:endParaRPr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AA67B6DE-A73C-121A-2376-0A90086A1145}"/>
              </a:ext>
            </a:extLst>
          </p:cNvPr>
          <p:cNvSpPr/>
          <p:nvPr/>
        </p:nvSpPr>
        <p:spPr>
          <a:xfrm>
            <a:off x="438694" y="3959134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C04D78FD-2252-AA64-0A31-E6CEA842D5E4}"/>
              </a:ext>
            </a:extLst>
          </p:cNvPr>
          <p:cNvSpPr/>
          <p:nvPr/>
        </p:nvSpPr>
        <p:spPr>
          <a:xfrm>
            <a:off x="438694" y="39591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0EEF8"/>
                </a:solidFill>
              </a:rPr>
              <a:t>5</a:t>
            </a:r>
            <a:endParaRPr lang="en-US" sz="110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8E0371F9-5DD1-9871-802D-840A86C0399B}"/>
              </a:ext>
            </a:extLst>
          </p:cNvPr>
          <p:cNvSpPr/>
          <p:nvPr/>
        </p:nvSpPr>
        <p:spPr>
          <a:xfrm>
            <a:off x="831886" y="3940846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-----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4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2D1BE-34BC-FB6A-6C4D-DBFEA5FD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70EBAD-D2A6-E723-9F8D-3717E8C9567E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5A911-411B-D19F-99E6-B6BF8576ABE6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3D0F0A-B334-6771-C93D-2D6F5EED268D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9D35461-A127-47CB-4075-74D1B29E933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CB122A5-E829-0D06-7343-11489F57998B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System Block Diagram</a:t>
            </a:r>
            <a:endParaRPr lang="en-US"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30205-C2C7-DCD5-DB7B-B9A44D80A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293" y="522514"/>
            <a:ext cx="5414241" cy="425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0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9C05460-1503-F0DC-7D3D-2EC4132E7878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A12FA18-B17C-0289-BD0F-C09668C46D1C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6AEE5E8-FDE3-7E7E-B412-F5F6DE22A4B3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Operational Flow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85AB130-E459-B6D7-7C25-7542B31B5A6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E1626C5-3FC6-588C-9411-D898ACAA102E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Operational Flow</a:t>
            </a:r>
            <a:endParaRPr lang="en-US" sz="9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05EE26-B99C-3E23-9A03-3984E3DD3E65}"/>
              </a:ext>
            </a:extLst>
          </p:cNvPr>
          <p:cNvGrpSpPr/>
          <p:nvPr/>
        </p:nvGrpSpPr>
        <p:grpSpPr>
          <a:xfrm>
            <a:off x="230474" y="775306"/>
            <a:ext cx="2506513" cy="814579"/>
            <a:chOff x="201168" y="841248"/>
            <a:chExt cx="4133088" cy="909828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48F85813-D7D3-5F5A-D2A0-DCC7371B02F6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0B2F5558-9F4B-8C0E-E0C7-71D6317FDD85}"/>
                </a:ext>
              </a:extLst>
            </p:cNvPr>
            <p:cNvSpPr/>
            <p:nvPr/>
          </p:nvSpPr>
          <p:spPr>
            <a:xfrm>
              <a:off x="201168" y="841248"/>
              <a:ext cx="4133088" cy="256032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3A6108D-C533-3954-F803-00010EC130A2}"/>
                </a:ext>
              </a:extLst>
            </p:cNvPr>
            <p:cNvSpPr/>
            <p:nvPr/>
          </p:nvSpPr>
          <p:spPr>
            <a:xfrm>
              <a:off x="397454" y="89980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indent="-228600">
                <a:buAutoNum type="arabicPeriod"/>
              </a:pPr>
              <a:r>
                <a:rPr lang="en-US" sz="950" b="1">
                  <a:solidFill>
                    <a:srgbClr val="FFFFFF"/>
                  </a:solidFill>
                </a:rPr>
                <a:t>System Start &amp; Initialization</a:t>
              </a:r>
              <a:endParaRPr lang="en-US" sz="95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E708D0B-2054-6685-56C0-5891D764C3DD}"/>
                </a:ext>
              </a:extLst>
            </p:cNvPr>
            <p:cNvSpPr/>
            <p:nvPr/>
          </p:nvSpPr>
          <p:spPr>
            <a:xfrm>
              <a:off x="292608" y="11338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0D1B3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Power ON → MCU boots</a:t>
              </a:r>
              <a:endParaRPr lang="en-US" sz="85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75A98A27-0A23-90D0-6E79-38EFB1AF1C80}"/>
                </a:ext>
              </a:extLst>
            </p:cNvPr>
            <p:cNvSpPr/>
            <p:nvPr/>
          </p:nvSpPr>
          <p:spPr>
            <a:xfrm>
              <a:off x="292608" y="130302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0D1B3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Self-check: Motors, Sensors, Modules</a:t>
              </a:r>
              <a:endParaRPr lang="en-US" sz="85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D9E53480-8719-B25E-DF69-F4D8859C35E2}"/>
                </a:ext>
              </a:extLst>
            </p:cNvPr>
            <p:cNvSpPr/>
            <p:nvPr/>
          </p:nvSpPr>
          <p:spPr>
            <a:xfrm>
              <a:off x="292608" y="147218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0D1B3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Display: System Ready – Load Material</a:t>
              </a:r>
              <a:endParaRPr lang="en-US" sz="8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85E0FC-F6D0-09A8-8335-AE6999DE2E40}"/>
              </a:ext>
            </a:extLst>
          </p:cNvPr>
          <p:cNvGrpSpPr/>
          <p:nvPr/>
        </p:nvGrpSpPr>
        <p:grpSpPr>
          <a:xfrm>
            <a:off x="230474" y="1663915"/>
            <a:ext cx="2506513" cy="814579"/>
            <a:chOff x="201168" y="1847088"/>
            <a:chExt cx="4133088" cy="909828"/>
          </a:xfrm>
        </p:grpSpPr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6C1C35FD-EDA8-EA5C-910E-BE6B8DE05BAB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16">
              <a:extLst>
                <a:ext uri="{FF2B5EF4-FFF2-40B4-BE49-F238E27FC236}">
                  <a16:creationId xmlns:a16="http://schemas.microsoft.com/office/drawing/2014/main" id="{A4975A45-AD84-5D3F-F279-5FA0C0C9CABE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19">
              <a:extLst>
                <a:ext uri="{FF2B5EF4-FFF2-40B4-BE49-F238E27FC236}">
                  <a16:creationId xmlns:a16="http://schemas.microsoft.com/office/drawing/2014/main" id="{F4A8E0CE-DBAD-D31B-DAE2-C64559080679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2.   Material Loading</a:t>
              </a:r>
              <a:endParaRPr lang="en-US" sz="950"/>
            </a:p>
          </p:txBody>
        </p:sp>
        <p:sp>
          <p:nvSpPr>
            <p:cNvPr id="63" name="Text 20">
              <a:extLst>
                <a:ext uri="{FF2B5EF4-FFF2-40B4-BE49-F238E27FC236}">
                  <a16:creationId xmlns:a16="http://schemas.microsoft.com/office/drawing/2014/main" id="{FF563880-4300-B99E-6A51-A552623436BA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User loads clay (earthenware, semi-dry)</a:t>
              </a:r>
              <a:endParaRPr lang="en-US" sz="850"/>
            </a:p>
          </p:txBody>
        </p:sp>
        <p:sp>
          <p:nvSpPr>
            <p:cNvPr id="64" name="Text 21">
              <a:extLst>
                <a:ext uri="{FF2B5EF4-FFF2-40B4-BE49-F238E27FC236}">
                  <a16:creationId xmlns:a16="http://schemas.microsoft.com/office/drawing/2014/main" id="{9FD7B8B5-4C0A-7CC5-29B9-F32AC3289201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User adds initial water</a:t>
              </a:r>
              <a:endParaRPr lang="en-US" sz="850"/>
            </a:p>
          </p:txBody>
        </p:sp>
        <p:sp>
          <p:nvSpPr>
            <p:cNvPr id="65" name="Text 22">
              <a:extLst>
                <a:ext uri="{FF2B5EF4-FFF2-40B4-BE49-F238E27FC236}">
                  <a16:creationId xmlns:a16="http://schemas.microsoft.com/office/drawing/2014/main" id="{717241FC-F016-7442-63E7-EEAA20854F1C}"/>
                </a:ext>
              </a:extLst>
            </p:cNvPr>
            <p:cNvSpPr/>
            <p:nvPr/>
          </p:nvSpPr>
          <p:spPr>
            <a:xfrm>
              <a:off x="292608" y="247802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No manual mixing required</a:t>
              </a:r>
              <a:endParaRPr lang="en-US" sz="8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1BB147C-62E9-9DA5-982B-D71DBE1123E0}"/>
              </a:ext>
            </a:extLst>
          </p:cNvPr>
          <p:cNvGrpSpPr/>
          <p:nvPr/>
        </p:nvGrpSpPr>
        <p:grpSpPr>
          <a:xfrm>
            <a:off x="230473" y="2571006"/>
            <a:ext cx="2506514" cy="1297549"/>
            <a:chOff x="201168" y="836510"/>
            <a:chExt cx="4133088" cy="914566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C9D912C5-F872-3A63-1455-2053FB58C9B5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7">
              <a:extLst>
                <a:ext uri="{FF2B5EF4-FFF2-40B4-BE49-F238E27FC236}">
                  <a16:creationId xmlns:a16="http://schemas.microsoft.com/office/drawing/2014/main" id="{C2F677EC-7D75-BAEF-FAA8-4BBC613599DC}"/>
                </a:ext>
              </a:extLst>
            </p:cNvPr>
            <p:cNvSpPr/>
            <p:nvPr/>
          </p:nvSpPr>
          <p:spPr>
            <a:xfrm>
              <a:off x="201168" y="841248"/>
              <a:ext cx="4133088" cy="204389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0DE95BB8-AADC-EB6A-9E48-A8D8F6BCC39E}"/>
                </a:ext>
              </a:extLst>
            </p:cNvPr>
            <p:cNvSpPr/>
            <p:nvPr/>
          </p:nvSpPr>
          <p:spPr>
            <a:xfrm>
              <a:off x="397454" y="836510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>
                  <a:solidFill>
                    <a:srgbClr val="FFFFFF"/>
                  </a:solidFill>
                </a:rPr>
                <a:t>3.   Automated Material Prep</a:t>
              </a:r>
              <a:r>
                <a:rPr lang="en-US" sz="1000">
                  <a:solidFill>
                    <a:srgbClr val="000000"/>
                  </a:solidFill>
                </a:rPr>
                <a:t>3. </a:t>
              </a:r>
            </a:p>
          </p:txBody>
        </p:sp>
      </p:grpSp>
      <p:sp>
        <p:nvSpPr>
          <p:cNvPr id="73" name="Text 31">
            <a:extLst>
              <a:ext uri="{FF2B5EF4-FFF2-40B4-BE49-F238E27FC236}">
                <a16:creationId xmlns:a16="http://schemas.microsoft.com/office/drawing/2014/main" id="{1AE54C38-FF23-2018-7079-3B822A953B61}"/>
              </a:ext>
            </a:extLst>
          </p:cNvPr>
          <p:cNvSpPr/>
          <p:nvPr/>
        </p:nvSpPr>
        <p:spPr>
          <a:xfrm>
            <a:off x="241319" y="283751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Mixer motor rotates: clay + water combine</a:t>
            </a:r>
            <a:endParaRPr lang="en-US" sz="85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C797280C-6472-C765-6620-AD8E40F2ADE3}"/>
              </a:ext>
            </a:extLst>
          </p:cNvPr>
          <p:cNvSpPr/>
          <p:nvPr/>
        </p:nvSpPr>
        <p:spPr>
          <a:xfrm>
            <a:off x="241319" y="30066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Load cell + HX711 measures extrusion resistance</a:t>
            </a:r>
            <a:endParaRPr lang="en-US" sz="85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EE20EF89-ED83-E3D1-75AA-D6208671E3F7}"/>
              </a:ext>
            </a:extLst>
          </p:cNvPr>
          <p:cNvSpPr/>
          <p:nvPr/>
        </p:nvSpPr>
        <p:spPr>
          <a:xfrm>
            <a:off x="241319" y="317584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Motor current monitors torque behavior</a:t>
            </a:r>
            <a:endParaRPr lang="en-US" sz="850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B3B15E67-E17B-259A-C26D-F90AA522D7FD}"/>
              </a:ext>
            </a:extLst>
          </p:cNvPr>
          <p:cNvSpPr/>
          <p:nvPr/>
        </p:nvSpPr>
        <p:spPr>
          <a:xfrm>
            <a:off x="241319" y="334500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Auto loop: Mix → Test → Adjust → Repeat</a:t>
            </a:r>
            <a:endParaRPr lang="en-US" sz="85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8AFB4AE5-8568-7E9B-020A-458468935546}"/>
              </a:ext>
            </a:extLst>
          </p:cNvPr>
          <p:cNvSpPr/>
          <p:nvPr/>
        </p:nvSpPr>
        <p:spPr>
          <a:xfrm>
            <a:off x="241319" y="351416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Too thick? → Add water | Too soft? → Continue mix</a:t>
            </a:r>
            <a:endParaRPr lang="en-US" sz="850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494C8560-EADA-0CAF-2453-6679A02ACEFF}"/>
              </a:ext>
            </a:extLst>
          </p:cNvPr>
          <p:cNvSpPr/>
          <p:nvPr/>
        </p:nvSpPr>
        <p:spPr>
          <a:xfrm>
            <a:off x="241319" y="368333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Target range met → Material Ready</a:t>
            </a:r>
            <a:endParaRPr lang="en-US" sz="85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9EF814-E530-36F5-6859-970B6DB659F0}"/>
              </a:ext>
            </a:extLst>
          </p:cNvPr>
          <p:cNvGrpSpPr/>
          <p:nvPr/>
        </p:nvGrpSpPr>
        <p:grpSpPr>
          <a:xfrm>
            <a:off x="230474" y="3949915"/>
            <a:ext cx="2506513" cy="814579"/>
            <a:chOff x="201168" y="1847088"/>
            <a:chExt cx="4133088" cy="909828"/>
          </a:xfrm>
        </p:grpSpPr>
        <p:sp>
          <p:nvSpPr>
            <p:cNvPr id="80" name="Shape 15">
              <a:extLst>
                <a:ext uri="{FF2B5EF4-FFF2-40B4-BE49-F238E27FC236}">
                  <a16:creationId xmlns:a16="http://schemas.microsoft.com/office/drawing/2014/main" id="{9902AAB6-E8ED-8887-A94C-B00F495FE33C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16">
              <a:extLst>
                <a:ext uri="{FF2B5EF4-FFF2-40B4-BE49-F238E27FC236}">
                  <a16:creationId xmlns:a16="http://schemas.microsoft.com/office/drawing/2014/main" id="{1D8A98AA-F2CA-02D0-8C44-D98EA76F6715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19">
              <a:extLst>
                <a:ext uri="{FF2B5EF4-FFF2-40B4-BE49-F238E27FC236}">
                  <a16:creationId xmlns:a16="http://schemas.microsoft.com/office/drawing/2014/main" id="{6EF54CCC-09C6-B479-3742-5F452D52AE5A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  <a:ea typeface="Calibri"/>
                  <a:cs typeface="Calibri"/>
                </a:rPr>
                <a:t>4.   Material Transfer to Extruder</a:t>
              </a:r>
            </a:p>
          </p:txBody>
        </p:sp>
        <p:sp>
          <p:nvSpPr>
            <p:cNvPr id="83" name="Text 20">
              <a:extLst>
                <a:ext uri="{FF2B5EF4-FFF2-40B4-BE49-F238E27FC236}">
                  <a16:creationId xmlns:a16="http://schemas.microsoft.com/office/drawing/2014/main" id="{C6866A72-9737-D87B-4B81-40104BC40CA3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Prepared clay flows to extrusion chamber</a:t>
              </a:r>
              <a:endParaRPr lang="en-US" sz="9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84" name="Text 21">
              <a:extLst>
                <a:ext uri="{FF2B5EF4-FFF2-40B4-BE49-F238E27FC236}">
                  <a16:creationId xmlns:a16="http://schemas.microsoft.com/office/drawing/2014/main" id="{F639B725-0A01-F533-7AD5-A9FEC89F2BB4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Pressure stabilized before print start</a:t>
              </a:r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2D94988-AB38-860E-DA93-03E49299A996}"/>
              </a:ext>
            </a:extLst>
          </p:cNvPr>
          <p:cNvGrpSpPr/>
          <p:nvPr/>
        </p:nvGrpSpPr>
        <p:grpSpPr>
          <a:xfrm>
            <a:off x="3378608" y="791181"/>
            <a:ext cx="4019670" cy="587971"/>
            <a:chOff x="2934108" y="775306"/>
            <a:chExt cx="4019670" cy="58797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7B81879-5FEB-006E-242E-ECB95C36C32A}"/>
                </a:ext>
              </a:extLst>
            </p:cNvPr>
            <p:cNvGrpSpPr/>
            <p:nvPr/>
          </p:nvGrpSpPr>
          <p:grpSpPr>
            <a:xfrm>
              <a:off x="2934108" y="775306"/>
              <a:ext cx="2506513" cy="587445"/>
              <a:chOff x="201168" y="841248"/>
              <a:chExt cx="4133088" cy="909828"/>
            </a:xfrm>
          </p:grpSpPr>
          <p:sp>
            <p:nvSpPr>
              <p:cNvPr id="87" name="Shape 6">
                <a:extLst>
                  <a:ext uri="{FF2B5EF4-FFF2-40B4-BE49-F238E27FC236}">
                    <a16:creationId xmlns:a16="http://schemas.microsoft.com/office/drawing/2014/main" id="{3A086A00-6577-A895-6DC6-D9991A22468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7">
                <a:extLst>
                  <a:ext uri="{FF2B5EF4-FFF2-40B4-BE49-F238E27FC236}">
                    <a16:creationId xmlns:a16="http://schemas.microsoft.com/office/drawing/2014/main" id="{AD62F8DC-EE07-EB4D-8F8D-F94A04073BD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369510"/>
              </a:xfrm>
              <a:prstGeom prst="rect">
                <a:avLst/>
              </a:prstGeom>
              <a:solidFill>
                <a:srgbClr val="0D1B3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 10">
                <a:extLst>
                  <a:ext uri="{FF2B5EF4-FFF2-40B4-BE49-F238E27FC236}">
                    <a16:creationId xmlns:a16="http://schemas.microsoft.com/office/drawing/2014/main" id="{DDE7C1FB-123C-F998-5142-A0744E033B2E}"/>
                  </a:ext>
                </a:extLst>
              </p:cNvPr>
              <p:cNvSpPr/>
              <p:nvPr/>
            </p:nvSpPr>
            <p:spPr>
              <a:xfrm>
                <a:off x="361209" y="899805"/>
                <a:ext cx="3749040" cy="2011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5.    Mode Based Printing</a:t>
                </a:r>
                <a:endParaRPr lang="en-US" sz="950">
                  <a:ea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93" name="Text 51">
              <a:extLst>
                <a:ext uri="{FF2B5EF4-FFF2-40B4-BE49-F238E27FC236}">
                  <a16:creationId xmlns:a16="http://schemas.microsoft.com/office/drawing/2014/main" id="{A1BA241A-0A28-8FF2-E9B9-76C6BDBCDF59}"/>
                </a:ext>
              </a:extLst>
            </p:cNvPr>
            <p:cNvSpPr/>
            <p:nvPr/>
          </p:nvSpPr>
          <p:spPr>
            <a:xfrm>
              <a:off x="3003570" y="102952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>
                  <a:solidFill>
                    <a:srgbClr val="00695C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X, Y, Z axes </a:t>
              </a:r>
              <a:r>
                <a:rPr lang="en-US" sz="850" err="1">
                  <a:solidFill>
                    <a:srgbClr val="263238"/>
                  </a:solidFill>
                </a:rPr>
                <a:t>mo</a:t>
              </a:r>
              <a:r>
                <a:rPr lang="en-US" sz="850">
                  <a:solidFill>
                    <a:srgbClr val="263238"/>
                  </a:solidFill>
                </a:rPr>
                <a:t>tion for bust/sculpture</a:t>
              </a:r>
              <a:endParaRPr lang="en-US" sz="850"/>
            </a:p>
          </p:txBody>
        </p:sp>
        <p:sp>
          <p:nvSpPr>
            <p:cNvPr id="94" name="Text 52">
              <a:extLst>
                <a:ext uri="{FF2B5EF4-FFF2-40B4-BE49-F238E27FC236}">
                  <a16:creationId xmlns:a16="http://schemas.microsoft.com/office/drawing/2014/main" id="{D84C63F3-66C5-E5B1-8077-0445F99FD396}"/>
                </a:ext>
              </a:extLst>
            </p:cNvPr>
            <p:cNvSpPr/>
            <p:nvPr/>
          </p:nvSpPr>
          <p:spPr>
            <a:xfrm>
              <a:off x="3003570" y="11986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Rotary Mode for pot/vase</a:t>
              </a:r>
              <a:endParaRPr lang="en-US" sz="85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1B7F1C8-093B-7561-930E-B4295306C34D}"/>
              </a:ext>
            </a:extLst>
          </p:cNvPr>
          <p:cNvGrpSpPr/>
          <p:nvPr/>
        </p:nvGrpSpPr>
        <p:grpSpPr>
          <a:xfrm>
            <a:off x="3378608" y="1481963"/>
            <a:ext cx="4026996" cy="814579"/>
            <a:chOff x="2934108" y="1466088"/>
            <a:chExt cx="4026996" cy="8145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17FEEAD-A849-59DD-0ACA-3CF1460A07E6}"/>
                </a:ext>
              </a:extLst>
            </p:cNvPr>
            <p:cNvGrpSpPr/>
            <p:nvPr/>
          </p:nvGrpSpPr>
          <p:grpSpPr>
            <a:xfrm>
              <a:off x="2934108" y="1466088"/>
              <a:ext cx="2506513" cy="814579"/>
              <a:chOff x="201168" y="1847088"/>
              <a:chExt cx="4133088" cy="909828"/>
            </a:xfrm>
          </p:grpSpPr>
          <p:sp>
            <p:nvSpPr>
              <p:cNvPr id="96" name="Shape 15">
                <a:extLst>
                  <a:ext uri="{FF2B5EF4-FFF2-40B4-BE49-F238E27FC236}">
                    <a16:creationId xmlns:a16="http://schemas.microsoft.com/office/drawing/2014/main" id="{7CA29E18-62D1-EE4A-C927-151712CE2768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Shape 16">
                <a:extLst>
                  <a:ext uri="{FF2B5EF4-FFF2-40B4-BE49-F238E27FC236}">
                    <a16:creationId xmlns:a16="http://schemas.microsoft.com/office/drawing/2014/main" id="{ED57D300-4B30-0B69-D4D3-6890EF1AF9A3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 19">
                <a:extLst>
                  <a:ext uri="{FF2B5EF4-FFF2-40B4-BE49-F238E27FC236}">
                    <a16:creationId xmlns:a16="http://schemas.microsoft.com/office/drawing/2014/main" id="{B523FD2C-87B7-6BCC-68B0-EE2D01EBFF61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6.   Design Input</a:t>
                </a:r>
              </a:p>
            </p:txBody>
          </p:sp>
        </p:grpSp>
        <p:sp>
          <p:nvSpPr>
            <p:cNvPr id="102" name="Text 59">
              <a:extLst>
                <a:ext uri="{FF2B5EF4-FFF2-40B4-BE49-F238E27FC236}">
                  <a16:creationId xmlns:a16="http://schemas.microsoft.com/office/drawing/2014/main" id="{4A9AAE62-7979-3956-29D1-18703A4B116A}"/>
                </a:ext>
              </a:extLst>
            </p:cNvPr>
            <p:cNvSpPr/>
            <p:nvPr/>
          </p:nvSpPr>
          <p:spPr>
            <a:xfrm>
              <a:off x="3010896" y="17269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37474F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User inserts SD card / selects file</a:t>
              </a:r>
              <a:endParaRPr lang="en-US" sz="850"/>
            </a:p>
          </p:txBody>
        </p:sp>
        <p:sp>
          <p:nvSpPr>
            <p:cNvPr id="103" name="Text 60">
              <a:extLst>
                <a:ext uri="{FF2B5EF4-FFF2-40B4-BE49-F238E27FC236}">
                  <a16:creationId xmlns:a16="http://schemas.microsoft.com/office/drawing/2014/main" id="{EFDBFEC9-86A3-1069-BFBA-1308ED1853DA}"/>
                </a:ext>
              </a:extLst>
            </p:cNvPr>
            <p:cNvSpPr/>
            <p:nvPr/>
          </p:nvSpPr>
          <p:spPr>
            <a:xfrm>
              <a:off x="3010896" y="189614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37474F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System reads G-code</a:t>
              </a:r>
              <a:endParaRPr lang="en-US" sz="850"/>
            </a:p>
          </p:txBody>
        </p:sp>
        <p:sp>
          <p:nvSpPr>
            <p:cNvPr id="104" name="Text 61">
              <a:extLst>
                <a:ext uri="{FF2B5EF4-FFF2-40B4-BE49-F238E27FC236}">
                  <a16:creationId xmlns:a16="http://schemas.microsoft.com/office/drawing/2014/main" id="{468F4F70-FE81-507C-F9D0-26EEA080F63A}"/>
                </a:ext>
              </a:extLst>
            </p:cNvPr>
            <p:cNvSpPr/>
            <p:nvPr/>
          </p:nvSpPr>
          <p:spPr>
            <a:xfrm>
              <a:off x="3010896" y="206531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37474F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Display: File Loaded: Vase.gcode</a:t>
              </a:r>
              <a:endParaRPr lang="en-US" sz="85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B784F2C-83EB-64D9-3F5B-A07583338440}"/>
              </a:ext>
            </a:extLst>
          </p:cNvPr>
          <p:cNvGrpSpPr/>
          <p:nvPr/>
        </p:nvGrpSpPr>
        <p:grpSpPr>
          <a:xfrm>
            <a:off x="3378608" y="2419809"/>
            <a:ext cx="4031271" cy="814579"/>
            <a:chOff x="2934108" y="2403934"/>
            <a:chExt cx="4031271" cy="81457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4F69F16-D500-C7EC-67A6-54E26E9D0A4D}"/>
                </a:ext>
              </a:extLst>
            </p:cNvPr>
            <p:cNvGrpSpPr/>
            <p:nvPr/>
          </p:nvGrpSpPr>
          <p:grpSpPr>
            <a:xfrm>
              <a:off x="2934108" y="2403934"/>
              <a:ext cx="2506513" cy="814579"/>
              <a:chOff x="201168" y="1847088"/>
              <a:chExt cx="4133088" cy="909828"/>
            </a:xfrm>
          </p:grpSpPr>
          <p:sp>
            <p:nvSpPr>
              <p:cNvPr id="112" name="Shape 15">
                <a:extLst>
                  <a:ext uri="{FF2B5EF4-FFF2-40B4-BE49-F238E27FC236}">
                    <a16:creationId xmlns:a16="http://schemas.microsoft.com/office/drawing/2014/main" id="{0AEAC4E4-EAF8-9383-E768-D2552D24F717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Shape 16">
                <a:extLst>
                  <a:ext uri="{FF2B5EF4-FFF2-40B4-BE49-F238E27FC236}">
                    <a16:creationId xmlns:a16="http://schemas.microsoft.com/office/drawing/2014/main" id="{3FBC955C-272C-E449-4E73-180D9C6D0A82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Text 19">
                <a:extLst>
                  <a:ext uri="{FF2B5EF4-FFF2-40B4-BE49-F238E27FC236}">
                    <a16:creationId xmlns:a16="http://schemas.microsoft.com/office/drawing/2014/main" id="{520862C8-0413-AF68-8777-BAC9779EAD77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7.   Pre-Print Setup</a:t>
                </a:r>
              </a:p>
            </p:txBody>
          </p:sp>
        </p:grpSp>
        <p:sp>
          <p:nvSpPr>
            <p:cNvPr id="121" name="Text 68">
              <a:extLst>
                <a:ext uri="{FF2B5EF4-FFF2-40B4-BE49-F238E27FC236}">
                  <a16:creationId xmlns:a16="http://schemas.microsoft.com/office/drawing/2014/main" id="{28050851-DE63-3B5A-D075-DF95A6097363}"/>
                </a:ext>
              </a:extLst>
            </p:cNvPr>
            <p:cNvSpPr/>
            <p:nvPr/>
          </p:nvSpPr>
          <p:spPr>
            <a:xfrm>
              <a:off x="3015171" y="26925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4E342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Nozzle height calibration</a:t>
              </a:r>
              <a:endParaRPr lang="en-US" sz="850"/>
            </a:p>
          </p:txBody>
        </p:sp>
        <p:sp>
          <p:nvSpPr>
            <p:cNvPr id="122" name="Text 69">
              <a:extLst>
                <a:ext uri="{FF2B5EF4-FFF2-40B4-BE49-F238E27FC236}">
                  <a16:creationId xmlns:a16="http://schemas.microsoft.com/office/drawing/2014/main" id="{B4A8A249-CBDA-1779-8638-50B8E8361705}"/>
                </a:ext>
              </a:extLst>
            </p:cNvPr>
            <p:cNvSpPr/>
            <p:nvPr/>
          </p:nvSpPr>
          <p:spPr>
            <a:xfrm>
              <a:off x="3015171" y="28616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4E342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Extrusion pressure check</a:t>
              </a:r>
              <a:endParaRPr lang="en-US" sz="850"/>
            </a:p>
          </p:txBody>
        </p:sp>
        <p:sp>
          <p:nvSpPr>
            <p:cNvPr id="123" name="Text 70">
              <a:extLst>
                <a:ext uri="{FF2B5EF4-FFF2-40B4-BE49-F238E27FC236}">
                  <a16:creationId xmlns:a16="http://schemas.microsoft.com/office/drawing/2014/main" id="{F46753BD-77CF-31D9-7743-B406F5391B17}"/>
                </a:ext>
              </a:extLst>
            </p:cNvPr>
            <p:cNvSpPr/>
            <p:nvPr/>
          </p:nvSpPr>
          <p:spPr>
            <a:xfrm>
              <a:off x="3015171" y="30308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4E342E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Bed positioning confirmed</a:t>
              </a:r>
              <a:endParaRPr lang="en-US" sz="85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0093F86-4B09-C120-D4F9-20E96FDB4760}"/>
              </a:ext>
            </a:extLst>
          </p:cNvPr>
          <p:cNvGrpSpPr/>
          <p:nvPr/>
        </p:nvGrpSpPr>
        <p:grpSpPr>
          <a:xfrm>
            <a:off x="3381606" y="3357436"/>
            <a:ext cx="2505290" cy="1141652"/>
            <a:chOff x="4802418" y="841248"/>
            <a:chExt cx="4140414" cy="1141652"/>
          </a:xfrm>
        </p:grpSpPr>
        <p:sp>
          <p:nvSpPr>
            <p:cNvPr id="125" name="Shape 72">
              <a:extLst>
                <a:ext uri="{FF2B5EF4-FFF2-40B4-BE49-F238E27FC236}">
                  <a16:creationId xmlns:a16="http://schemas.microsoft.com/office/drawing/2014/main" id="{D31A0CB0-BF68-2F2D-091F-9CFC12233524}"/>
                </a:ext>
              </a:extLst>
            </p:cNvPr>
            <p:cNvSpPr/>
            <p:nvPr/>
          </p:nvSpPr>
          <p:spPr>
            <a:xfrm>
              <a:off x="4802418" y="877882"/>
              <a:ext cx="4140414" cy="110501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73">
              <a:extLst>
                <a:ext uri="{FF2B5EF4-FFF2-40B4-BE49-F238E27FC236}">
                  <a16:creationId xmlns:a16="http://schemas.microsoft.com/office/drawing/2014/main" id="{979700C8-E4D1-1AF4-42EB-3FB002CDAD27}"/>
                </a:ext>
              </a:extLst>
            </p:cNvPr>
            <p:cNvSpPr/>
            <p:nvPr/>
          </p:nvSpPr>
          <p:spPr>
            <a:xfrm>
              <a:off x="4809744" y="841248"/>
              <a:ext cx="4133088" cy="256032"/>
            </a:xfrm>
            <a:prstGeom prst="rect">
              <a:avLst/>
            </a:prstGeom>
            <a:solidFill>
              <a:srgbClr val="AD14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 76">
              <a:extLst>
                <a:ext uri="{FF2B5EF4-FFF2-40B4-BE49-F238E27FC236}">
                  <a16:creationId xmlns:a16="http://schemas.microsoft.com/office/drawing/2014/main" id="{F710E8F0-D897-8338-A3C5-D54D7F0926DB}"/>
                </a:ext>
              </a:extLst>
            </p:cNvPr>
            <p:cNvSpPr/>
            <p:nvPr/>
          </p:nvSpPr>
          <p:spPr>
            <a:xfrm>
              <a:off x="4994628" y="877824"/>
              <a:ext cx="374904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8.   3D Printing Process</a:t>
              </a:r>
              <a:endParaRPr lang="en-US" sz="950"/>
            </a:p>
          </p:txBody>
        </p:sp>
        <p:sp>
          <p:nvSpPr>
            <p:cNvPr id="130" name="Text 79">
              <a:extLst>
                <a:ext uri="{FF2B5EF4-FFF2-40B4-BE49-F238E27FC236}">
                  <a16:creationId xmlns:a16="http://schemas.microsoft.com/office/drawing/2014/main" id="{AEC04366-63D8-950C-3A04-DB5B0C5A0B12}"/>
                </a:ext>
              </a:extLst>
            </p:cNvPr>
            <p:cNvSpPr/>
            <p:nvPr/>
          </p:nvSpPr>
          <p:spPr>
            <a:xfrm>
              <a:off x="4879203" y="113356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Extruder begins clay flow → nozzle to start point</a:t>
              </a:r>
              <a:endParaRPr lang="en-US" sz="850"/>
            </a:p>
          </p:txBody>
        </p:sp>
        <p:sp>
          <p:nvSpPr>
            <p:cNvPr id="131" name="Text 80">
              <a:extLst>
                <a:ext uri="{FF2B5EF4-FFF2-40B4-BE49-F238E27FC236}">
                  <a16:creationId xmlns:a16="http://schemas.microsoft.com/office/drawing/2014/main" id="{952A06CB-9E63-2D49-E4FB-055923048587}"/>
                </a:ext>
              </a:extLst>
            </p:cNvPr>
            <p:cNvSpPr/>
            <p:nvPr/>
          </p:nvSpPr>
          <p:spPr>
            <a:xfrm>
              <a:off x="4879203" y="13027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X-Y movement forms shape layer by layer for sculpting</a:t>
              </a:r>
              <a:endParaRPr lang="en-US" sz="850"/>
            </a:p>
          </p:txBody>
        </p:sp>
        <p:sp>
          <p:nvSpPr>
            <p:cNvPr id="132" name="Text 81">
              <a:extLst>
                <a:ext uri="{FF2B5EF4-FFF2-40B4-BE49-F238E27FC236}">
                  <a16:creationId xmlns:a16="http://schemas.microsoft.com/office/drawing/2014/main" id="{5CE552B0-A238-77AF-CDC4-744CF8A4824E}"/>
                </a:ext>
              </a:extLst>
            </p:cNvPr>
            <p:cNvSpPr/>
            <p:nvPr/>
          </p:nvSpPr>
          <p:spPr>
            <a:xfrm>
              <a:off x="4879203" y="14718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Rotating bed for smooth pottery</a:t>
              </a:r>
              <a:r>
                <a:rPr lang="en-US" sz="850" b="1">
                  <a:solidFill>
                    <a:srgbClr val="AD1457"/>
                  </a:solidFill>
                </a:rPr>
                <a:t> </a:t>
              </a:r>
              <a:endParaRPr lang="en-US" sz="850">
                <a:solidFill>
                  <a:srgbClr val="263238"/>
                </a:solidFill>
                <a:ea typeface="Calibri"/>
                <a:cs typeface="Calibri"/>
              </a:endParaRPr>
            </a:p>
          </p:txBody>
        </p:sp>
        <p:sp>
          <p:nvSpPr>
            <p:cNvPr id="133" name="Text 82">
              <a:extLst>
                <a:ext uri="{FF2B5EF4-FFF2-40B4-BE49-F238E27FC236}">
                  <a16:creationId xmlns:a16="http://schemas.microsoft.com/office/drawing/2014/main" id="{DAF2AEAA-19B0-6D0F-7621-1313FEA3FDCB}"/>
                </a:ext>
              </a:extLst>
            </p:cNvPr>
            <p:cNvSpPr/>
            <p:nvPr/>
          </p:nvSpPr>
          <p:spPr>
            <a:xfrm>
              <a:off x="4879203" y="16410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Real-time: monitor extrusion pressure, flow, motor load</a:t>
              </a:r>
              <a:endParaRPr lang="en-US" sz="850"/>
            </a:p>
          </p:txBody>
        </p:sp>
        <p:sp>
          <p:nvSpPr>
            <p:cNvPr id="134" name="Text 83">
              <a:extLst>
                <a:ext uri="{FF2B5EF4-FFF2-40B4-BE49-F238E27FC236}">
                  <a16:creationId xmlns:a16="http://schemas.microsoft.com/office/drawing/2014/main" id="{46435305-A914-6E81-A0E2-58D5C359455B}"/>
                </a:ext>
              </a:extLst>
            </p:cNvPr>
            <p:cNvSpPr/>
            <p:nvPr/>
          </p:nvSpPr>
          <p:spPr>
            <a:xfrm>
              <a:off x="4879203" y="181021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Error? → Pause print, show warning, wait for fix</a:t>
              </a:r>
              <a:endParaRPr lang="en-US" sz="85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238911C-FE51-C90D-ED3F-9D33AF5746E9}"/>
              </a:ext>
            </a:extLst>
          </p:cNvPr>
          <p:cNvGrpSpPr/>
          <p:nvPr/>
        </p:nvGrpSpPr>
        <p:grpSpPr>
          <a:xfrm>
            <a:off x="6405182" y="771564"/>
            <a:ext cx="2505901" cy="845210"/>
            <a:chOff x="4809744" y="2350008"/>
            <a:chExt cx="4133088" cy="909828"/>
          </a:xfrm>
        </p:grpSpPr>
        <p:sp>
          <p:nvSpPr>
            <p:cNvPr id="137" name="Shape 85">
              <a:extLst>
                <a:ext uri="{FF2B5EF4-FFF2-40B4-BE49-F238E27FC236}">
                  <a16:creationId xmlns:a16="http://schemas.microsoft.com/office/drawing/2014/main" id="{4FE64987-0A22-BFF3-09F0-CD6A87EC0CB0}"/>
                </a:ext>
              </a:extLst>
            </p:cNvPr>
            <p:cNvSpPr/>
            <p:nvPr/>
          </p:nvSpPr>
          <p:spPr>
            <a:xfrm>
              <a:off x="4809744" y="235000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86">
              <a:extLst>
                <a:ext uri="{FF2B5EF4-FFF2-40B4-BE49-F238E27FC236}">
                  <a16:creationId xmlns:a16="http://schemas.microsoft.com/office/drawing/2014/main" id="{7FBF4C6A-D510-E588-1D8D-BBE9967CD6BB}"/>
                </a:ext>
              </a:extLst>
            </p:cNvPr>
            <p:cNvSpPr/>
            <p:nvPr/>
          </p:nvSpPr>
          <p:spPr>
            <a:xfrm>
              <a:off x="4809744" y="235000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 89">
              <a:extLst>
                <a:ext uri="{FF2B5EF4-FFF2-40B4-BE49-F238E27FC236}">
                  <a16:creationId xmlns:a16="http://schemas.microsoft.com/office/drawing/2014/main" id="{B96F9DA0-90D5-7557-7135-AF0DDA81733A}"/>
                </a:ext>
              </a:extLst>
            </p:cNvPr>
            <p:cNvSpPr/>
            <p:nvPr/>
          </p:nvSpPr>
          <p:spPr>
            <a:xfrm>
              <a:off x="4942554" y="238658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9.   Print Completion</a:t>
              </a:r>
              <a:endParaRPr lang="en-US" sz="950"/>
            </a:p>
          </p:txBody>
        </p:sp>
        <p:sp>
          <p:nvSpPr>
            <p:cNvPr id="142" name="Text 90">
              <a:extLst>
                <a:ext uri="{FF2B5EF4-FFF2-40B4-BE49-F238E27FC236}">
                  <a16:creationId xmlns:a16="http://schemas.microsoft.com/office/drawing/2014/main" id="{AE223DD8-E399-C52F-A3D9-DAED680C527D}"/>
                </a:ext>
              </a:extLst>
            </p:cNvPr>
            <p:cNvSpPr/>
            <p:nvPr/>
          </p:nvSpPr>
          <p:spPr>
            <a:xfrm>
              <a:off x="4901184" y="264261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2E7D32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Extrusion stops</a:t>
              </a:r>
              <a:endParaRPr lang="en-US" sz="850"/>
            </a:p>
          </p:txBody>
        </p:sp>
        <p:sp>
          <p:nvSpPr>
            <p:cNvPr id="143" name="Text 91">
              <a:extLst>
                <a:ext uri="{FF2B5EF4-FFF2-40B4-BE49-F238E27FC236}">
                  <a16:creationId xmlns:a16="http://schemas.microsoft.com/office/drawing/2014/main" id="{E6C0C30E-A161-0E07-54C2-5021A7EB28D2}"/>
                </a:ext>
              </a:extLst>
            </p:cNvPr>
            <p:cNvSpPr/>
            <p:nvPr/>
          </p:nvSpPr>
          <p:spPr>
            <a:xfrm>
              <a:off x="4901184" y="281178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2E7D32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Nozzle lifts away from object</a:t>
              </a:r>
              <a:endParaRPr lang="en-US" sz="850"/>
            </a:p>
          </p:txBody>
        </p:sp>
        <p:sp>
          <p:nvSpPr>
            <p:cNvPr id="144" name="Text 92">
              <a:extLst>
                <a:ext uri="{FF2B5EF4-FFF2-40B4-BE49-F238E27FC236}">
                  <a16:creationId xmlns:a16="http://schemas.microsoft.com/office/drawing/2014/main" id="{156F4323-9106-3285-DB89-B83DABA549C3}"/>
                </a:ext>
              </a:extLst>
            </p:cNvPr>
            <p:cNvSpPr/>
            <p:nvPr/>
          </p:nvSpPr>
          <p:spPr>
            <a:xfrm>
              <a:off x="4901184" y="298094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2E7D32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Display: Printing Completed</a:t>
              </a:r>
              <a:endParaRPr lang="en-US" sz="85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A3DB13D-C938-23E8-F507-6F1AA7AFBD1B}"/>
              </a:ext>
            </a:extLst>
          </p:cNvPr>
          <p:cNvGrpSpPr/>
          <p:nvPr/>
        </p:nvGrpSpPr>
        <p:grpSpPr>
          <a:xfrm>
            <a:off x="6405793" y="1753696"/>
            <a:ext cx="2505289" cy="1044535"/>
            <a:chOff x="4802418" y="3341195"/>
            <a:chExt cx="4140414" cy="965161"/>
          </a:xfrm>
        </p:grpSpPr>
        <p:sp>
          <p:nvSpPr>
            <p:cNvPr id="147" name="Shape 94">
              <a:extLst>
                <a:ext uri="{FF2B5EF4-FFF2-40B4-BE49-F238E27FC236}">
                  <a16:creationId xmlns:a16="http://schemas.microsoft.com/office/drawing/2014/main" id="{11532694-F70A-2A71-F472-DC3B43650974}"/>
                </a:ext>
              </a:extLst>
            </p:cNvPr>
            <p:cNvSpPr/>
            <p:nvPr/>
          </p:nvSpPr>
          <p:spPr>
            <a:xfrm>
              <a:off x="4802418" y="3341195"/>
              <a:ext cx="4140414" cy="96516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95">
              <a:extLst>
                <a:ext uri="{FF2B5EF4-FFF2-40B4-BE49-F238E27FC236}">
                  <a16:creationId xmlns:a16="http://schemas.microsoft.com/office/drawing/2014/main" id="{5E257878-4C04-D3C4-ECC3-6D81F291E3E6}"/>
                </a:ext>
              </a:extLst>
            </p:cNvPr>
            <p:cNvSpPr/>
            <p:nvPr/>
          </p:nvSpPr>
          <p:spPr>
            <a:xfrm>
              <a:off x="4809744" y="335584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Text 98">
              <a:extLst>
                <a:ext uri="{FF2B5EF4-FFF2-40B4-BE49-F238E27FC236}">
                  <a16:creationId xmlns:a16="http://schemas.microsoft.com/office/drawing/2014/main" id="{23965543-01A0-C220-DCE1-2D99DCA93ED7}"/>
                </a:ext>
              </a:extLst>
            </p:cNvPr>
            <p:cNvSpPr/>
            <p:nvPr/>
          </p:nvSpPr>
          <p:spPr>
            <a:xfrm>
              <a:off x="4902803" y="33924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10.   Controlled Drying Phase</a:t>
              </a:r>
              <a:endParaRPr lang="en-US" sz="95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2" name="Text 101">
              <a:extLst>
                <a:ext uri="{FF2B5EF4-FFF2-40B4-BE49-F238E27FC236}">
                  <a16:creationId xmlns:a16="http://schemas.microsoft.com/office/drawing/2014/main" id="{DBC2C3F4-D85F-FF4D-1F95-B8842B7E6DAE}"/>
                </a:ext>
              </a:extLst>
            </p:cNvPr>
            <p:cNvSpPr/>
            <p:nvPr/>
          </p:nvSpPr>
          <p:spPr>
            <a:xfrm>
              <a:off x="4886530" y="3626182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Controlled airflow (not just a fan)</a:t>
              </a:r>
              <a:endParaRPr lang="en-US" sz="850"/>
            </a:p>
          </p:txBody>
        </p:sp>
        <p:sp>
          <p:nvSpPr>
            <p:cNvPr id="153" name="Text 102">
              <a:extLst>
                <a:ext uri="{FF2B5EF4-FFF2-40B4-BE49-F238E27FC236}">
                  <a16:creationId xmlns:a16="http://schemas.microsoft.com/office/drawing/2014/main" id="{12D4E2D4-F92B-C270-EF9D-B88AD4B621D3}"/>
                </a:ext>
              </a:extLst>
            </p:cNvPr>
            <p:cNvSpPr/>
            <p:nvPr/>
          </p:nvSpPr>
          <p:spPr>
            <a:xfrm>
              <a:off x="4886530" y="379534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Optional temperature monitoring</a:t>
              </a:r>
              <a:endParaRPr lang="en-US" sz="850"/>
            </a:p>
          </p:txBody>
        </p:sp>
        <p:sp>
          <p:nvSpPr>
            <p:cNvPr id="154" name="Text 103">
              <a:extLst>
                <a:ext uri="{FF2B5EF4-FFF2-40B4-BE49-F238E27FC236}">
                  <a16:creationId xmlns:a16="http://schemas.microsoft.com/office/drawing/2014/main" id="{0C38E99D-6BC5-5E3B-5619-6D96B2693670}"/>
                </a:ext>
              </a:extLst>
            </p:cNvPr>
            <p:cNvSpPr/>
            <p:nvPr/>
          </p:nvSpPr>
          <p:spPr>
            <a:xfrm>
              <a:off x="4886530" y="396451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Slow air circulation for uniform moisture removal</a:t>
              </a:r>
              <a:endParaRPr lang="en-US" sz="850"/>
            </a:p>
          </p:txBody>
        </p:sp>
        <p:sp>
          <p:nvSpPr>
            <p:cNvPr id="155" name="Text 104">
              <a:extLst>
                <a:ext uri="{FF2B5EF4-FFF2-40B4-BE49-F238E27FC236}">
                  <a16:creationId xmlns:a16="http://schemas.microsoft.com/office/drawing/2014/main" id="{E1A2B9A4-BF8B-374A-1A61-C801E09F64AB}"/>
                </a:ext>
              </a:extLst>
            </p:cNvPr>
            <p:cNvSpPr/>
            <p:nvPr/>
          </p:nvSpPr>
          <p:spPr>
            <a:xfrm>
              <a:off x="4886530" y="413367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1565C0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Result: stable object, minimized crack risk</a:t>
              </a:r>
              <a:endParaRPr lang="en-US" sz="8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20FA1C6-9A22-44E6-A8A3-B4B49B9A18A1}"/>
              </a:ext>
            </a:extLst>
          </p:cNvPr>
          <p:cNvGrpSpPr/>
          <p:nvPr/>
        </p:nvGrpSpPr>
        <p:grpSpPr>
          <a:xfrm>
            <a:off x="6397244" y="2893632"/>
            <a:ext cx="2497963" cy="1078992"/>
            <a:chOff x="4809744" y="4695444"/>
            <a:chExt cx="4133088" cy="1078992"/>
          </a:xfrm>
        </p:grpSpPr>
        <p:sp>
          <p:nvSpPr>
            <p:cNvPr id="164" name="Shape 106">
              <a:extLst>
                <a:ext uri="{FF2B5EF4-FFF2-40B4-BE49-F238E27FC236}">
                  <a16:creationId xmlns:a16="http://schemas.microsoft.com/office/drawing/2014/main" id="{57FF57D0-F966-0374-B75A-FE740CF265D6}"/>
                </a:ext>
              </a:extLst>
            </p:cNvPr>
            <p:cNvSpPr/>
            <p:nvPr/>
          </p:nvSpPr>
          <p:spPr>
            <a:xfrm>
              <a:off x="4809744" y="4695444"/>
              <a:ext cx="4133088" cy="107899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49BA099F-3ED6-D9F8-3805-907CDC9C672E}"/>
                </a:ext>
              </a:extLst>
            </p:cNvPr>
            <p:cNvGrpSpPr/>
            <p:nvPr/>
          </p:nvGrpSpPr>
          <p:grpSpPr>
            <a:xfrm>
              <a:off x="4809744" y="4695444"/>
              <a:ext cx="4133088" cy="964692"/>
              <a:chOff x="4809744" y="4695444"/>
              <a:chExt cx="4133088" cy="964692"/>
            </a:xfrm>
          </p:grpSpPr>
          <p:sp>
            <p:nvSpPr>
              <p:cNvPr id="166" name="Shape 107">
                <a:extLst>
                  <a:ext uri="{FF2B5EF4-FFF2-40B4-BE49-F238E27FC236}">
                    <a16:creationId xmlns:a16="http://schemas.microsoft.com/office/drawing/2014/main" id="{19E43532-D41D-85D4-4C0C-1B295DC94F4C}"/>
                  </a:ext>
                </a:extLst>
              </p:cNvPr>
              <p:cNvSpPr/>
              <p:nvPr/>
            </p:nvSpPr>
            <p:spPr>
              <a:xfrm>
                <a:off x="4809744" y="4695444"/>
                <a:ext cx="4133088" cy="256032"/>
              </a:xfrm>
              <a:prstGeom prst="rect">
                <a:avLst/>
              </a:prstGeom>
              <a:solidFill>
                <a:srgbClr val="5D4037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 110">
                <a:extLst>
                  <a:ext uri="{FF2B5EF4-FFF2-40B4-BE49-F238E27FC236}">
                    <a16:creationId xmlns:a16="http://schemas.microsoft.com/office/drawing/2014/main" id="{8C831868-A0B3-0E6E-D22F-0B0EE546AB61}"/>
                  </a:ext>
                </a:extLst>
              </p:cNvPr>
              <p:cNvSpPr/>
              <p:nvPr/>
            </p:nvSpPr>
            <p:spPr>
              <a:xfrm>
                <a:off x="4915662" y="4732020"/>
                <a:ext cx="3749039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11.   Post-Processing (After Firing)</a:t>
                </a:r>
                <a:endParaRPr lang="en-US" sz="950"/>
              </a:p>
            </p:txBody>
          </p:sp>
          <p:sp>
            <p:nvSpPr>
              <p:cNvPr id="168" name="Text 111">
                <a:extLst>
                  <a:ext uri="{FF2B5EF4-FFF2-40B4-BE49-F238E27FC236}">
                    <a16:creationId xmlns:a16="http://schemas.microsoft.com/office/drawing/2014/main" id="{64E93C9F-F58B-9598-2508-5BB41248E9DC}"/>
                  </a:ext>
                </a:extLst>
              </p:cNvPr>
              <p:cNvSpPr/>
              <p:nvPr/>
            </p:nvSpPr>
            <p:spPr>
              <a:xfrm>
                <a:off x="4901184" y="4988052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>
                    <a:solidFill>
                      <a:srgbClr val="5D4037"/>
                    </a:solidFill>
                  </a:rPr>
                  <a:t>▸ </a:t>
                </a:r>
                <a:r>
                  <a:rPr lang="en-US" sz="850">
                    <a:solidFill>
                      <a:srgbClr val="263238"/>
                    </a:solidFill>
                  </a:rPr>
                  <a:t>User fires pot externally, then re-loads</a:t>
                </a:r>
                <a:endParaRPr lang="en-US" sz="850"/>
              </a:p>
            </p:txBody>
          </p:sp>
          <p:sp>
            <p:nvSpPr>
              <p:cNvPr id="169" name="Text 112">
                <a:extLst>
                  <a:ext uri="{FF2B5EF4-FFF2-40B4-BE49-F238E27FC236}">
                    <a16:creationId xmlns:a16="http://schemas.microsoft.com/office/drawing/2014/main" id="{78345D0A-9C37-758C-7C99-DF12491450FF}"/>
                  </a:ext>
                </a:extLst>
              </p:cNvPr>
              <p:cNvSpPr/>
              <p:nvPr/>
            </p:nvSpPr>
            <p:spPr>
              <a:xfrm>
                <a:off x="4901184" y="5157216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>
                    <a:solidFill>
                      <a:srgbClr val="5D4037"/>
                    </a:solidFill>
                  </a:rPr>
                  <a:t>▸ </a:t>
                </a:r>
                <a:r>
                  <a:rPr lang="en-US" sz="850">
                    <a:solidFill>
                      <a:srgbClr val="263238"/>
                    </a:solidFill>
                  </a:rPr>
                  <a:t>Tool switch: extruder → drawing tool</a:t>
                </a:r>
                <a:endParaRPr lang="en-US" sz="850"/>
              </a:p>
            </p:txBody>
          </p:sp>
          <p:sp>
            <p:nvSpPr>
              <p:cNvPr id="170" name="Text 113">
                <a:extLst>
                  <a:ext uri="{FF2B5EF4-FFF2-40B4-BE49-F238E27FC236}">
                    <a16:creationId xmlns:a16="http://schemas.microsoft.com/office/drawing/2014/main" id="{0081F8E4-22A5-1B52-5072-326A9A966943}"/>
                  </a:ext>
                </a:extLst>
              </p:cNvPr>
              <p:cNvSpPr/>
              <p:nvPr/>
            </p:nvSpPr>
            <p:spPr>
              <a:xfrm>
                <a:off x="4901184" y="5326380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>
                    <a:solidFill>
                      <a:srgbClr val="5D4037"/>
                    </a:solidFill>
                  </a:rPr>
                  <a:t>▸ </a:t>
                </a:r>
                <a:r>
                  <a:rPr lang="en-US" sz="850">
                    <a:solidFill>
                      <a:srgbClr val="263238"/>
                    </a:solidFill>
                  </a:rPr>
                  <a:t>User selects design file</a:t>
                </a:r>
                <a:endParaRPr lang="en-US" sz="850"/>
              </a:p>
            </p:txBody>
          </p:sp>
          <p:sp>
            <p:nvSpPr>
              <p:cNvPr id="171" name="Text 114">
                <a:extLst>
                  <a:ext uri="{FF2B5EF4-FFF2-40B4-BE49-F238E27FC236}">
                    <a16:creationId xmlns:a16="http://schemas.microsoft.com/office/drawing/2014/main" id="{1A3B50DB-363D-1319-6BE0-14280345047B}"/>
                  </a:ext>
                </a:extLst>
              </p:cNvPr>
              <p:cNvSpPr/>
              <p:nvPr/>
            </p:nvSpPr>
            <p:spPr>
              <a:xfrm>
                <a:off x="4901184" y="5495544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>
                    <a:solidFill>
                      <a:srgbClr val="5D4037"/>
                    </a:solidFill>
                  </a:rPr>
                  <a:t>▸ </a:t>
                </a:r>
                <a:r>
                  <a:rPr lang="en-US" sz="850">
                    <a:solidFill>
                      <a:srgbClr val="263238"/>
                    </a:solidFill>
                  </a:rPr>
                  <a:t>Machine draws: patterns, text, decorative designs</a:t>
                </a:r>
                <a:endParaRPr lang="en-US" sz="850"/>
              </a:p>
            </p:txBody>
          </p: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74ADAED-9972-FAD4-C011-E21471934BAB}"/>
              </a:ext>
            </a:extLst>
          </p:cNvPr>
          <p:cNvGrpSpPr/>
          <p:nvPr/>
        </p:nvGrpSpPr>
        <p:grpSpPr>
          <a:xfrm>
            <a:off x="6397245" y="4021011"/>
            <a:ext cx="2513838" cy="740664"/>
            <a:chOff x="4809744" y="5870448"/>
            <a:chExt cx="4133088" cy="740664"/>
          </a:xfrm>
        </p:grpSpPr>
        <p:sp>
          <p:nvSpPr>
            <p:cNvPr id="173" name="Shape 116">
              <a:extLst>
                <a:ext uri="{FF2B5EF4-FFF2-40B4-BE49-F238E27FC236}">
                  <a16:creationId xmlns:a16="http://schemas.microsoft.com/office/drawing/2014/main" id="{3E9B246B-7A9E-A47C-C3B5-DF742E0C88D2}"/>
                </a:ext>
              </a:extLst>
            </p:cNvPr>
            <p:cNvSpPr/>
            <p:nvPr/>
          </p:nvSpPr>
          <p:spPr>
            <a:xfrm>
              <a:off x="4809744" y="5870448"/>
              <a:ext cx="4133088" cy="74066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Shape 117">
              <a:extLst>
                <a:ext uri="{FF2B5EF4-FFF2-40B4-BE49-F238E27FC236}">
                  <a16:creationId xmlns:a16="http://schemas.microsoft.com/office/drawing/2014/main" id="{4DCB35BC-6E7A-CA97-61E1-BB7888A5012E}"/>
                </a:ext>
              </a:extLst>
            </p:cNvPr>
            <p:cNvSpPr/>
            <p:nvPr/>
          </p:nvSpPr>
          <p:spPr>
            <a:xfrm>
              <a:off x="4809744" y="587044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 120">
              <a:extLst>
                <a:ext uri="{FF2B5EF4-FFF2-40B4-BE49-F238E27FC236}">
                  <a16:creationId xmlns:a16="http://schemas.microsoft.com/office/drawing/2014/main" id="{E9716864-A71E-0EAB-3FCD-56968D4B513E}"/>
                </a:ext>
              </a:extLst>
            </p:cNvPr>
            <p:cNvSpPr/>
            <p:nvPr/>
          </p:nvSpPr>
          <p:spPr>
            <a:xfrm>
              <a:off x="4890971" y="59070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12.   Final Output</a:t>
              </a:r>
              <a:endParaRPr lang="en-US" sz="950"/>
            </a:p>
          </p:txBody>
        </p:sp>
        <p:sp>
          <p:nvSpPr>
            <p:cNvPr id="176" name="Text 121">
              <a:extLst>
                <a:ext uri="{FF2B5EF4-FFF2-40B4-BE49-F238E27FC236}">
                  <a16:creationId xmlns:a16="http://schemas.microsoft.com/office/drawing/2014/main" id="{066085F6-0593-F02B-87EA-B068545F6464}"/>
                </a:ext>
              </a:extLst>
            </p:cNvPr>
            <p:cNvSpPr/>
            <p:nvPr/>
          </p:nvSpPr>
          <p:spPr>
            <a:xfrm>
              <a:off x="4901184" y="61630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2E7D32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Fully formed ceramic object</a:t>
              </a:r>
              <a:endParaRPr lang="en-US" sz="850"/>
            </a:p>
          </p:txBody>
        </p:sp>
        <p:sp>
          <p:nvSpPr>
            <p:cNvPr id="177" name="Text 122">
              <a:extLst>
                <a:ext uri="{FF2B5EF4-FFF2-40B4-BE49-F238E27FC236}">
                  <a16:creationId xmlns:a16="http://schemas.microsoft.com/office/drawing/2014/main" id="{B657C101-BC9A-CBE9-D0CA-CFE60847FED6}"/>
                </a:ext>
              </a:extLst>
            </p:cNvPr>
            <p:cNvSpPr/>
            <p:nvPr/>
          </p:nvSpPr>
          <p:spPr>
            <a:xfrm>
              <a:off x="4901184" y="6288258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>
                  <a:solidFill>
                    <a:srgbClr val="2E7D32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Decorated surface with patterns/text</a:t>
              </a:r>
              <a:endParaRPr lang="en-US" sz="850"/>
            </a:p>
          </p:txBody>
        </p:sp>
      </p:grpSp>
      <p:sp>
        <p:nvSpPr>
          <p:cNvPr id="4" name="Text 122">
            <a:extLst>
              <a:ext uri="{FF2B5EF4-FFF2-40B4-BE49-F238E27FC236}">
                <a16:creationId xmlns:a16="http://schemas.microsoft.com/office/drawing/2014/main" id="{3DDF29E5-E01E-F792-ADD7-84CAAFCA4C2A}"/>
              </a:ext>
            </a:extLst>
          </p:cNvPr>
          <p:cNvSpPr/>
          <p:nvPr/>
        </p:nvSpPr>
        <p:spPr>
          <a:xfrm>
            <a:off x="6451396" y="4598548"/>
            <a:ext cx="24026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50" b="1">
                <a:solidFill>
                  <a:srgbClr val="2E7D32"/>
                </a:solidFill>
              </a:rPr>
              <a:t>▸ </a:t>
            </a:r>
            <a:r>
              <a:rPr lang="en-US" sz="850">
                <a:solidFill>
                  <a:schemeClr val="tx1">
                    <a:lumMod val="76000"/>
                    <a:lumOff val="24000"/>
                  </a:schemeClr>
                </a:solidFill>
              </a:rPr>
              <a:t>Fully formed bust / sculpture</a:t>
            </a:r>
            <a:endParaRPr lang="en-US" sz="85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93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6">
            <a:extLst>
              <a:ext uri="{FF2B5EF4-FFF2-40B4-BE49-F238E27FC236}">
                <a16:creationId xmlns:a16="http://schemas.microsoft.com/office/drawing/2014/main" id="{D0EBB0AF-BC4D-3413-1BB0-FF0C8CE42943}"/>
              </a:ext>
            </a:extLst>
          </p:cNvPr>
          <p:cNvSpPr/>
          <p:nvPr/>
        </p:nvSpPr>
        <p:spPr>
          <a:xfrm>
            <a:off x="3166128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7580E1DE-9213-8B31-58DD-E358F1B3A219}"/>
              </a:ext>
            </a:extLst>
          </p:cNvPr>
          <p:cNvSpPr/>
          <p:nvPr/>
        </p:nvSpPr>
        <p:spPr>
          <a:xfrm>
            <a:off x="6176027" y="819023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5FFC402B-76C4-5FEF-1599-7716269C1F9A}"/>
              </a:ext>
            </a:extLst>
          </p:cNvPr>
          <p:cNvSpPr/>
          <p:nvPr/>
        </p:nvSpPr>
        <p:spPr>
          <a:xfrm>
            <a:off x="228031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5DD2D0C-9278-50A6-7AAE-9213E38B65D6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3BA7F97-4AAC-93AA-592D-7F2500525423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66E4A12-F302-6887-2B09-5E7EEDB2D9D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Power System (Switch Mode Power Supply)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91412CD-2337-FA25-501C-A6B70E97E0FD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E7D9760-7185-649E-A298-CA839B94D98D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Power System</a:t>
            </a:r>
            <a:endParaRPr lang="en-US" sz="9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A3F8B7F-A49A-91BC-2270-AA8A242789DF}"/>
              </a:ext>
            </a:extLst>
          </p:cNvPr>
          <p:cNvSpPr/>
          <p:nvPr/>
        </p:nvSpPr>
        <p:spPr>
          <a:xfrm>
            <a:off x="292608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AC → SMPS → Powers system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Battery charges simultaneously</a:t>
            </a:r>
            <a:endParaRPr lang="en-US" sz="8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B81609-9A47-E0B8-5FC9-B3F37F91B15C}"/>
              </a:ext>
            </a:extLst>
          </p:cNvPr>
          <p:cNvSpPr/>
          <p:nvPr/>
        </p:nvSpPr>
        <p:spPr>
          <a:xfrm>
            <a:off x="3273552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SMPS stops → Battery instantly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supplies power. No interruption.</a:t>
            </a:r>
            <a:endParaRPr lang="en-US" sz="85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17778E-C758-0A03-0962-2E017C79C694}"/>
              </a:ext>
            </a:extLst>
          </p:cNvPr>
          <p:cNvSpPr/>
          <p:nvPr/>
        </p:nvSpPr>
        <p:spPr>
          <a:xfrm>
            <a:off x="6254496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Switches back to SMPS</a:t>
            </a:r>
            <a:endParaRPr lang="en-US" sz="850"/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263238"/>
                </a:solidFill>
              </a:rPr>
              <a:t>Battery resumes charging</a:t>
            </a:r>
            <a:endParaRPr lang="en-US" sz="8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DF58B4B-437E-26F5-D558-36262DAA33D1}"/>
              </a:ext>
            </a:extLst>
          </p:cNvPr>
          <p:cNvSpPr/>
          <p:nvPr/>
        </p:nvSpPr>
        <p:spPr>
          <a:xfrm>
            <a:off x="227996" y="817383"/>
            <a:ext cx="2504514" cy="2185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ea typeface="Calibri"/>
              <a:cs typeface="Calibri"/>
            </a:endParaRPr>
          </a:p>
        </p:txBody>
      </p:sp>
      <p:sp>
        <p:nvSpPr>
          <p:cNvPr id="49" name="Text 59">
            <a:extLst>
              <a:ext uri="{FF2B5EF4-FFF2-40B4-BE49-F238E27FC236}">
                <a16:creationId xmlns:a16="http://schemas.microsoft.com/office/drawing/2014/main" id="{05AC1437-306C-2481-6671-064275DB7890}"/>
              </a:ext>
            </a:extLst>
          </p:cNvPr>
          <p:cNvSpPr/>
          <p:nvPr/>
        </p:nvSpPr>
        <p:spPr>
          <a:xfrm>
            <a:off x="6205376" y="156520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</a:rPr>
              <a:t>Main Power Supply</a:t>
            </a:r>
            <a:endParaRPr lang="en-US" sz="950"/>
          </a:p>
        </p:txBody>
      </p:sp>
      <p:sp>
        <p:nvSpPr>
          <p:cNvPr id="50" name="Text 60">
            <a:extLst>
              <a:ext uri="{FF2B5EF4-FFF2-40B4-BE49-F238E27FC236}">
                <a16:creationId xmlns:a16="http://schemas.microsoft.com/office/drawing/2014/main" id="{FF9D6E34-EF20-7DB4-CF3B-33719875CC29}"/>
              </a:ext>
            </a:extLst>
          </p:cNvPr>
          <p:cNvSpPr/>
          <p:nvPr/>
        </p:nvSpPr>
        <p:spPr>
          <a:xfrm>
            <a:off x="6205376" y="175723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D1B3E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24V, 10A SMPS (≈240W)</a:t>
            </a:r>
            <a:endParaRPr lang="en-US" sz="850"/>
          </a:p>
        </p:txBody>
      </p:sp>
      <p:sp>
        <p:nvSpPr>
          <p:cNvPr id="51" name="Text 61">
            <a:extLst>
              <a:ext uri="{FF2B5EF4-FFF2-40B4-BE49-F238E27FC236}">
                <a16:creationId xmlns:a16="http://schemas.microsoft.com/office/drawing/2014/main" id="{EF1F0A5E-0FB7-6344-354D-A0BB4877C010}"/>
              </a:ext>
            </a:extLst>
          </p:cNvPr>
          <p:cNvSpPr/>
          <p:nvPr/>
        </p:nvSpPr>
        <p:spPr>
          <a:xfrm>
            <a:off x="6205376" y="190353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D1B3E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Sufficient for all motors &amp; electronics</a:t>
            </a:r>
            <a:endParaRPr lang="en-US" sz="850"/>
          </a:p>
        </p:txBody>
      </p:sp>
      <p:sp>
        <p:nvSpPr>
          <p:cNvPr id="52" name="Text 64">
            <a:extLst>
              <a:ext uri="{FF2B5EF4-FFF2-40B4-BE49-F238E27FC236}">
                <a16:creationId xmlns:a16="http://schemas.microsoft.com/office/drawing/2014/main" id="{BC99E730-8914-9881-544B-66CDE4CCA050}"/>
              </a:ext>
            </a:extLst>
          </p:cNvPr>
          <p:cNvSpPr/>
          <p:nvPr/>
        </p:nvSpPr>
        <p:spPr>
          <a:xfrm>
            <a:off x="6205376" y="215956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37474F"/>
                </a:solidFill>
              </a:rPr>
              <a:t>Battery Pack</a:t>
            </a:r>
            <a:endParaRPr lang="en-US" sz="950"/>
          </a:p>
        </p:txBody>
      </p:sp>
      <p:sp>
        <p:nvSpPr>
          <p:cNvPr id="53" name="Text 65">
            <a:extLst>
              <a:ext uri="{FF2B5EF4-FFF2-40B4-BE49-F238E27FC236}">
                <a16:creationId xmlns:a16="http://schemas.microsoft.com/office/drawing/2014/main" id="{63618D93-AB2E-CCB4-EFAD-D89C2D82A695}"/>
              </a:ext>
            </a:extLst>
          </p:cNvPr>
          <p:cNvSpPr/>
          <p:nvPr/>
        </p:nvSpPr>
        <p:spPr>
          <a:xfrm>
            <a:off x="6205376" y="235159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24V Lithium-ion </a:t>
            </a:r>
            <a:endParaRPr lang="en-US" sz="850"/>
          </a:p>
        </p:txBody>
      </p:sp>
      <p:sp>
        <p:nvSpPr>
          <p:cNvPr id="54" name="Text 66">
            <a:extLst>
              <a:ext uri="{FF2B5EF4-FFF2-40B4-BE49-F238E27FC236}">
                <a16:creationId xmlns:a16="http://schemas.microsoft.com/office/drawing/2014/main" id="{F7106E69-1742-8376-EEEF-A8E6D9F58D31}"/>
              </a:ext>
            </a:extLst>
          </p:cNvPr>
          <p:cNvSpPr/>
          <p:nvPr/>
        </p:nvSpPr>
        <p:spPr>
          <a:xfrm>
            <a:off x="6205376" y="249789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10Ah minimum | 20Ah maximum</a:t>
            </a:r>
            <a:endParaRPr lang="en-US" sz="850"/>
          </a:p>
        </p:txBody>
      </p:sp>
      <p:sp>
        <p:nvSpPr>
          <p:cNvPr id="55" name="Text 69">
            <a:extLst>
              <a:ext uri="{FF2B5EF4-FFF2-40B4-BE49-F238E27FC236}">
                <a16:creationId xmlns:a16="http://schemas.microsoft.com/office/drawing/2014/main" id="{A28F684F-2BC9-78E3-5304-DC58DD44EBC9}"/>
              </a:ext>
            </a:extLst>
          </p:cNvPr>
          <p:cNvSpPr/>
          <p:nvPr/>
        </p:nvSpPr>
        <p:spPr>
          <a:xfrm>
            <a:off x="6205376" y="275392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AD1457"/>
                </a:solidFill>
              </a:rPr>
              <a:t>Battery Charger Module</a:t>
            </a:r>
            <a:endParaRPr lang="en-US" sz="950"/>
          </a:p>
        </p:txBody>
      </p:sp>
      <p:sp>
        <p:nvSpPr>
          <p:cNvPr id="56" name="Text 70">
            <a:extLst>
              <a:ext uri="{FF2B5EF4-FFF2-40B4-BE49-F238E27FC236}">
                <a16:creationId xmlns:a16="http://schemas.microsoft.com/office/drawing/2014/main" id="{3C8A4D60-8E27-3CA7-A630-4BB9A1897C57}"/>
              </a:ext>
            </a:extLst>
          </p:cNvPr>
          <p:cNvSpPr/>
          <p:nvPr/>
        </p:nvSpPr>
        <p:spPr>
          <a:xfrm>
            <a:off x="6205376" y="294595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AD1457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Charges when AC power is available</a:t>
            </a:r>
            <a:endParaRPr lang="en-US" sz="850"/>
          </a:p>
        </p:txBody>
      </p:sp>
      <p:sp>
        <p:nvSpPr>
          <p:cNvPr id="57" name="Text 71">
            <a:extLst>
              <a:ext uri="{FF2B5EF4-FFF2-40B4-BE49-F238E27FC236}">
                <a16:creationId xmlns:a16="http://schemas.microsoft.com/office/drawing/2014/main" id="{A383FADF-A507-F410-C5E3-43DD8D42538D}"/>
              </a:ext>
            </a:extLst>
          </p:cNvPr>
          <p:cNvSpPr/>
          <p:nvPr/>
        </p:nvSpPr>
        <p:spPr>
          <a:xfrm>
            <a:off x="6205376" y="309225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AD1457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Keeps battery at full capacity</a:t>
            </a:r>
            <a:endParaRPr lang="en-US" sz="850"/>
          </a:p>
        </p:txBody>
      </p:sp>
      <p:sp>
        <p:nvSpPr>
          <p:cNvPr id="58" name="Text 74">
            <a:extLst>
              <a:ext uri="{FF2B5EF4-FFF2-40B4-BE49-F238E27FC236}">
                <a16:creationId xmlns:a16="http://schemas.microsoft.com/office/drawing/2014/main" id="{A4FED44E-DA57-6734-BB67-81B0E16B2141}"/>
              </a:ext>
            </a:extLst>
          </p:cNvPr>
          <p:cNvSpPr/>
          <p:nvPr/>
        </p:nvSpPr>
        <p:spPr>
          <a:xfrm>
            <a:off x="6205376" y="334828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1565C0"/>
                </a:solidFill>
              </a:rPr>
              <a:t>Auto Switching Circuit</a:t>
            </a:r>
            <a:endParaRPr lang="en-US" sz="950"/>
          </a:p>
        </p:txBody>
      </p:sp>
      <p:sp>
        <p:nvSpPr>
          <p:cNvPr id="60" name="Text 76">
            <a:extLst>
              <a:ext uri="{FF2B5EF4-FFF2-40B4-BE49-F238E27FC236}">
                <a16:creationId xmlns:a16="http://schemas.microsoft.com/office/drawing/2014/main" id="{791E7CF6-3FFE-16CB-8B40-A5B374D47906}"/>
              </a:ext>
            </a:extLst>
          </p:cNvPr>
          <p:cNvSpPr/>
          <p:nvPr/>
        </p:nvSpPr>
        <p:spPr>
          <a:xfrm>
            <a:off x="6205376" y="353275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1565C0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Option B: Relay / Transfer Module (better)</a:t>
            </a:r>
            <a:endParaRPr lang="en-US" sz="850"/>
          </a:p>
        </p:txBody>
      </p:sp>
      <p:sp>
        <p:nvSpPr>
          <p:cNvPr id="61" name="Text 79">
            <a:extLst>
              <a:ext uri="{FF2B5EF4-FFF2-40B4-BE49-F238E27FC236}">
                <a16:creationId xmlns:a16="http://schemas.microsoft.com/office/drawing/2014/main" id="{FA896530-B810-9588-38FB-CCAD669C35C6}"/>
              </a:ext>
            </a:extLst>
          </p:cNvPr>
          <p:cNvSpPr/>
          <p:nvPr/>
        </p:nvSpPr>
        <p:spPr>
          <a:xfrm>
            <a:off x="6220030" y="3774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00695C"/>
                </a:solidFill>
              </a:rPr>
              <a:t>DC-DC Converter</a:t>
            </a:r>
            <a:endParaRPr lang="en-US" sz="950"/>
          </a:p>
        </p:txBody>
      </p:sp>
      <p:sp>
        <p:nvSpPr>
          <p:cNvPr id="62" name="Text 80">
            <a:extLst>
              <a:ext uri="{FF2B5EF4-FFF2-40B4-BE49-F238E27FC236}">
                <a16:creationId xmlns:a16="http://schemas.microsoft.com/office/drawing/2014/main" id="{7AB3809D-DE83-88FF-30C0-772AFCB37D15}"/>
              </a:ext>
            </a:extLst>
          </p:cNvPr>
          <p:cNvSpPr/>
          <p:nvPr/>
        </p:nvSpPr>
        <p:spPr>
          <a:xfrm>
            <a:off x="6220030" y="3966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Steps 24V → 5V for MCU &amp; sensors</a:t>
            </a:r>
            <a:endParaRPr lang="en-US" sz="850"/>
          </a:p>
        </p:txBody>
      </p:sp>
      <p:sp>
        <p:nvSpPr>
          <p:cNvPr id="63" name="Text 81">
            <a:extLst>
              <a:ext uri="{FF2B5EF4-FFF2-40B4-BE49-F238E27FC236}">
                <a16:creationId xmlns:a16="http://schemas.microsoft.com/office/drawing/2014/main" id="{A87779CF-5052-548C-A84F-542B0698486A}"/>
              </a:ext>
            </a:extLst>
          </p:cNvPr>
          <p:cNvSpPr/>
          <p:nvPr/>
        </p:nvSpPr>
        <p:spPr>
          <a:xfrm>
            <a:off x="6220030" y="41124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00695C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Regulated, stable low-voltage supply</a:t>
            </a:r>
            <a:endParaRPr lang="en-US" sz="85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6F3BC29-E1ED-B013-8A95-71757854A7D7}"/>
              </a:ext>
            </a:extLst>
          </p:cNvPr>
          <p:cNvSpPr/>
          <p:nvPr/>
        </p:nvSpPr>
        <p:spPr>
          <a:xfrm>
            <a:off x="274320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</a:rPr>
              <a:t>✅  Normal (AC ON)</a:t>
            </a:r>
            <a:endParaRPr lang="en-US" sz="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A1C0FC-8C23-1493-7347-35D85D9F584D}"/>
              </a:ext>
            </a:extLst>
          </p:cNvPr>
          <p:cNvSpPr/>
          <p:nvPr/>
        </p:nvSpPr>
        <p:spPr>
          <a:xfrm>
            <a:off x="6177457" y="817383"/>
            <a:ext cx="2504514" cy="2185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ea typeface="Calibri"/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6015551-5558-1278-1F6F-E9981F5A4D31}"/>
              </a:ext>
            </a:extLst>
          </p:cNvPr>
          <p:cNvSpPr/>
          <p:nvPr/>
        </p:nvSpPr>
        <p:spPr>
          <a:xfrm>
            <a:off x="3166091" y="817382"/>
            <a:ext cx="2504514" cy="2185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2A5AAA-5E8D-E9EB-3BFF-10768F621145}"/>
              </a:ext>
            </a:extLst>
          </p:cNvPr>
          <p:cNvSpPr/>
          <p:nvPr/>
        </p:nvSpPr>
        <p:spPr>
          <a:xfrm>
            <a:off x="3255264" y="822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</a:rPr>
              <a:t>⚠️  Power Failure</a:t>
            </a:r>
            <a:endParaRPr lang="en-US" sz="95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68EC2203-9DE0-33A1-4C2C-2085CC2F7815}"/>
              </a:ext>
            </a:extLst>
          </p:cNvPr>
          <p:cNvSpPr/>
          <p:nvPr/>
        </p:nvSpPr>
        <p:spPr>
          <a:xfrm>
            <a:off x="6265515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</a:rPr>
              <a:t>🔋  AC Restored</a:t>
            </a:r>
            <a:endParaRPr lang="en-US" sz="95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E615BC4-1980-1DFB-5C18-3909DA262F19}"/>
              </a:ext>
            </a:extLst>
          </p:cNvPr>
          <p:cNvGrpSpPr/>
          <p:nvPr/>
        </p:nvGrpSpPr>
        <p:grpSpPr>
          <a:xfrm>
            <a:off x="2732372" y="4221891"/>
            <a:ext cx="4038173" cy="569616"/>
            <a:chOff x="2190180" y="4221891"/>
            <a:chExt cx="4038173" cy="569616"/>
          </a:xfrm>
        </p:grpSpPr>
        <p:sp>
          <p:nvSpPr>
            <p:cNvPr id="77" name="Shape 6">
              <a:extLst>
                <a:ext uri="{FF2B5EF4-FFF2-40B4-BE49-F238E27FC236}">
                  <a16:creationId xmlns:a16="http://schemas.microsoft.com/office/drawing/2014/main" id="{1344048F-3C40-5DA9-BEC2-8E5016BEBAC5}"/>
                </a:ext>
              </a:extLst>
            </p:cNvPr>
            <p:cNvSpPr/>
            <p:nvPr/>
          </p:nvSpPr>
          <p:spPr>
            <a:xfrm>
              <a:off x="2190180" y="4226042"/>
              <a:ext cx="3327129" cy="565465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63B304C-D890-526B-23C0-2F3B7255C4FF}"/>
                </a:ext>
              </a:extLst>
            </p:cNvPr>
            <p:cNvSpPr/>
            <p:nvPr/>
          </p:nvSpPr>
          <p:spPr>
            <a:xfrm>
              <a:off x="2191610" y="4224402"/>
              <a:ext cx="3325130" cy="2258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ea typeface="Calibri"/>
                <a:cs typeface="Calibri"/>
              </a:endParaRPr>
            </a:p>
          </p:txBody>
        </p:sp>
        <p:sp>
          <p:nvSpPr>
            <p:cNvPr id="64" name="Text 84">
              <a:extLst>
                <a:ext uri="{FF2B5EF4-FFF2-40B4-BE49-F238E27FC236}">
                  <a16:creationId xmlns:a16="http://schemas.microsoft.com/office/drawing/2014/main" id="{DEA33503-AEEE-0A7A-77B4-2D213D7CE487}"/>
                </a:ext>
              </a:extLst>
            </p:cNvPr>
            <p:cNvSpPr/>
            <p:nvPr/>
          </p:nvSpPr>
          <p:spPr>
            <a:xfrm>
              <a:off x="2219589" y="4221891"/>
              <a:ext cx="39867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b="1">
                  <a:solidFill>
                    <a:srgbClr val="FFFFFF"/>
                  </a:solidFill>
                </a:rPr>
                <a:t>🔋  Backup Runtime Estimate</a:t>
              </a:r>
              <a:endParaRPr lang="en-US" sz="950"/>
            </a:p>
          </p:txBody>
        </p:sp>
        <p:sp>
          <p:nvSpPr>
            <p:cNvPr id="65" name="Text 85">
              <a:extLst>
                <a:ext uri="{FF2B5EF4-FFF2-40B4-BE49-F238E27FC236}">
                  <a16:creationId xmlns:a16="http://schemas.microsoft.com/office/drawing/2014/main" id="{8E5B3C68-E348-242F-7638-4732689AE6BB}"/>
                </a:ext>
              </a:extLst>
            </p:cNvPr>
            <p:cNvSpPr/>
            <p:nvPr/>
          </p:nvSpPr>
          <p:spPr>
            <a:xfrm>
              <a:off x="2241569" y="4443164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>
                  <a:solidFill>
                    <a:srgbClr val="0D1B3E"/>
                  </a:solidFill>
                </a:rPr>
                <a:t>Energy = 24V × 10Ah = 240Wh   |   Runtime ≈ 240 ÷ 150W ≈ 1.5 hours</a:t>
              </a:r>
              <a:endParaRPr lang="en-US" sz="900"/>
            </a:p>
          </p:txBody>
        </p:sp>
        <p:sp>
          <p:nvSpPr>
            <p:cNvPr id="66" name="Text 86">
              <a:extLst>
                <a:ext uri="{FF2B5EF4-FFF2-40B4-BE49-F238E27FC236}">
                  <a16:creationId xmlns:a16="http://schemas.microsoft.com/office/drawing/2014/main" id="{3D40F78C-1419-3AAF-2A8C-4B6A1A505717}"/>
                </a:ext>
              </a:extLst>
            </p:cNvPr>
            <p:cNvSpPr/>
            <p:nvPr/>
          </p:nvSpPr>
          <p:spPr>
            <a:xfrm>
              <a:off x="2241569" y="4616900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i="1">
                  <a:solidFill>
                    <a:srgbClr val="546E7A"/>
                  </a:solidFill>
                </a:rPr>
                <a:t>Sufficient for emergency save or safe shutdown of in-progress print</a:t>
              </a:r>
              <a:endParaRPr lang="en-US" sz="85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8B36A77-C7C6-6B15-EFC6-EED0BB42200F}"/>
              </a:ext>
            </a:extLst>
          </p:cNvPr>
          <p:cNvSpPr/>
          <p:nvPr/>
        </p:nvSpPr>
        <p:spPr>
          <a:xfrm>
            <a:off x="1054520" y="1642436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AC Mains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Input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A1F622C-F8C6-F608-567F-6A3875C90697}"/>
              </a:ext>
            </a:extLst>
          </p:cNvPr>
          <p:cNvSpPr/>
          <p:nvPr/>
        </p:nvSpPr>
        <p:spPr>
          <a:xfrm>
            <a:off x="1054520" y="2272551"/>
            <a:ext cx="1142999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SMPS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-&gt; 24V DC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BBA1EC5-E027-3603-696E-E8FB414BDEFC}"/>
              </a:ext>
            </a:extLst>
          </p:cNvPr>
          <p:cNvSpPr/>
          <p:nvPr/>
        </p:nvSpPr>
        <p:spPr>
          <a:xfrm>
            <a:off x="1054519" y="2939300"/>
            <a:ext cx="1142999" cy="3689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DC Bus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24V Distribution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9723CBC-DA95-42D1-F3C6-CFD4AC5C4603}"/>
              </a:ext>
            </a:extLst>
          </p:cNvPr>
          <p:cNvSpPr/>
          <p:nvPr/>
        </p:nvSpPr>
        <p:spPr>
          <a:xfrm>
            <a:off x="3252597" y="2052743"/>
            <a:ext cx="1245575" cy="3982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ea typeface="Calibri"/>
                <a:cs typeface="Calibri"/>
              </a:rPr>
              <a:t>Charger</a:t>
            </a:r>
          </a:p>
          <a:p>
            <a:pPr algn="ctr"/>
            <a:r>
              <a:rPr lang="en-US" sz="1000">
                <a:ea typeface="Calibri"/>
                <a:cs typeface="Calibri"/>
              </a:rPr>
              <a:t>Charges when AC 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7B89712-E452-43D9-2F7B-E2237507A408}"/>
              </a:ext>
            </a:extLst>
          </p:cNvPr>
          <p:cNvSpPr/>
          <p:nvPr/>
        </p:nvSpPr>
        <p:spPr>
          <a:xfrm>
            <a:off x="3252596" y="2946627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24V Battery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10-20Ah Pack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384E2EB-6E17-D7B3-17A1-D88F1ACCD2D1}"/>
              </a:ext>
            </a:extLst>
          </p:cNvPr>
          <p:cNvSpPr/>
          <p:nvPr/>
        </p:nvSpPr>
        <p:spPr>
          <a:xfrm>
            <a:off x="3252597" y="3752589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Auto Switch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 Relay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FB84CC3-5BA2-8B6B-19E9-6AD485E678E8}"/>
              </a:ext>
            </a:extLst>
          </p:cNvPr>
          <p:cNvSpPr/>
          <p:nvPr/>
        </p:nvSpPr>
        <p:spPr>
          <a:xfrm>
            <a:off x="1604040" y="3752589"/>
            <a:ext cx="1326171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MCU &amp; Sensors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ESP32 + Modules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686D87-8CC9-09BE-62BF-E1CDC4E7A7D3}"/>
              </a:ext>
            </a:extLst>
          </p:cNvPr>
          <p:cNvSpPr/>
          <p:nvPr/>
        </p:nvSpPr>
        <p:spPr>
          <a:xfrm>
            <a:off x="336482" y="3752589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Motors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Mix X, Y, Z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48FAEE7-091E-551F-FF78-71B8D89EC457}"/>
              </a:ext>
            </a:extLst>
          </p:cNvPr>
          <p:cNvCxnSpPr/>
          <p:nvPr/>
        </p:nvCxnSpPr>
        <p:spPr>
          <a:xfrm>
            <a:off x="1629041" y="2029625"/>
            <a:ext cx="7937" cy="224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605F91F-8C0F-5FB0-6D2B-646FDBF70907}"/>
              </a:ext>
            </a:extLst>
          </p:cNvPr>
          <p:cNvCxnSpPr/>
          <p:nvPr/>
        </p:nvCxnSpPr>
        <p:spPr>
          <a:xfrm>
            <a:off x="1618359" y="2670560"/>
            <a:ext cx="7937" cy="235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9AC114C-A8A5-F6C3-0762-0D56A478A4C4}"/>
              </a:ext>
            </a:extLst>
          </p:cNvPr>
          <p:cNvCxnSpPr/>
          <p:nvPr/>
        </p:nvCxnSpPr>
        <p:spPr>
          <a:xfrm>
            <a:off x="1618359" y="3316836"/>
            <a:ext cx="7937" cy="117504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A989663-21F1-4597-4652-B312D20E8082}"/>
              </a:ext>
            </a:extLst>
          </p:cNvPr>
          <p:cNvCxnSpPr/>
          <p:nvPr/>
        </p:nvCxnSpPr>
        <p:spPr>
          <a:xfrm flipV="1">
            <a:off x="849238" y="3447003"/>
            <a:ext cx="1437515" cy="6717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ABD8ED0-F512-1892-6479-A6EB1EE450CF}"/>
              </a:ext>
            </a:extLst>
          </p:cNvPr>
          <p:cNvCxnSpPr/>
          <p:nvPr/>
        </p:nvCxnSpPr>
        <p:spPr>
          <a:xfrm>
            <a:off x="2285999" y="3455705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910DB6C-6D43-3DA4-2FFF-72574D4B7C2F}"/>
              </a:ext>
            </a:extLst>
          </p:cNvPr>
          <p:cNvCxnSpPr>
            <a:cxnSpLocks/>
          </p:cNvCxnSpPr>
          <p:nvPr/>
        </p:nvCxnSpPr>
        <p:spPr>
          <a:xfrm>
            <a:off x="842595" y="3448378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F21790-FC2B-2E89-E31E-D79277427769}"/>
              </a:ext>
            </a:extLst>
          </p:cNvPr>
          <p:cNvCxnSpPr/>
          <p:nvPr/>
        </p:nvCxnSpPr>
        <p:spPr>
          <a:xfrm>
            <a:off x="2200541" y="1810639"/>
            <a:ext cx="1671771" cy="7937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667BE43-D8B5-F4A1-328D-06ACFA09A6A7}"/>
              </a:ext>
            </a:extLst>
          </p:cNvPr>
          <p:cNvCxnSpPr>
            <a:cxnSpLocks/>
          </p:cNvCxnSpPr>
          <p:nvPr/>
        </p:nvCxnSpPr>
        <p:spPr>
          <a:xfrm flipH="1">
            <a:off x="3847243" y="1821800"/>
            <a:ext cx="6717" cy="22446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2525C86-8E10-3D39-83F4-37933BE60D9C}"/>
              </a:ext>
            </a:extLst>
          </p:cNvPr>
          <p:cNvCxnSpPr>
            <a:cxnSpLocks/>
          </p:cNvCxnSpPr>
          <p:nvPr/>
        </p:nvCxnSpPr>
        <p:spPr>
          <a:xfrm flipH="1">
            <a:off x="3839915" y="2495877"/>
            <a:ext cx="6717" cy="451599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9D77F08-A911-49DB-7289-15FE015FFA6B}"/>
              </a:ext>
            </a:extLst>
          </p:cNvPr>
          <p:cNvCxnSpPr>
            <a:cxnSpLocks/>
          </p:cNvCxnSpPr>
          <p:nvPr/>
        </p:nvCxnSpPr>
        <p:spPr>
          <a:xfrm flipH="1">
            <a:off x="3825260" y="3375107"/>
            <a:ext cx="21371" cy="37833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0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5A9B2-1267-3525-6262-76DC3C06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FDE149B-47D2-0441-2965-284B4FDC9EED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4617942-0170-3485-E863-DC0282F621E1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DC761B5-3B27-9009-CB4E-55B338F66E46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Hand Sketch Design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94D39E5-E837-6120-A4ED-9098FC1BD9D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83DAC6F-19B0-AC8B-08AE-24EF628196A2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Hand Sketch Design</a:t>
            </a:r>
            <a:endParaRPr lang="en-US" sz="9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C89E48-98F1-281F-A4D3-B40A0D76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18" y="713014"/>
            <a:ext cx="5656335" cy="4098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598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Automated Material Preparation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C8C8C8"/>
                </a:solidFill>
              </a:rPr>
              <a:t>The module creates the printing material to the printer by an automated process — no human intervene required.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45336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1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97840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3A8FE8"/>
                </a:solidFill>
                <a:ea typeface="Calibri"/>
                <a:cs typeface="Calibri"/>
              </a:rPr>
              <a:t>Raw Materials Input</a:t>
            </a:r>
          </a:p>
        </p:txBody>
      </p:sp>
      <p:sp>
        <p:nvSpPr>
          <p:cNvPr id="10" name="Text 8"/>
          <p:cNvSpPr/>
          <p:nvPr/>
        </p:nvSpPr>
        <p:spPr>
          <a:xfrm>
            <a:off x="42976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  <a:ea typeface="Calibri"/>
                <a:cs typeface="Calibri"/>
              </a:rPr>
              <a:t>User puts water and clay into the mixing chamber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545336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85876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EBFA0"/>
                </a:solidFill>
              </a:rPr>
              <a:t>Mixing Chamber Activation</a:t>
            </a:r>
            <a:endParaRPr lang="en-US" err="1"/>
          </a:p>
        </p:txBody>
      </p:sp>
      <p:sp>
        <p:nvSpPr>
          <p:cNvPr id="15" name="Text 13"/>
          <p:cNvSpPr/>
          <p:nvPr/>
        </p:nvSpPr>
        <p:spPr>
          <a:xfrm>
            <a:off x="331012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Mixing process begin inside a sealed chamber by a motor driven mixer</a:t>
            </a:r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545336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3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73912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7C6FF7"/>
                </a:solidFill>
              </a:rPr>
              <a:t>Moisture Detection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Checks the water level and if the mixture dry, pump some water</a:t>
            </a:r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209544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4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7840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0A030"/>
                </a:solidFill>
              </a:rPr>
              <a:t>Thickness Check</a:t>
            </a: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Extruder motor pushes and measure resistant and if dry, add water and mix </a:t>
            </a:r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209544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5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385876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E8603C"/>
                </a:solidFill>
              </a:rPr>
              <a:t>Closed Loop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chemeClr val="bg1"/>
                </a:solidFill>
              </a:rPr>
              <a:t>Mix → Measure → Adjust → Repeat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0488" y="3209544"/>
            <a:ext cx="457200" cy="457200"/>
          </a:xfrm>
          <a:prstGeom prst="ellipse">
            <a:avLst/>
          </a:prstGeom>
          <a:solidFill>
            <a:srgbClr val="E03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6</a:t>
            </a:r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673912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03A3A"/>
                </a:solidFill>
              </a:rPr>
              <a:t>Decision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6190488" y="379476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C8C8"/>
                </a:solidFill>
              </a:rPr>
              <a:t>Print OK  /  Adjust settings  /  Reject material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Material Identification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System &amp; Purpose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💧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Moisture Sensor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143000" y="1197864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Detects clay water content (25–35%). Prevents nozzle clogging &amp; auto-adjusts extrusion speed.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20040" y="1636776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636776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367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🔘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114300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Limit Switches ×3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Detects home position for X, Y and Z axes. Essential for accurate homing and auto-bed leveling.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04872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0487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⚖️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114300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Load Cell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143000" y="2734056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Measures extrusion pressure. Identifies clay that is too thick or too runny in real-time.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172968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7296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📡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1143000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Ultrasonic Sensor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143000" y="350215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Monitors nozzle standoff height above the clay surface for consistent layer thickness.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941064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4106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🌡️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1143000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DHT22 Sensor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1143000" y="427024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Monitors environment temp &amp; humidity. Ensures optimal clay drying rate during printing.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Sensor System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20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Hardware Components</a:t>
            </a:r>
            <a:endParaRPr lang="en-US" sz="90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E4897A5-7923-04C3-29C1-304F86656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490969"/>
              </p:ext>
            </p:extLst>
          </p:nvPr>
        </p:nvGraphicFramePr>
        <p:xfrm>
          <a:off x="231238" y="707722"/>
          <a:ext cx="4176035" cy="41894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Power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230V AC Input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24V Battery Pack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Battery charger (24V compatible)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5V DC-DC buck converter (for logic &amp; sensors)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Control &amp;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ESP32 </a:t>
                      </a:r>
                      <a:r>
                        <a:rPr lang="en-US" sz="9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DevKit</a:t>
                      </a: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V1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20×4 LCD or TFT display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Rotary encoder / keypad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SD card module (for G-code)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Wiring (silicone wires, connectors, ferrules)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Motion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NEMA 17 stepper motors ×3 (X, Y, Z)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Timing belts (GT2) + pulleys (X, Y)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Aluminium</a:t>
                      </a: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profile frame (2020 / 2040)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Limit switches ×3 (X, Y, Z homing)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Material Preparation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chamber (metal cylinder)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3244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shaft with auger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908639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High-torque DC gear motor (for mixing)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38646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FAD8765F-324C-406B-230C-12B086A5E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57331"/>
              </p:ext>
            </p:extLst>
          </p:nvPr>
        </p:nvGraphicFramePr>
        <p:xfrm>
          <a:off x="4744622" y="729702"/>
          <a:ext cx="4176035" cy="37750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76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Motor driver (H-bridge or PWM controller)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400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Mini water pump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Smart Consistency Detection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Load cell (5–20 kg) + </a:t>
                      </a:r>
                      <a:r>
                        <a:rPr lang="en-US" sz="900" b="0" i="0" u="none" strike="noStrike" noProof="0"/>
                        <a:t>HX711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Motor current sensor (INA219)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Extrusion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Extruder barrel (metal)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NEMA 17 stepper motor (extruder)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Nozzle set (interchangeable diameters 1–3 mm)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Controlled Drying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DC fan(s)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Simple vent control (manual flaps)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Pattern Drawing Unit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Pen/paint marker holder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Small servo (optional Z-pressure control)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Safety &amp; Reliability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Emergency stop button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Overcurrent fuse (battery + SMPS output)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</a:rPr>
                        <a:t>Proper enclosure/guards for moving parts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(LKR)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Frame (Aluminium Profiles)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069080" y="86868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18,000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Stepper Motors × 4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069080" y="120700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16,000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20040" y="1545336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45336"/>
            <a:ext cx="36576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ESP32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069080" y="154533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5,500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20040" y="1883664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8366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Stepper Drivers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069080" y="188366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5,000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2199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Sensors (All)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069080" y="222199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3,500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6032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Display + Keypad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069080" y="256032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4,000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20040" y="2898648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9864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Clay Extrusion System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4069080" y="289864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12,000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320040" y="3236976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36976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Power Supply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069080" y="323697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6,000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320040" y="3575304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7530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Wiring + PCB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4069080" y="357530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 7,000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1363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Miscellaneous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069080" y="391363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0A030"/>
                </a:solidFill>
              </a:rPr>
              <a:t>Rs. 10,000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5029200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117"/>
                </a:solidFill>
              </a:rPr>
              <a:t>TOTAL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>
          <a:xfrm>
            <a:off x="333756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0F1117"/>
                </a:solidFill>
              </a:rPr>
              <a:t>Rs. 87,000 – 95,000</a:t>
            </a:r>
            <a:endParaRPr lang="en-US" sz="1300"/>
          </a:p>
        </p:txBody>
      </p:sp>
      <p:graphicFrame>
        <p:nvGraphicFramePr>
          <p:cNvPr id="38" name="Chart 0"/>
          <p:cNvGraphicFramePr/>
          <p:nvPr/>
        </p:nvGraphicFramePr>
        <p:xfrm>
          <a:off x="5577840" y="822960"/>
          <a:ext cx="3383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0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Budget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Work Breakdown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3891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417320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1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1993392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68680"/>
            <a:ext cx="1572768" cy="43891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1417320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255117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2</a:t>
            </a:r>
            <a:endParaRPr lang="en-US" sz="1500"/>
          </a:p>
        </p:txBody>
      </p:sp>
      <p:sp>
        <p:nvSpPr>
          <p:cNvPr id="27" name="Shape 25"/>
          <p:cNvSpPr/>
          <p:nvPr/>
        </p:nvSpPr>
        <p:spPr>
          <a:xfrm>
            <a:off x="3712464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2464" y="868680"/>
            <a:ext cx="1572768" cy="43891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0248" y="1417320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30" name="Text 28"/>
          <p:cNvSpPr/>
          <p:nvPr/>
        </p:nvSpPr>
        <p:spPr>
          <a:xfrm>
            <a:off x="42702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3</a:t>
            </a:r>
            <a:endParaRPr lang="en-US" sz="1500"/>
          </a:p>
        </p:txBody>
      </p:sp>
      <p:sp>
        <p:nvSpPr>
          <p:cNvPr id="38" name="Shape 36"/>
          <p:cNvSpPr/>
          <p:nvPr/>
        </p:nvSpPr>
        <p:spPr>
          <a:xfrm>
            <a:off x="5431536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31536" y="868680"/>
            <a:ext cx="1572768" cy="43891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1417320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0EEF8"/>
                </a:solidFill>
              </a:rPr>
              <a:t>4</a:t>
            </a:r>
            <a:endParaRPr lang="en-US" sz="1500"/>
          </a:p>
        </p:txBody>
      </p:sp>
      <p:sp>
        <p:nvSpPr>
          <p:cNvPr id="49" name="Shape 47"/>
          <p:cNvSpPr/>
          <p:nvPr/>
        </p:nvSpPr>
        <p:spPr>
          <a:xfrm>
            <a:off x="7150608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868680"/>
            <a:ext cx="1572768" cy="43891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51" name="Shape 49"/>
          <p:cNvSpPr/>
          <p:nvPr/>
        </p:nvSpPr>
        <p:spPr>
          <a:xfrm>
            <a:off x="7708392" y="1417320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52" name="Text 50"/>
          <p:cNvSpPr/>
          <p:nvPr/>
        </p:nvSpPr>
        <p:spPr>
          <a:xfrm>
            <a:off x="77083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F1117"/>
                </a:solidFill>
              </a:rPr>
              <a:t>5</a:t>
            </a:r>
            <a:endParaRPr lang="en-US" sz="150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61" name="Text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Team Breakdown</a:t>
            </a:r>
            <a:endParaRPr lang="en-US" sz="9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B6B19A-F8C9-CF56-AEA1-83B979D62DC7}"/>
              </a:ext>
            </a:extLst>
          </p:cNvPr>
          <p:cNvSpPr txBox="1"/>
          <p:nvPr/>
        </p:nvSpPr>
        <p:spPr>
          <a:xfrm>
            <a:off x="439615" y="945173"/>
            <a:ext cx="4572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DE SILVA P.S.S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A36EFF-489C-7B95-91B2-DF30A3207F16}"/>
              </a:ext>
            </a:extLst>
          </p:cNvPr>
          <p:cNvSpPr txBox="1"/>
          <p:nvPr/>
        </p:nvSpPr>
        <p:spPr>
          <a:xfrm>
            <a:off x="2242038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CHAMIDYA J.A.S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98E252-D87B-2225-9379-4F1606665912}"/>
              </a:ext>
            </a:extLst>
          </p:cNvPr>
          <p:cNvSpPr txBox="1"/>
          <p:nvPr/>
        </p:nvSpPr>
        <p:spPr>
          <a:xfrm>
            <a:off x="3956538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OMESH N.A.N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093C5F-D7FD-EE1C-A5D4-762F6A3FE6F8}"/>
              </a:ext>
            </a:extLst>
          </p:cNvPr>
          <p:cNvSpPr txBox="1"/>
          <p:nvPr/>
        </p:nvSpPr>
        <p:spPr>
          <a:xfrm>
            <a:off x="5502519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KALANSOORIYA O.K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BC0754-89AB-2567-2E94-6FAC2F559497}"/>
              </a:ext>
            </a:extLst>
          </p:cNvPr>
          <p:cNvSpPr txBox="1"/>
          <p:nvPr/>
        </p:nvSpPr>
        <p:spPr>
          <a:xfrm>
            <a:off x="7085135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GOONATILLAKA W.A.D.S.S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4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Control System &amp; Coordination Lead</a:t>
            </a:r>
            <a:endParaRPr lang="en-US" sz="12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2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Microcontroller system (ESP32 / Arduino Mega 2560)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Power distribution &amp; wiring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Temperature &amp; humidity sensor (DHT22)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4D5051DF-354D-42E9-FCF1-6B1DF5F468CF}"/>
              </a:ext>
            </a:extLst>
          </p:cNvPr>
          <p:cNvSpPr/>
          <p:nvPr/>
        </p:nvSpPr>
        <p:spPr>
          <a:xfrm>
            <a:off x="2032666" y="1482383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Material Preparation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 b="1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chamber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motor + shaft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Water pump system </a:t>
            </a:r>
          </a:p>
          <a:p>
            <a:pPr marL="285750" indent="-285750">
              <a:buFont typeface="Arial"/>
              <a:buChar char="•"/>
            </a:pP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Moisture sensor</a:t>
            </a:r>
          </a:p>
          <a:p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0DD8A7BD-6ACA-9D39-6236-4E5084688A02}"/>
              </a:ext>
            </a:extLst>
          </p:cNvPr>
          <p:cNvSpPr/>
          <p:nvPr/>
        </p:nvSpPr>
        <p:spPr>
          <a:xfrm>
            <a:off x="3710531" y="1489709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Extrusion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Auger / piston extrusion system 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Nozzle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Clay flow mechanism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Load cell + HX711</a:t>
            </a:r>
            <a:endParaRPr lang="en-US"/>
          </a:p>
          <a:p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F7039EB1-84C2-63A7-81C7-F30FBD9D40AC}"/>
              </a:ext>
            </a:extLst>
          </p:cNvPr>
          <p:cNvSpPr/>
          <p:nvPr/>
        </p:nvSpPr>
        <p:spPr>
          <a:xfrm>
            <a:off x="5468993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Motion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X, Y, Z axis mechanics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Stepper motors + rails + belts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Frame assembly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Limit switches (X, Y, Z homing)</a:t>
            </a:r>
          </a:p>
          <a:p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CAD2D6BA-E182-9475-7BCC-4D56A8435CB0}"/>
              </a:ext>
            </a:extLst>
          </p:cNvPr>
          <p:cNvSpPr/>
          <p:nvPr/>
        </p:nvSpPr>
        <p:spPr>
          <a:xfrm>
            <a:off x="7154185" y="1555651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User Interface &amp; System Monitoring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LCD / TFT display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Keypad / rotary encoder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SD card module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Motor current sensing </a:t>
            </a:r>
          </a:p>
          <a:p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>
              <a:solidFill>
                <a:srgbClr val="F0EEF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Project Process — 10 Months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Research &amp; Requirements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865376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066544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System Design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584448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2464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785616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Component Procurement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31536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5504688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Mechanical Construction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7022592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05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7223760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Electronics Assembly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06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347472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Software Development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1865376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993392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117"/>
                </a:solidFill>
              </a:rPr>
              <a:t>07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2066544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System Integration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3584448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3712464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1" name="Text 39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117"/>
                </a:solidFill>
              </a:rPr>
              <a:t>08</a:t>
            </a:r>
            <a:endParaRPr lang="en-US" sz="1800"/>
          </a:p>
        </p:txBody>
      </p:sp>
      <p:sp>
        <p:nvSpPr>
          <p:cNvPr id="42" name="Text 40"/>
          <p:cNvSpPr/>
          <p:nvPr/>
        </p:nvSpPr>
        <p:spPr>
          <a:xfrm>
            <a:off x="3785616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Calibration &amp; Testing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5303520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31536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6" name="Text 44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09</a:t>
            </a:r>
            <a:endParaRPr lang="en-US" sz="1800"/>
          </a:p>
        </p:txBody>
      </p:sp>
      <p:sp>
        <p:nvSpPr>
          <p:cNvPr id="47" name="Text 45"/>
          <p:cNvSpPr/>
          <p:nvPr/>
        </p:nvSpPr>
        <p:spPr>
          <a:xfrm>
            <a:off x="5504688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Performance Optimization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7022592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150608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0EEF8"/>
                </a:solidFill>
              </a:rPr>
              <a:t>10</a:t>
            </a:r>
            <a:endParaRPr lang="en-US" sz="1800"/>
          </a:p>
        </p:txBody>
      </p:sp>
      <p:sp>
        <p:nvSpPr>
          <p:cNvPr id="52" name="Text 50"/>
          <p:cNvSpPr/>
          <p:nvPr/>
        </p:nvSpPr>
        <p:spPr>
          <a:xfrm>
            <a:off x="7223760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C8C8C8"/>
                </a:solidFill>
              </a:rPr>
              <a:t>Documentation &amp; Report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4" name="Text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Project Process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/>
          </a:p>
        </p:txBody>
      </p:sp>
      <p:sp>
        <p:nvSpPr>
          <p:cNvPr id="5" name="Shape acc1"/>
          <p:cNvSpPr/>
          <p:nvPr/>
        </p:nvSpPr>
        <p:spPr>
          <a:xfrm>
            <a:off x="320040" y="868680"/>
            <a:ext cx="45720" cy="5960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6" name="Text title1"/>
          <p:cNvSpPr/>
          <p:nvPr/>
        </p:nvSpPr>
        <p:spPr>
          <a:xfrm>
            <a:off x="502920" y="86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EBFA0"/>
                </a:solidFill>
              </a:rPr>
              <a:t>01</a:t>
            </a:r>
            <a:r>
              <a:rPr lang="en-US" sz="1200" b="1">
                <a:solidFill>
                  <a:srgbClr val="F0EEF8"/>
                </a:solidFill>
              </a:rPr>
              <a:t>   Espressif Systems — ESP32 Datasheet</a:t>
            </a:r>
            <a:endParaRPr lang="en-US" sz="1200"/>
          </a:p>
        </p:txBody>
      </p:sp>
      <p:sp>
        <p:nvSpPr>
          <p:cNvPr id="7" name="Text sub1"/>
          <p:cNvSpPr/>
          <p:nvPr/>
        </p:nvSpPr>
        <p:spPr>
          <a:xfrm>
            <a:off x="502920" y="118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ESP32 Series Datasheet v5.2  ·  documentation.espressif.com</a:t>
            </a:r>
            <a:endParaRPr lang="en-US" sz="1000"/>
          </a:p>
        </p:txBody>
      </p:sp>
      <p:sp>
        <p:nvSpPr>
          <p:cNvPr id="8" name="Shape acc2"/>
          <p:cNvSpPr/>
          <p:nvPr/>
        </p:nvSpPr>
        <p:spPr>
          <a:xfrm>
            <a:off x="320040" y="1838680"/>
            <a:ext cx="45720" cy="5960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9" name="Text title2"/>
          <p:cNvSpPr/>
          <p:nvPr/>
        </p:nvSpPr>
        <p:spPr>
          <a:xfrm>
            <a:off x="502920" y="183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7C6FF7"/>
                </a:solidFill>
              </a:rPr>
              <a:t>02</a:t>
            </a:r>
            <a:r>
              <a:rPr lang="en-US" sz="1200" b="1">
                <a:solidFill>
                  <a:srgbClr val="F0EEF8"/>
                </a:solidFill>
              </a:rPr>
              <a:t>   Analog Devices — TMC2208 Driver Datasheet</a:t>
            </a:r>
            <a:endParaRPr lang="en-US" sz="1200"/>
          </a:p>
        </p:txBody>
      </p:sp>
      <p:sp>
        <p:nvSpPr>
          <p:cNvPr id="10" name="Text sub2"/>
          <p:cNvSpPr/>
          <p:nvPr/>
        </p:nvSpPr>
        <p:spPr>
          <a:xfrm>
            <a:off x="502920" y="215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TMC220X/TMC2224 Datasheet Rev. 1.14  ·  analog.com</a:t>
            </a:r>
            <a:endParaRPr lang="en-US" sz="1000"/>
          </a:p>
        </p:txBody>
      </p:sp>
      <p:sp>
        <p:nvSpPr>
          <p:cNvPr id="11" name="Shape acc3"/>
          <p:cNvSpPr/>
          <p:nvPr/>
        </p:nvSpPr>
        <p:spPr>
          <a:xfrm>
            <a:off x="320040" y="2808680"/>
            <a:ext cx="45720" cy="59600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title3"/>
          <p:cNvSpPr/>
          <p:nvPr/>
        </p:nvSpPr>
        <p:spPr>
          <a:xfrm>
            <a:off x="502920" y="280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3A8FE8"/>
                </a:solidFill>
              </a:rPr>
              <a:t>03</a:t>
            </a:r>
            <a:r>
              <a:rPr lang="en-US" sz="1200" b="1">
                <a:solidFill>
                  <a:srgbClr val="F0EEF8"/>
                </a:solidFill>
              </a:rPr>
              <a:t>   Avia Semiconductor — HX711 ADC Datasheet</a:t>
            </a:r>
            <a:endParaRPr lang="en-US" sz="1200"/>
          </a:p>
        </p:txBody>
      </p:sp>
      <p:sp>
        <p:nvSpPr>
          <p:cNvPr id="13" name="Text sub3"/>
          <p:cNvSpPr/>
          <p:nvPr/>
        </p:nvSpPr>
        <p:spPr>
          <a:xfrm>
            <a:off x="502920" y="312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24-Bit ADC for Weigh Scales  ·  cdn.sparkfun.com</a:t>
            </a:r>
            <a:endParaRPr lang="en-US" sz="1000"/>
          </a:p>
        </p:txBody>
      </p:sp>
      <p:sp>
        <p:nvSpPr>
          <p:cNvPr id="14" name="Shape acc4"/>
          <p:cNvSpPr/>
          <p:nvPr/>
        </p:nvSpPr>
        <p:spPr>
          <a:xfrm>
            <a:off x="320040" y="3778680"/>
            <a:ext cx="45720" cy="59600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5" name="Text title4"/>
          <p:cNvSpPr/>
          <p:nvPr/>
        </p:nvSpPr>
        <p:spPr>
          <a:xfrm>
            <a:off x="502920" y="377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E8603C"/>
                </a:solidFill>
              </a:rPr>
              <a:t>04</a:t>
            </a:r>
            <a:r>
              <a:rPr lang="en-US" sz="1200" b="1">
                <a:solidFill>
                  <a:srgbClr val="F0EEF8"/>
                </a:solidFill>
              </a:rPr>
              <a:t>   Aosong Electronics — AM2302/DHT22 Manual</a:t>
            </a:r>
            <a:endParaRPr lang="en-US" sz="1200"/>
          </a:p>
        </p:txBody>
      </p:sp>
      <p:sp>
        <p:nvSpPr>
          <p:cNvPr id="16" name="Text sub4"/>
          <p:cNvSpPr/>
          <p:nvPr/>
        </p:nvSpPr>
        <p:spPr>
          <a:xfrm>
            <a:off x="502920" y="409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Digital Humidity &amp; Temperature Sensor  ·  aosong.com</a:t>
            </a:r>
            <a:endParaRPr lang="en-US" sz="1000"/>
          </a:p>
        </p:txBody>
      </p:sp>
      <p:sp>
        <p:nvSpPr>
          <p:cNvPr id="17" name="Shape acc5"/>
          <p:cNvSpPr/>
          <p:nvPr/>
        </p:nvSpPr>
        <p:spPr>
          <a:xfrm>
            <a:off x="4663440" y="868680"/>
            <a:ext cx="45720" cy="59600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18" name="Text title5"/>
          <p:cNvSpPr/>
          <p:nvPr/>
        </p:nvSpPr>
        <p:spPr>
          <a:xfrm>
            <a:off x="4846320" y="86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0A030"/>
                </a:solidFill>
              </a:rPr>
              <a:t>05</a:t>
            </a:r>
            <a:r>
              <a:rPr lang="en-US" sz="1200" b="1">
                <a:solidFill>
                  <a:srgbClr val="F0EEF8"/>
                </a:solidFill>
              </a:rPr>
              <a:t>   RepRap Project — G-code Reference</a:t>
            </a:r>
            <a:endParaRPr lang="en-US" sz="1200"/>
          </a:p>
        </p:txBody>
      </p:sp>
      <p:sp>
        <p:nvSpPr>
          <p:cNvPr id="19" name="Text sub5"/>
          <p:cNvSpPr/>
          <p:nvPr/>
        </p:nvSpPr>
        <p:spPr>
          <a:xfrm>
            <a:off x="4846320" y="118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G-code Command Wiki  ·  reprap.org/wiki/G-code</a:t>
            </a:r>
            <a:endParaRPr lang="en-US" sz="1000"/>
          </a:p>
        </p:txBody>
      </p:sp>
      <p:sp>
        <p:nvSpPr>
          <p:cNvPr id="20" name="Shape acc6"/>
          <p:cNvSpPr/>
          <p:nvPr/>
        </p:nvSpPr>
        <p:spPr>
          <a:xfrm>
            <a:off x="4663440" y="1838680"/>
            <a:ext cx="45720" cy="5960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21" name="Text title6"/>
          <p:cNvSpPr/>
          <p:nvPr/>
        </p:nvSpPr>
        <p:spPr>
          <a:xfrm>
            <a:off x="4846320" y="183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EBFA0"/>
                </a:solidFill>
              </a:rPr>
              <a:t>06</a:t>
            </a:r>
            <a:r>
              <a:rPr lang="en-US" sz="1200" b="1">
                <a:solidFill>
                  <a:srgbClr val="F0EEF8"/>
                </a:solidFill>
              </a:rPr>
              <a:t>   Ruscitti, Tapia &amp; Rendtorff (2020)</a:t>
            </a:r>
            <a:endParaRPr lang="en-US" sz="1200"/>
          </a:p>
        </p:txBody>
      </p:sp>
      <p:sp>
        <p:nvSpPr>
          <p:cNvPr id="22" name="Text sub6"/>
          <p:cNvSpPr/>
          <p:nvPr/>
        </p:nvSpPr>
        <p:spPr>
          <a:xfrm>
            <a:off x="4846320" y="215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AM of Ceramics via Clay-Paste Extrusion, Cerâmica 66(380)</a:t>
            </a:r>
            <a:endParaRPr lang="en-US" sz="1000"/>
          </a:p>
        </p:txBody>
      </p:sp>
      <p:sp>
        <p:nvSpPr>
          <p:cNvPr id="23" name="Shape acc7"/>
          <p:cNvSpPr/>
          <p:nvPr/>
        </p:nvSpPr>
        <p:spPr>
          <a:xfrm>
            <a:off x="4663440" y="2808680"/>
            <a:ext cx="45720" cy="5960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4" name="Text title7"/>
          <p:cNvSpPr/>
          <p:nvPr/>
        </p:nvSpPr>
        <p:spPr>
          <a:xfrm>
            <a:off x="4846320" y="280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7C6FF7"/>
                </a:solidFill>
              </a:rPr>
              <a:t>07</a:t>
            </a:r>
            <a:r>
              <a:rPr lang="en-US" sz="1200" b="1">
                <a:solidFill>
                  <a:srgbClr val="F0EEF8"/>
                </a:solidFill>
              </a:rPr>
              <a:t>   Cárdenas Correa, Torres Barahona &amp; Carda Castelló (2026)</a:t>
            </a:r>
            <a:endParaRPr lang="en-US" sz="1200"/>
          </a:p>
        </p:txBody>
      </p:sp>
      <p:sp>
        <p:nvSpPr>
          <p:cNvPr id="25" name="Text sub7"/>
          <p:cNvSpPr/>
          <p:nvPr/>
        </p:nvSpPr>
        <p:spPr>
          <a:xfrm>
            <a:off x="4846320" y="312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8C8C8"/>
                </a:solidFill>
              </a:rPr>
              <a:t>Ceramic AM via Direct Ink Writing: A Review, Ceramics 9(2):16</a:t>
            </a:r>
            <a:endParaRPr lang="en-US" sz="1000"/>
          </a:p>
        </p:txBody>
      </p:sp>
      <p:sp>
        <p:nvSpPr>
          <p:cNvPr id="26" name="Shape foote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foote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EEF8"/>
                </a:solidFill>
              </a:rPr>
              <a:t>Microcontroller-Based 3D Potter Printer  |  References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3321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3200400" cy="3200400"/>
          </a:xfrm>
          <a:prstGeom prst="ellipse">
            <a:avLst/>
          </a:prstGeom>
          <a:solidFill>
            <a:srgbClr val="7C6FF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1EBF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1EBFA0"/>
                </a:solidFill>
              </a:rPr>
              <a:t>CONCLUSION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 Solution for Modern Pottery</a:t>
            </a:r>
            <a:endParaRPr lang="en-US" sz="380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64008" cy="329184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94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C8C8"/>
                </a:solidFill>
              </a:rPr>
              <a:t>Fully automated clay printing — microcontroller replaces manual pottery skill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20040" y="2633472"/>
            <a:ext cx="64008" cy="329184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334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C8C8"/>
                </a:solidFill>
              </a:rPr>
              <a:t>Precise 3-axis stepper motor control with sensor-driven auto-bed leveling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320040" y="3072384"/>
            <a:ext cx="64008" cy="329184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723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C8C8"/>
                </a:solidFill>
              </a:rPr>
              <a:t>Intelligent material identification through an integrated 5-sensor suite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64008" cy="329184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1129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C8C8"/>
                </a:solidFill>
              </a:rPr>
              <a:t>Safe and user-friendly: LCD interface, emergency stop, real-time monitoring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64008" cy="329184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502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C8C8"/>
                </a:solidFill>
              </a:rPr>
              <a:t>Budget-conscious design: approx. Rs. 87,000 – 95,000 total cost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1117"/>
                </a:solidFill>
              </a:rPr>
              <a:t>Thank You  ·  Microcontroller-Based 3D Potter Printer  · Level 01 Project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Microcontroller-Based 3D Potter Printer</dc:title>
  <dc:subject>PptxGenJS Presentation</dc:subject>
  <dc:creator>PptxGenJS</dc:creator>
  <cp:revision>138</cp:revision>
  <dcterms:created xsi:type="dcterms:W3CDTF">2026-04-07T10:51:14Z</dcterms:created>
  <dcterms:modified xsi:type="dcterms:W3CDTF">2026-07-25T12:22:49Z</dcterms:modified>
</cp:coreProperties>
</file>
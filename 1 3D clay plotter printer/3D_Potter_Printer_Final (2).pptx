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58" r:id="rId5"/>
    <p:sldId id="273" r:id="rId25"/>
    <p:sldId id="259" r:id="rId6"/>
    <p:sldId id="263" r:id="rId7"/>
    <p:sldId id="270" r:id="rId8"/>
    <p:sldId id="271" r:id="rId9"/>
    <p:sldId id="269" r:id="rId10"/>
    <p:sldId id="264" r:id="rId11"/>
    <p:sldId id="262" r:id="rId12"/>
    <p:sldId id="261" r:id="rId13"/>
    <p:sldId id="265" r:id="rId14"/>
    <p:sldId id="266" r:id="rId15"/>
    <p:sldId id="267" r:id="rId16"/>
    <p:sldId id="268" r:id="rId17"/>
    <p:sldId id="272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A83B-D43D-4D33-9642-7E667A2F2159}" v="2" dt="2026-04-09T13:03:13.182"/>
    <p1510:client id="{17E11736-06B5-4941-87EE-BB8822D6FFAC}" v="690" dt="2026-04-09T05:48:56.410"/>
    <p1510:client id="{57A3B8D2-F6A1-40C3-AC77-FF55A58880F1}" v="461" dt="2026-04-10T06:10:29.187"/>
    <p1510:client id="{A2190EAC-E2E3-4867-8D23-61ECFA054FCB}" v="1033" dt="2026-04-08T12:13:11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  <Relationship Id="rId24" Type="http://schemas.openxmlformats.org/officeDocument/2006/relationships/slide" Target="slides/slide17.xml"/>
  <Relationship Id="rId25" Type="http://schemas.openxmlformats.org/officeDocument/2006/relationships/slide" Target="slides/slide18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(LKR)</c:v>
                </c:pt>
              </c:strCache>
            </c:strRef>
          </c:tx>
          <c:spPr>
            <a:solidFill>
              <a:srgbClr val="F0A030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Frame</c:v>
                </c:pt>
                <c:pt idx="1">
                  <c:v>Motors</c:v>
                </c:pt>
                <c:pt idx="2">
                  <c:v>MCU</c:v>
                </c:pt>
                <c:pt idx="3">
                  <c:v>Drivers</c:v>
                </c:pt>
                <c:pt idx="4">
                  <c:v>Sensors</c:v>
                </c:pt>
                <c:pt idx="5">
                  <c:v>Display</c:v>
                </c:pt>
                <c:pt idx="6">
                  <c:v>Extruder</c:v>
                </c:pt>
                <c:pt idx="7">
                  <c:v>PSU</c:v>
                </c:pt>
                <c:pt idx="8">
                  <c:v>PCB</c:v>
                </c:pt>
                <c:pt idx="9">
                  <c:v>Misc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18000</c:v>
                </c:pt>
                <c:pt idx="1">
                  <c:v>16000</c:v>
                </c:pt>
                <c:pt idx="2">
                  <c:v>5500</c:v>
                </c:pt>
                <c:pt idx="3">
                  <c:v>5000</c:v>
                </c:pt>
                <c:pt idx="4">
                  <c:v>3500</c:v>
                </c:pt>
                <c:pt idx="5">
                  <c:v>4000</c:v>
                </c:pt>
                <c:pt idx="6">
                  <c:v>12000</c:v>
                </c:pt>
                <c:pt idx="7">
                  <c:v>6000</c:v>
                </c:pt>
                <c:pt idx="8">
                  <c:v>7000</c:v>
                </c:pt>
                <c:pt idx="9">
                  <c:v>10000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77-4E97-942D-57866EF7C3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A3A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C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81C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A34E1-FF83-4DDC-A146-58B181EC6B39}" type="datetimeFigureOut"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DABA31-FA69-4284-9AE0-588D97C58B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167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117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74320"/>
            <a:ext cx="2011680" cy="2011680"/>
          </a:xfrm>
          <a:prstGeom prst="ellipse">
            <a:avLst/>
          </a:prstGeom>
          <a:solidFill>
            <a:srgbClr val="7C6FF7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949440" y="640080"/>
            <a:ext cx="1280160" cy="1280160"/>
          </a:xfrm>
          <a:prstGeom prst="ellipse">
            <a:avLst/>
          </a:prstGeom>
          <a:solidFill>
            <a:srgbClr val="1EBFA0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400800" y="2926080"/>
            <a:ext cx="1645920" cy="1645920"/>
          </a:xfrm>
          <a:prstGeom prst="ellipse">
            <a:avLst/>
          </a:prstGeom>
          <a:solidFill>
            <a:srgbClr val="E8603C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914400"/>
            <a:ext cx="2286000" cy="292608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914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200">
                <a:solidFill>
                  <a:srgbClr val="F0EEF8"/>
                </a:solidFill>
              </a:rPr>
              <a:t>LEVEL 01 PROJECT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404718"/>
            <a:ext cx="5669280" cy="2011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4000" b="1">
                <a:solidFill>
                  <a:srgbClr val="F0EEF8"/>
                </a:solidFill>
                <a:latin typeface="Georgia"/>
                <a:ea typeface="Georgia" pitchFamily="34" charset="-122"/>
                <a:cs typeface="Georgia" pitchFamily="34" charset="-120"/>
              </a:rPr>
              <a:t>Microcontroller         Based Dual – Mode </a:t>
            </a:r>
            <a:r>
              <a:rPr lang="en-US" sz="4000" b="1" dirty="0">
                <a:solidFill>
                  <a:srgbClr val="F0EEF8"/>
                </a:solidFill>
                <a:latin typeface="Georgia"/>
                <a:ea typeface="Georgia" pitchFamily="34" charset="-122"/>
                <a:cs typeface="Georgia" pitchFamily="34" charset="-120"/>
              </a:rPr>
              <a:t>Clay Fabrication System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274320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</a:rPr>
              <a:t>Arduino / ESP32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93392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3392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</a:rPr>
              <a:t>Stepper Motors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12464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</a:rPr>
              <a:t>Clay Extrusion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31536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</a:rPr>
              <a:t>Sensor Suite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50608" y="3977640"/>
            <a:ext cx="1572768" cy="292608"/>
          </a:xfrm>
          <a:prstGeom prst="rect">
            <a:avLst/>
          </a:prstGeom>
          <a:solidFill>
            <a:srgbClr val="181C28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3977640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C8C8"/>
                </a:solidFill>
              </a:rPr>
              <a:t>Real-Time Control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3" name="Text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EEF8"/>
                </a:solidFill>
              </a:rPr>
              <a:t>Microcontroller-Based 3D Potter Printer  ·  Automated Clay Printing System</a:t>
            </a:r>
            <a:endParaRPr lang="en-US" sz="1000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09211D47-D9EF-815A-23E5-B737F1F17984}"/>
              </a:ext>
            </a:extLst>
          </p:cNvPr>
          <p:cNvSpPr/>
          <p:nvPr/>
        </p:nvSpPr>
        <p:spPr>
          <a:xfrm>
            <a:off x="6487434" y="211748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254037B – CHAMIDYA J.A.S (IT)</a:t>
            </a:r>
            <a:endParaRPr lang="en-US" sz="11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62EBBB4F-8867-658A-31C9-55A4DABCB29F}"/>
              </a:ext>
            </a:extLst>
          </p:cNvPr>
          <p:cNvSpPr/>
          <p:nvPr/>
        </p:nvSpPr>
        <p:spPr>
          <a:xfrm>
            <a:off x="6487434" y="241008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254048J – DE SILVA P.S.S (IT)</a:t>
            </a:r>
            <a:endParaRPr lang="en-US" sz="11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3D32A0A8-6449-781F-2AF1-6677D6E3387A}"/>
              </a:ext>
            </a:extLst>
          </p:cNvPr>
          <p:cNvSpPr/>
          <p:nvPr/>
        </p:nvSpPr>
        <p:spPr>
          <a:xfrm>
            <a:off x="6487434" y="2702697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255078H – OMESH N.A.N (ITM)</a:t>
            </a:r>
            <a:endParaRPr lang="en-US" sz="1100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F7047A1-E36F-D36E-5C75-E176A2A73E9D}"/>
              </a:ext>
            </a:extLst>
          </p:cNvPr>
          <p:cNvSpPr/>
          <p:nvPr/>
        </p:nvSpPr>
        <p:spPr>
          <a:xfrm>
            <a:off x="6491830" y="2974731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254101R – KALANSOORIYA O.K (IT)</a:t>
            </a:r>
            <a:endParaRPr lang="en-US" sz="11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1FC3ACBE-FC62-1092-67D6-FC08CCDD8FC9}"/>
              </a:ext>
            </a:extLst>
          </p:cNvPr>
          <p:cNvSpPr/>
          <p:nvPr/>
        </p:nvSpPr>
        <p:spPr>
          <a:xfrm>
            <a:off x="6491830" y="326733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255027D – GOONATILLAKA W.A.D.S.S (ITM)</a:t>
            </a:r>
            <a:endParaRPr lang="en-US" sz="1100" dirty="0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F521AF7C-FB14-0E24-9918-5B4719A184EA}"/>
              </a:ext>
            </a:extLst>
          </p:cNvPr>
          <p:cNvSpPr/>
          <p:nvPr/>
        </p:nvSpPr>
        <p:spPr>
          <a:xfrm>
            <a:off x="274203" y="4444805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Supervisor: [Supervisor Name]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658368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960120"/>
            <a:ext cx="475488" cy="475488"/>
          </a:xfrm>
          <a:prstGeom prst="ellipse">
            <a:avLst/>
          </a:prstGeom>
          <a:solidFill>
            <a:srgbClr val="7C6FF7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33272" y="86868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868680"/>
            <a:ext cx="64008" cy="658368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92040" y="960120"/>
            <a:ext cx="475488" cy="475488"/>
          </a:xfrm>
          <a:prstGeom prst="ellipse">
            <a:avLst/>
          </a:prstGeom>
          <a:solidFill>
            <a:srgbClr val="1EBFA0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960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68112" y="868680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Aim &amp; Objectives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1673352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1673352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1764792"/>
            <a:ext cx="475488" cy="475488"/>
          </a:xfrm>
          <a:prstGeom prst="ellipse">
            <a:avLst/>
          </a:prstGeom>
          <a:solidFill>
            <a:srgbClr val="3A8FE8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764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33272" y="167335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673352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1673352"/>
            <a:ext cx="64008" cy="658368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22" name="Shape 20"/>
          <p:cNvSpPr/>
          <p:nvPr/>
        </p:nvSpPr>
        <p:spPr>
          <a:xfrm>
            <a:off x="4892040" y="1764792"/>
            <a:ext cx="475488" cy="475488"/>
          </a:xfrm>
          <a:prstGeom prst="ellipse">
            <a:avLst/>
          </a:prstGeom>
          <a:solidFill>
            <a:srgbClr val="E8603C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764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68112" y="1673352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Hardware Components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2478024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2478024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2569464"/>
            <a:ext cx="475488" cy="475488"/>
          </a:xfrm>
          <a:prstGeom prst="ellipse">
            <a:avLst/>
          </a:prstGeom>
          <a:solidFill>
            <a:srgbClr val="3A8FE8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33272" y="247802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Sensor System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2478024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2478024"/>
            <a:ext cx="64008" cy="658368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32" name="Shape 30"/>
          <p:cNvSpPr/>
          <p:nvPr/>
        </p:nvSpPr>
        <p:spPr>
          <a:xfrm>
            <a:off x="4892040" y="2569464"/>
            <a:ext cx="475488" cy="475488"/>
          </a:xfrm>
          <a:prstGeom prst="ellipse">
            <a:avLst/>
          </a:prstGeom>
          <a:solidFill>
            <a:srgbClr val="F0A030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892040" y="2569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68112" y="2478024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System Block Diagram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" y="3282696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6" name="Shape 34"/>
          <p:cNvSpPr/>
          <p:nvPr/>
        </p:nvSpPr>
        <p:spPr>
          <a:xfrm>
            <a:off x="320040" y="3282696"/>
            <a:ext cx="64008" cy="658368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3374136"/>
            <a:ext cx="475488" cy="475488"/>
          </a:xfrm>
          <a:prstGeom prst="ellipse">
            <a:avLst/>
          </a:prstGeom>
          <a:solidFill>
            <a:srgbClr val="1EBFA0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33272" y="328269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Material Identification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3282696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41" name="Shape 39"/>
          <p:cNvSpPr/>
          <p:nvPr/>
        </p:nvSpPr>
        <p:spPr>
          <a:xfrm>
            <a:off x="4754880" y="3282696"/>
            <a:ext cx="64008" cy="658368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2" name="Shape 40"/>
          <p:cNvSpPr/>
          <p:nvPr/>
        </p:nvSpPr>
        <p:spPr>
          <a:xfrm>
            <a:off x="4892040" y="3374136"/>
            <a:ext cx="475488" cy="475488"/>
          </a:xfrm>
          <a:prstGeom prst="ellipse">
            <a:avLst/>
          </a:prstGeom>
          <a:solidFill>
            <a:srgbClr val="7C6FF7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3741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468112" y="3282696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Project Process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20040" y="4087368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46" name="Shape 44"/>
          <p:cNvSpPr/>
          <p:nvPr/>
        </p:nvSpPr>
        <p:spPr>
          <a:xfrm>
            <a:off x="320040" y="4087368"/>
            <a:ext cx="64008" cy="658368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" y="4178808"/>
            <a:ext cx="475488" cy="475488"/>
          </a:xfrm>
          <a:prstGeom prst="ellipse">
            <a:avLst/>
          </a:prstGeom>
          <a:solidFill>
            <a:srgbClr val="E8603C">
              <a:alpha val="8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09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33272" y="408736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Team Breakdown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754880" y="4087368"/>
            <a:ext cx="411480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51" name="Shape 49"/>
          <p:cNvSpPr/>
          <p:nvPr/>
        </p:nvSpPr>
        <p:spPr>
          <a:xfrm>
            <a:off x="4754880" y="4087368"/>
            <a:ext cx="64008" cy="658368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52" name="Shape 50"/>
          <p:cNvSpPr/>
          <p:nvPr/>
        </p:nvSpPr>
        <p:spPr>
          <a:xfrm>
            <a:off x="4892040" y="4178808"/>
            <a:ext cx="475488" cy="475488"/>
          </a:xfrm>
          <a:prstGeom prst="ellipse">
            <a:avLst/>
          </a:prstGeom>
          <a:solidFill>
            <a:srgbClr val="F0A030">
              <a:alpha val="8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4892040" y="4178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EF8"/>
                </a:solidFill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468112" y="4087368"/>
            <a:ext cx="3246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EEF8"/>
                </a:solidFill>
              </a:rPr>
              <a:t>Budget &amp; Conclusion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56" name="Text 5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Contents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6400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868680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33272" y="8686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</a:rPr>
              <a:t>3-Axis Motion Control (X, Y, Z)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868680"/>
            <a:ext cx="64008" cy="6400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868680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68112" y="868680"/>
            <a:ext cx="32918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F0EEF8"/>
                </a:solidFill>
                <a:ea typeface="Calibri"/>
                <a:cs typeface="Calibri"/>
              </a:rPr>
              <a:t>Automated Pattern Drawing</a:t>
            </a:r>
            <a:endParaRPr lang="en-US" sz="1200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0040" y="1636776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1636776"/>
            <a:ext cx="64008" cy="640080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" y="1636776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🪣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33272" y="1636776"/>
            <a:ext cx="32918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F0EEF8"/>
                </a:solidFill>
              </a:rPr>
              <a:t>Controlled Clay Extrusion (Auger)</a:t>
            </a:r>
            <a:endParaRPr lang="en-US" sz="1200">
              <a:ea typeface="Calibri"/>
              <a:cs typeface="Calibri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4880" y="1636776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636776"/>
            <a:ext cx="64008" cy="64008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9" name="Text 17"/>
          <p:cNvSpPr/>
          <p:nvPr/>
        </p:nvSpPr>
        <p:spPr>
          <a:xfrm>
            <a:off x="4864608" y="1636776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468112" y="1636776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</a:rPr>
              <a:t>Moisture Sensor — Anti-Clog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2404872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" y="2404872"/>
            <a:ext cx="64008" cy="6400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2404872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🎚️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33272" y="2404872"/>
            <a:ext cx="32918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F0EEF8"/>
                </a:solidFill>
              </a:rPr>
              <a:t>Automated Material </a:t>
            </a:r>
            <a:r>
              <a:rPr lang="en-US" sz="1200">
                <a:solidFill>
                  <a:srgbClr val="F0EEF8"/>
                </a:solidFill>
              </a:rPr>
              <a:t>Preparation</a:t>
            </a:r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2404872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404872"/>
            <a:ext cx="64008" cy="64008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7" name="Text 25"/>
          <p:cNvSpPr/>
          <p:nvPr/>
        </p:nvSpPr>
        <p:spPr>
          <a:xfrm>
            <a:off x="4864608" y="2404872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🌡️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68112" y="2404872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</a:rPr>
              <a:t>Temperature &amp; Humidity Monitor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172968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3172968"/>
            <a:ext cx="64008" cy="6400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3172968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33272" y="31729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</a:rPr>
              <a:t>LCD Display + Keypad Interface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172968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3172968"/>
            <a:ext cx="64008" cy="64008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35" name="Text 33"/>
          <p:cNvSpPr/>
          <p:nvPr/>
        </p:nvSpPr>
        <p:spPr>
          <a:xfrm>
            <a:off x="4864608" y="3172968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68112" y="3172968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</a:rPr>
              <a:t>SD Card / USB File Input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3941064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8" name="Shape 36"/>
          <p:cNvSpPr/>
          <p:nvPr/>
        </p:nvSpPr>
        <p:spPr>
          <a:xfrm>
            <a:off x="320040" y="3941064"/>
            <a:ext cx="64008" cy="640080"/>
          </a:xfrm>
          <a:prstGeom prst="rect">
            <a:avLst/>
          </a:prstGeom>
          <a:solidFill>
            <a:srgbClr val="E03A3A"/>
          </a:solidFill>
          <a:ln/>
        </p:spPr>
      </p:sp>
      <p:sp>
        <p:nvSpPr>
          <p:cNvPr id="39" name="Text 37"/>
          <p:cNvSpPr/>
          <p:nvPr/>
        </p:nvSpPr>
        <p:spPr>
          <a:xfrm>
            <a:off x="429768" y="3941064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🛑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33272" y="394106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EF8"/>
                </a:solidFill>
              </a:rPr>
              <a:t>Emergency Safety Shut-Off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54880" y="3941064"/>
            <a:ext cx="4114800" cy="640080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42" name="Shape 40"/>
          <p:cNvSpPr/>
          <p:nvPr/>
        </p:nvSpPr>
        <p:spPr>
          <a:xfrm>
            <a:off x="4754880" y="3941064"/>
            <a:ext cx="64008" cy="6400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43" name="Text 41"/>
          <p:cNvSpPr/>
          <p:nvPr/>
        </p:nvSpPr>
        <p:spPr>
          <a:xfrm>
            <a:off x="4864608" y="3941064"/>
            <a:ext cx="530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468112" y="3941064"/>
            <a:ext cx="32918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F0EEF8"/>
                </a:solidFill>
              </a:rPr>
              <a:t>Bust / Sculpture Creation</a:t>
            </a:r>
            <a:endParaRPr lang="en-US" sz="120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6" name="Text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Key Features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41248"/>
            <a:ext cx="850392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dirty="0">
                <a:solidFill>
                  <a:srgbClr val="C8C8C8"/>
                </a:solidFill>
              </a:rPr>
              <a:t>This project designs and develops an automated 3D pottery printer capable of creating ceramic structures — cups, pots, vases, artistic models and prototypes — using microcontroller-based XYZ motion, clay extrusion, moisture monitoring, pattern drawing and shape accuracy.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1051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FF7"/>
                </a:solidFill>
              </a:rPr>
              <a:t>Purpose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Automate traditional pottery using precision engineering and microcontroller technology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1051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23560" y="18288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FF7"/>
                </a:solidFill>
              </a:rPr>
              <a:t>Mechanism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8C8C8"/>
                </a:solidFill>
              </a:rPr>
              <a:t>3-axis stepper motor gantry + auger/piston clay extrusion with nozzle control and pattern </a:t>
            </a:r>
            <a:r>
              <a:rPr lang="en-US" sz="1100" dirty="0" err="1">
                <a:solidFill>
                  <a:srgbClr val="C8C8C8"/>
                </a:solidFill>
              </a:rPr>
              <a:t>drawi</a:t>
            </a:r>
            <a:r>
              <a:rPr lang="en-US" sz="1100" dirty="0">
                <a:solidFill>
                  <a:srgbClr val="C8C8C8"/>
                </a:solidFill>
              </a:rPr>
              <a:t>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2783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8720" y="3246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FF7"/>
                </a:solidFill>
              </a:rPr>
              <a:t>Sensing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6118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Moisture, load cell, ultrasonic, limit switches &amp; DHT22 for environment monitoring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2783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🖥️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623560" y="3246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FF7"/>
                </a:solidFill>
              </a:rPr>
              <a:t>Interface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36118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LCD display, keypad, SD card input, real-time status &amp; safety shut-off system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Project Overview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3840480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3840480" cy="45720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0F1117"/>
                </a:solidFill>
              </a:rPr>
              <a:t>AIM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356616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C8C8C8"/>
                </a:solidFill>
              </a:rPr>
              <a:t>To design and develop a fully automated, microcontroller-based 3D pottery printer that can fabricate ceramic objects from digital designs — replacing manual pottery techniques with precise, </a:t>
            </a:r>
            <a:r>
              <a:rPr lang="en-US" sz="1200">
                <a:solidFill>
                  <a:srgbClr val="C8C8C8"/>
                </a:solidFill>
              </a:rPr>
              <a:t>repeatable, sensor-guided clay extrusion and pattern drawing.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502920" y="3383280"/>
            <a:ext cx="1051560" cy="438912"/>
          </a:xfrm>
          <a:prstGeom prst="rect">
            <a:avLst/>
          </a:prstGeom>
          <a:solidFill>
            <a:srgbClr val="1EBFA0">
              <a:alpha val="85000"/>
            </a:srgbClr>
          </a:solidFill>
          <a:ln w="12700">
            <a:solidFill>
              <a:srgbClr val="1EB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8328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Automate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09928" y="3383280"/>
            <a:ext cx="1051560" cy="438912"/>
          </a:xfrm>
          <a:prstGeom prst="rect">
            <a:avLst/>
          </a:prstGeom>
          <a:solidFill>
            <a:srgbClr val="7C6FF7">
              <a:alpha val="85000"/>
            </a:srgbClr>
          </a:solidFill>
          <a:ln w="12700">
            <a:solidFill>
              <a:srgbClr val="7C6F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9928" y="338328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Precision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16936" y="3383280"/>
            <a:ext cx="1051560" cy="438912"/>
          </a:xfrm>
          <a:prstGeom prst="rect">
            <a:avLst/>
          </a:prstGeom>
          <a:solidFill>
            <a:srgbClr val="3A8FE8">
              <a:alpha val="85000"/>
            </a:srgbClr>
          </a:solidFill>
          <a:ln w="12700">
            <a:solidFill>
              <a:srgbClr val="3A8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6936" y="3383280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Reproduce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822960"/>
            <a:ext cx="4434840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0" y="822960"/>
            <a:ext cx="4434840" cy="45720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8229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0EEF8"/>
                </a:solidFill>
              </a:rPr>
              <a:t>OBJECTIVES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26280" y="1408176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9472" y="1389888"/>
            <a:ext cx="3749040" cy="5669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 dirty="0">
                <a:solidFill>
                  <a:srgbClr val="C8C8C8"/>
                </a:solidFill>
              </a:rPr>
              <a:t>Design a 3-axis (X, Y, Z) stepper motor gantry system with auto-bed leveling for accurate layer-by-layer clay deposition and automated pattern designing.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2039112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2039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020824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C8C8"/>
                </a:solidFill>
              </a:rPr>
              <a:t>Develop a clay extrusion mechanism using an auger/piston system with moisture-sensor feedback to prevent nozzle clogging.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2670048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25" name="Text 23"/>
          <p:cNvSpPr/>
          <p:nvPr/>
        </p:nvSpPr>
        <p:spPr>
          <a:xfrm>
            <a:off x="4526280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6517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C8C8"/>
                </a:solidFill>
              </a:rPr>
              <a:t>Program a microcontroller (Arduino Mega / ESP32) to interpret G-code, control motion, and manage sensor-driven adjustments.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26280" y="3300984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3282696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C8C8"/>
                </a:solidFill>
              </a:rPr>
              <a:t>Integrate a sensor suite (moisture, load cell, ultrasonic, DHT22, limit switches) for automated material identification.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26280" y="3931920"/>
            <a:ext cx="329184" cy="329184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31" name="Text 29"/>
          <p:cNvSpPr/>
          <p:nvPr/>
        </p:nvSpPr>
        <p:spPr>
          <a:xfrm>
            <a:off x="452628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EEF8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3913632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C8C8"/>
                </a:solidFill>
              </a:rPr>
              <a:t>Implement a user interface with LCD display, keypad, and SD card input, including a safety emergency-stop system.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4" name="Text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Aim &amp; Objectives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System Block Diagram</a:t>
            </a:r>
            <a:endParaRPr lang="en-US" sz="9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C70ADB-29FA-8B63-2F8A-6E0F4C472471}"/>
              </a:ext>
            </a:extLst>
          </p:cNvPr>
          <p:cNvSpPr/>
          <p:nvPr/>
        </p:nvSpPr>
        <p:spPr>
          <a:xfrm>
            <a:off x="3647586" y="867018"/>
            <a:ext cx="1878744" cy="5110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US" sz="1100">
                <a:ea typeface="+mn-lt"/>
                <a:cs typeface="+mn-lt"/>
              </a:rPr>
              <a:t>USER INPUT </a:t>
            </a:r>
            <a:endParaRPr lang="en-US" sz="1100">
              <a:ea typeface="Calibri"/>
              <a:cs typeface="Calibri"/>
            </a:endParaRPr>
          </a:p>
          <a:p>
            <a:pPr lvl="1"/>
            <a:r>
              <a:rPr lang="en-US" sz="1100">
                <a:ea typeface="+mn-lt"/>
                <a:cs typeface="+mn-lt"/>
              </a:rPr>
              <a:t>- Clay + Water </a:t>
            </a:r>
            <a:endParaRPr lang="en-US" sz="1100">
              <a:ea typeface="Calibri"/>
              <a:cs typeface="Calibri"/>
            </a:endParaRPr>
          </a:p>
          <a:p>
            <a:pPr lvl="1"/>
            <a:r>
              <a:rPr lang="en-US" sz="1100">
                <a:ea typeface="+mn-lt"/>
                <a:cs typeface="+mn-lt"/>
              </a:rPr>
              <a:t> - G-code File 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4702D2-389C-F8AC-962F-3DDB4FA3745A}"/>
              </a:ext>
            </a:extLst>
          </p:cNvPr>
          <p:cNvSpPr/>
          <p:nvPr/>
        </p:nvSpPr>
        <p:spPr>
          <a:xfrm>
            <a:off x="3647586" y="1614364"/>
            <a:ext cx="1878744" cy="4304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/>
              <a:t>CONTROL UNIT (MCU)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(ESP32)</a:t>
            </a:r>
            <a:endParaRPr lang="en-US" sz="1100" dirty="0"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B30FF8-5FC1-EC0B-2EB0-861E308BA840}"/>
              </a:ext>
            </a:extLst>
          </p:cNvPr>
          <p:cNvSpPr/>
          <p:nvPr/>
        </p:nvSpPr>
        <p:spPr>
          <a:xfrm>
            <a:off x="2409335" y="2281113"/>
            <a:ext cx="1878744" cy="4304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ea typeface="+mn-lt"/>
                <a:cs typeface="+mn-lt"/>
              </a:rPr>
              <a:t>MATERIAL PREP UNIT</a:t>
            </a:r>
            <a:endParaRPr lang="en-US" sz="1100">
              <a:ea typeface="Calibri"/>
              <a:cs typeface="Calibri"/>
            </a:endParaRPr>
          </a:p>
          <a:p>
            <a:pPr algn="ctr"/>
            <a:r>
              <a:rPr lang="en-US" sz="1100">
                <a:ea typeface="+mn-lt"/>
                <a:cs typeface="+mn-lt"/>
              </a:rPr>
              <a:t>  (Mixing System)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550173-4404-C8FA-31B0-B0C0296A497C}"/>
              </a:ext>
            </a:extLst>
          </p:cNvPr>
          <p:cNvSpPr/>
          <p:nvPr/>
        </p:nvSpPr>
        <p:spPr>
          <a:xfrm>
            <a:off x="4929796" y="2281113"/>
            <a:ext cx="1878744" cy="4304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ea typeface="+mn-lt"/>
                <a:cs typeface="+mn-lt"/>
              </a:rPr>
              <a:t>MOTION CONTROL  </a:t>
            </a:r>
          </a:p>
          <a:p>
            <a:pPr algn="ctr"/>
            <a:r>
              <a:rPr lang="en-US" sz="1100">
                <a:ea typeface="+mn-lt"/>
                <a:cs typeface="+mn-lt"/>
              </a:rPr>
              <a:t>(X, Y, Z Axes &amp; Rotary Mode) 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3442A7-0571-7A29-0CC5-3BD8CCA0F5CE}"/>
              </a:ext>
            </a:extLst>
          </p:cNvPr>
          <p:cNvSpPr/>
          <p:nvPr/>
        </p:nvSpPr>
        <p:spPr>
          <a:xfrm>
            <a:off x="2409334" y="2925882"/>
            <a:ext cx="1878744" cy="4304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ea typeface="+mn-lt"/>
                <a:cs typeface="+mn-lt"/>
              </a:rPr>
              <a:t>CONSISTENCY DETECTION │ (Load Cell + Current)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2BE833-2259-058E-6224-A268094FB011}"/>
              </a:ext>
            </a:extLst>
          </p:cNvPr>
          <p:cNvSpPr/>
          <p:nvPr/>
        </p:nvSpPr>
        <p:spPr>
          <a:xfrm>
            <a:off x="4929795" y="2947863"/>
            <a:ext cx="1878744" cy="4304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>
                <a:ea typeface="+mn-lt"/>
                <a:cs typeface="+mn-lt"/>
              </a:rPr>
              <a:t>POSITION FEEDBACK</a:t>
            </a:r>
          </a:p>
          <a:p>
            <a:pPr algn="ctr"/>
            <a:r>
              <a:rPr lang="en-US" sz="1100" dirty="0">
                <a:ea typeface="+mn-lt"/>
                <a:cs typeface="+mn-lt"/>
              </a:rPr>
              <a:t>  </a:t>
            </a:r>
            <a:r>
              <a:rPr lang="en-US" sz="1100">
                <a:ea typeface="+mn-lt"/>
                <a:cs typeface="+mn-lt"/>
              </a:rPr>
              <a:t>(Limit Switches) 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29439C-336D-A8E8-2113-8A0777BA3E85}"/>
              </a:ext>
            </a:extLst>
          </p:cNvPr>
          <p:cNvSpPr/>
          <p:nvPr/>
        </p:nvSpPr>
        <p:spPr>
          <a:xfrm>
            <a:off x="3772145" y="3665902"/>
            <a:ext cx="1680917" cy="2985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dirty="0">
                <a:ea typeface="+mn-lt"/>
                <a:cs typeface="+mn-lt"/>
              </a:rPr>
              <a:t>EXTRUSION </a:t>
            </a:r>
            <a:r>
              <a:rPr lang="en-US" sz="1000">
                <a:ea typeface="+mn-lt"/>
                <a:cs typeface="+mn-lt"/>
              </a:rPr>
              <a:t>SYSTEM </a:t>
            </a:r>
            <a:endParaRPr lang="en-US" sz="1000" dirty="0">
              <a:ea typeface="+mn-lt"/>
              <a:cs typeface="+mn-lt"/>
            </a:endParaRPr>
          </a:p>
          <a:p>
            <a:pPr algn="ctr"/>
            <a:r>
              <a:rPr lang="en-US" sz="1000">
                <a:ea typeface="+mn-lt"/>
                <a:cs typeface="+mn-lt"/>
              </a:rPr>
              <a:t>(Clay </a:t>
            </a:r>
            <a:r>
              <a:rPr lang="en-US" sz="1000" dirty="0">
                <a:ea typeface="+mn-lt"/>
                <a:cs typeface="+mn-lt"/>
              </a:rPr>
              <a:t>Flow Control)</a:t>
            </a:r>
            <a:endParaRPr lang="en-US" sz="10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B62152-67B1-8F3E-6AF1-4BD706AF5A9F}"/>
              </a:ext>
            </a:extLst>
          </p:cNvPr>
          <p:cNvSpPr/>
          <p:nvPr/>
        </p:nvSpPr>
        <p:spPr>
          <a:xfrm>
            <a:off x="350470" y="4002940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3D PRINTING </a:t>
            </a:r>
            <a:r>
              <a:rPr lang="en-US" sz="1100">
                <a:ea typeface="+mn-lt"/>
                <a:cs typeface="+mn-lt"/>
              </a:rPr>
              <a:t>STAGE</a:t>
            </a:r>
          </a:p>
          <a:p>
            <a:pPr algn="ctr"/>
            <a:r>
              <a:rPr lang="en-US" sz="1100" dirty="0">
                <a:ea typeface="+mn-lt"/>
                <a:cs typeface="+mn-lt"/>
              </a:rPr>
              <a:t>  (</a:t>
            </a:r>
            <a:r>
              <a:rPr lang="en-US" sz="1100" err="1">
                <a:ea typeface="+mn-lt"/>
                <a:cs typeface="+mn-lt"/>
              </a:rPr>
              <a:t>Circula</a:t>
            </a:r>
            <a:r>
              <a:rPr lang="en-US" sz="1100">
                <a:ea typeface="+mn-lt"/>
                <a:cs typeface="+mn-lt"/>
              </a:rPr>
              <a:t>te Motion in Rotating Bed)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020580-4A1D-3CE5-1210-B6B5DF529CE7}"/>
              </a:ext>
            </a:extLst>
          </p:cNvPr>
          <p:cNvSpPr/>
          <p:nvPr/>
        </p:nvSpPr>
        <p:spPr>
          <a:xfrm>
            <a:off x="350470" y="3189652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CONTROLLED </a:t>
            </a:r>
            <a:r>
              <a:rPr lang="en-US" sz="1100">
                <a:ea typeface="+mn-lt"/>
                <a:cs typeface="+mn-lt"/>
              </a:rPr>
              <a:t>DRYING UNIT  (Fan + Airflow </a:t>
            </a:r>
            <a:r>
              <a:rPr lang="en-US" sz="1100" dirty="0">
                <a:ea typeface="+mn-lt"/>
                <a:cs typeface="+mn-lt"/>
              </a:rPr>
              <a:t>Control)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72ED6B-52BB-0448-23CA-BD4FCE23976E}"/>
              </a:ext>
            </a:extLst>
          </p:cNvPr>
          <p:cNvSpPr/>
          <p:nvPr/>
        </p:nvSpPr>
        <p:spPr>
          <a:xfrm>
            <a:off x="350470" y="2310421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POST PROCESSING </a:t>
            </a:r>
            <a:r>
              <a:rPr lang="en-US" sz="1100">
                <a:ea typeface="+mn-lt"/>
                <a:cs typeface="+mn-lt"/>
              </a:rPr>
              <a:t>UNIT  (Pattern </a:t>
            </a:r>
            <a:r>
              <a:rPr lang="en-US" sz="1100" dirty="0">
                <a:ea typeface="+mn-lt"/>
                <a:cs typeface="+mn-lt"/>
              </a:rPr>
              <a:t>Drawing Tool) 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86D1A5-D8B4-4B4E-9F5B-0919D15EDE17}"/>
              </a:ext>
            </a:extLst>
          </p:cNvPr>
          <p:cNvSpPr/>
          <p:nvPr/>
        </p:nvSpPr>
        <p:spPr>
          <a:xfrm>
            <a:off x="350470" y="1482479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FINAL OUTPUT </a:t>
            </a:r>
          </a:p>
          <a:p>
            <a:pPr algn="ctr"/>
            <a:r>
              <a:rPr lang="en-US" sz="1100" dirty="0">
                <a:ea typeface="+mn-lt"/>
                <a:cs typeface="+mn-lt"/>
              </a:rPr>
              <a:t>Finished </a:t>
            </a:r>
            <a:r>
              <a:rPr lang="en-US" sz="1100">
                <a:ea typeface="+mn-lt"/>
                <a:cs typeface="+mn-lt"/>
              </a:rPr>
              <a:t>Ceramic Pot/Vase </a:t>
            </a:r>
            <a:endParaRPr lang="en-US" sz="11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C38ECF-EAEE-F170-46E7-6FB66C23418D}"/>
              </a:ext>
            </a:extLst>
          </p:cNvPr>
          <p:cNvSpPr/>
          <p:nvPr/>
        </p:nvSpPr>
        <p:spPr>
          <a:xfrm>
            <a:off x="7069258" y="881672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>
                <a:ea typeface="Calibri"/>
                <a:cs typeface="Calibri"/>
              </a:rPr>
              <a:t>Power Supply</a:t>
            </a:r>
          </a:p>
          <a:p>
            <a:pPr algn="ctr"/>
            <a:r>
              <a:rPr lang="en-US" sz="1050">
                <a:solidFill>
                  <a:schemeClr val="bg1"/>
                </a:solidFill>
                <a:ea typeface="Calibri"/>
                <a:cs typeface="Calibri"/>
              </a:rPr>
              <a:t>12V/24V SMPS + Backup Battery</a:t>
            </a:r>
          </a:p>
          <a:p>
            <a:pPr algn="ctr"/>
            <a:r>
              <a:rPr lang="en-US" sz="1050">
                <a:solidFill>
                  <a:schemeClr val="bg1"/>
                </a:solidFill>
                <a:ea typeface="Calibri"/>
                <a:cs typeface="Calibri"/>
              </a:rPr>
              <a:t>powers all modules</a:t>
            </a:r>
            <a:endParaRPr lang="en-US" sz="1050">
              <a:solidFill>
                <a:schemeClr val="bg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BC9312-B442-C887-D726-B61570E2B14E}"/>
              </a:ext>
            </a:extLst>
          </p:cNvPr>
          <p:cNvCxnSpPr/>
          <p:nvPr/>
        </p:nvCxnSpPr>
        <p:spPr>
          <a:xfrm flipH="1">
            <a:off x="4570779" y="1382346"/>
            <a:ext cx="6716" cy="235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47D295-67AC-9DBB-85B2-85A7BEE62863}"/>
              </a:ext>
            </a:extLst>
          </p:cNvPr>
          <p:cNvCxnSpPr>
            <a:cxnSpLocks/>
          </p:cNvCxnSpPr>
          <p:nvPr/>
        </p:nvCxnSpPr>
        <p:spPr>
          <a:xfrm flipH="1">
            <a:off x="5296144" y="2049095"/>
            <a:ext cx="6716" cy="235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EFFD20D-6841-B72E-6F87-A1A3B89E1C5C}"/>
              </a:ext>
            </a:extLst>
          </p:cNvPr>
          <p:cNvCxnSpPr>
            <a:cxnSpLocks/>
          </p:cNvCxnSpPr>
          <p:nvPr/>
        </p:nvCxnSpPr>
        <p:spPr>
          <a:xfrm flipH="1">
            <a:off x="3838085" y="2041768"/>
            <a:ext cx="6716" cy="235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28B5876-BB01-1AE9-8C13-989E20C97900}"/>
              </a:ext>
            </a:extLst>
          </p:cNvPr>
          <p:cNvCxnSpPr>
            <a:cxnSpLocks/>
          </p:cNvCxnSpPr>
          <p:nvPr/>
        </p:nvCxnSpPr>
        <p:spPr>
          <a:xfrm flipH="1">
            <a:off x="5838336" y="2715846"/>
            <a:ext cx="6716" cy="235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D1D644E-08F7-BBCD-7EFA-857D6E48A122}"/>
              </a:ext>
            </a:extLst>
          </p:cNvPr>
          <p:cNvCxnSpPr>
            <a:cxnSpLocks/>
          </p:cNvCxnSpPr>
          <p:nvPr/>
        </p:nvCxnSpPr>
        <p:spPr>
          <a:xfrm flipH="1">
            <a:off x="3303220" y="2693864"/>
            <a:ext cx="6716" cy="235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08D74D-BE95-64D1-563E-754DB50079AD}"/>
              </a:ext>
            </a:extLst>
          </p:cNvPr>
          <p:cNvCxnSpPr>
            <a:cxnSpLocks/>
          </p:cNvCxnSpPr>
          <p:nvPr/>
        </p:nvCxnSpPr>
        <p:spPr>
          <a:xfrm flipH="1">
            <a:off x="4592759" y="3433884"/>
            <a:ext cx="6716" cy="23507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D6E1AC2-2135-2EE2-81DE-E9895EFC2998}"/>
              </a:ext>
            </a:extLst>
          </p:cNvPr>
          <p:cNvCxnSpPr/>
          <p:nvPr/>
        </p:nvCxnSpPr>
        <p:spPr>
          <a:xfrm>
            <a:off x="3082191" y="3388295"/>
            <a:ext cx="7937" cy="48847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541778F-1BF9-5E3A-F6B7-8823E3E1FA2D}"/>
              </a:ext>
            </a:extLst>
          </p:cNvPr>
          <p:cNvCxnSpPr>
            <a:cxnSpLocks/>
          </p:cNvCxnSpPr>
          <p:nvPr/>
        </p:nvCxnSpPr>
        <p:spPr>
          <a:xfrm>
            <a:off x="5983652" y="3388295"/>
            <a:ext cx="7937" cy="48847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B86DBCA-3A83-9E9C-A975-1D7270E21856}"/>
              </a:ext>
            </a:extLst>
          </p:cNvPr>
          <p:cNvCxnSpPr/>
          <p:nvPr/>
        </p:nvCxnSpPr>
        <p:spPr>
          <a:xfrm flipV="1">
            <a:off x="3085991" y="3433343"/>
            <a:ext cx="2939452" cy="15195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13903CC-1B69-A730-71C2-F90170A8EABA}"/>
              </a:ext>
            </a:extLst>
          </p:cNvPr>
          <p:cNvCxnSpPr/>
          <p:nvPr/>
        </p:nvCxnSpPr>
        <p:spPr>
          <a:xfrm flipH="1">
            <a:off x="2208388" y="4245273"/>
            <a:ext cx="1450732" cy="214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A965827-432D-14B4-BBB6-884D137B2E6D}"/>
              </a:ext>
            </a:extLst>
          </p:cNvPr>
          <p:cNvCxnSpPr/>
          <p:nvPr/>
        </p:nvCxnSpPr>
        <p:spPr>
          <a:xfrm flipV="1">
            <a:off x="1276511" y="3828452"/>
            <a:ext cx="610" cy="156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1E5D998-CFFE-60EC-A66C-FF82E5895DDD}"/>
              </a:ext>
            </a:extLst>
          </p:cNvPr>
          <p:cNvCxnSpPr>
            <a:cxnSpLocks/>
          </p:cNvCxnSpPr>
          <p:nvPr/>
        </p:nvCxnSpPr>
        <p:spPr>
          <a:xfrm flipV="1">
            <a:off x="1239876" y="2985855"/>
            <a:ext cx="610" cy="156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7188EC1-EFF0-6151-3380-C0C0FDB3A874}"/>
              </a:ext>
            </a:extLst>
          </p:cNvPr>
          <p:cNvCxnSpPr>
            <a:cxnSpLocks/>
          </p:cNvCxnSpPr>
          <p:nvPr/>
        </p:nvCxnSpPr>
        <p:spPr>
          <a:xfrm flipV="1">
            <a:off x="1239875" y="2121278"/>
            <a:ext cx="610" cy="156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AE8EEA8-AA10-D3D7-1B11-226580E277AB}"/>
              </a:ext>
            </a:extLst>
          </p:cNvPr>
          <p:cNvCxnSpPr/>
          <p:nvPr/>
        </p:nvCxnSpPr>
        <p:spPr>
          <a:xfrm flipH="1">
            <a:off x="5546756" y="1219449"/>
            <a:ext cx="1501607" cy="6462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6A3F9A1-C0A5-A88D-4972-87D40B58C651}"/>
              </a:ext>
            </a:extLst>
          </p:cNvPr>
          <p:cNvSpPr/>
          <p:nvPr/>
        </p:nvSpPr>
        <p:spPr>
          <a:xfrm>
            <a:off x="3662240" y="4105518"/>
            <a:ext cx="2208454" cy="5110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1"/>
            <a:r>
              <a:rPr lang="en-US" sz="1100">
                <a:ea typeface="Calibri"/>
                <a:cs typeface="Calibri"/>
              </a:rPr>
              <a:t>Mode Selection</a:t>
            </a:r>
            <a:endParaRPr lang="en-US" sz="1100" dirty="0">
              <a:ea typeface="Calibri"/>
              <a:cs typeface="Calibri"/>
            </a:endParaRPr>
          </a:p>
          <a:p>
            <a:pPr lvl="1"/>
            <a:r>
              <a:rPr lang="en-US" sz="1100">
                <a:ea typeface="+mn-lt"/>
                <a:cs typeface="+mn-lt"/>
              </a:rPr>
              <a:t>- Rotary Mode(Pottery)</a:t>
            </a:r>
          </a:p>
          <a:p>
            <a:pPr lvl="1"/>
            <a:r>
              <a:rPr lang="en-US" sz="1100">
                <a:ea typeface="Calibri"/>
                <a:cs typeface="Calibri"/>
              </a:rPr>
              <a:t>-XYZ Mode(Sculpting)</a:t>
            </a:r>
            <a:endParaRPr lang="en-US" sz="1100" dirty="0">
              <a:ea typeface="Calibri"/>
              <a:cs typeface="Calibri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9C70ADB-29FA-8B63-2F8A-6E0F4C472471}"/>
              </a:ext>
            </a:extLst>
          </p:cNvPr>
          <p:cNvSpPr/>
          <p:nvPr/>
        </p:nvSpPr>
        <p:spPr>
          <a:xfrm>
            <a:off x="3647586" y="867018"/>
            <a:ext cx="1878744" cy="51105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100">
                <a:ea typeface="+mn-lt"/>
                <a:cs typeface="+mn-lt"/>
              </a:rPr>
              <a:t>USER INPUT </a:t>
            </a:r>
            <a:endParaRPr lang="en-US" sz="1100">
              <a:ea typeface="Calibri"/>
              <a:cs typeface="Calibri"/>
            </a:endParaRPr>
          </a:p>
          <a:p>
            <a:pPr lvl="1"/>
            <a:r>
              <a:rPr lang="en-US" sz="1100">
                <a:ea typeface="+mn-lt"/>
                <a:cs typeface="+mn-lt"/>
              </a:rPr>
              <a:t>- Clay + Water </a:t>
            </a:r>
            <a:endParaRPr lang="en-US" sz="1100">
              <a:ea typeface="Calibri"/>
              <a:cs typeface="Calibri"/>
            </a:endParaRPr>
          </a:p>
          <a:p>
            <a:pPr lvl="1"/>
            <a:r>
              <a:rPr lang="en-US" sz="1100">
                <a:ea typeface="+mn-lt"/>
                <a:cs typeface="+mn-lt"/>
              </a:rPr>
              <a:t> - G-code File </a:t>
            </a:r>
            <a:endParaRPr lang="en-US" sz="1100">
              <a:ea typeface="Calibri"/>
              <a:cs typeface="Calibri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BD9F39E-698A-A7C5-8074-39D583FCC90D}"/>
              </a:ext>
            </a:extLst>
          </p:cNvPr>
          <p:cNvCxnSpPr>
            <a:cxnSpLocks/>
          </p:cNvCxnSpPr>
          <p:nvPr/>
        </p:nvCxnSpPr>
        <p:spPr>
          <a:xfrm>
            <a:off x="4606802" y="3976075"/>
            <a:ext cx="610" cy="1251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BA79556-3A31-5133-5A9F-7F8D2D8F4875}"/>
              </a:ext>
            </a:extLst>
          </p:cNvPr>
          <p:cNvSpPr txBox="1"/>
          <p:nvPr/>
        </p:nvSpPr>
        <p:spPr>
          <a:xfrm>
            <a:off x="2427958" y="4041255"/>
            <a:ext cx="123824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 b="1">
                <a:solidFill>
                  <a:schemeClr val="bg1"/>
                </a:solidFill>
                <a:ea typeface="Calibri"/>
                <a:cs typeface="Calibri"/>
              </a:rPr>
              <a:t>Rotary Mode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9334EA1-6722-56AA-6397-51E950E475CB}"/>
              </a:ext>
            </a:extLst>
          </p:cNvPr>
          <p:cNvCxnSpPr/>
          <p:nvPr/>
        </p:nvCxnSpPr>
        <p:spPr>
          <a:xfrm>
            <a:off x="5870492" y="4367388"/>
            <a:ext cx="1109893" cy="1526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3143C4C5-0BF1-C218-008C-397A6F97C846}"/>
              </a:ext>
            </a:extLst>
          </p:cNvPr>
          <p:cNvSpPr/>
          <p:nvPr/>
        </p:nvSpPr>
        <p:spPr>
          <a:xfrm>
            <a:off x="6988662" y="4024920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3D PRINTING </a:t>
            </a:r>
            <a:r>
              <a:rPr lang="en-US" sz="1100">
                <a:ea typeface="+mn-lt"/>
                <a:cs typeface="+mn-lt"/>
              </a:rPr>
              <a:t>STAGE</a:t>
            </a:r>
          </a:p>
          <a:p>
            <a:pPr algn="ctr"/>
            <a:r>
              <a:rPr lang="en-US" sz="1100" dirty="0">
                <a:ea typeface="+mn-lt"/>
                <a:cs typeface="+mn-lt"/>
              </a:rPr>
              <a:t>  (XYZ Motion layer by </a:t>
            </a:r>
            <a:r>
              <a:rPr lang="en-US" sz="1100">
                <a:ea typeface="+mn-lt"/>
                <a:cs typeface="+mn-lt"/>
              </a:rPr>
              <a:t>layer</a:t>
            </a:r>
            <a:r>
              <a:rPr lang="en-US" sz="1100" dirty="0">
                <a:ea typeface="+mn-lt"/>
                <a:cs typeface="+mn-lt"/>
              </a:rPr>
              <a:t>)</a:t>
            </a:r>
            <a:endParaRPr lang="en-US" sz="1100" dirty="0">
              <a:ea typeface="Calibri"/>
              <a:cs typeface="Calibri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34CDF98-7876-B715-B0B7-011BE2381AF2}"/>
              </a:ext>
            </a:extLst>
          </p:cNvPr>
          <p:cNvSpPr/>
          <p:nvPr/>
        </p:nvSpPr>
        <p:spPr>
          <a:xfrm>
            <a:off x="6988662" y="3233613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CONTROLLED </a:t>
            </a:r>
            <a:r>
              <a:rPr lang="en-US" sz="1100">
                <a:ea typeface="+mn-lt"/>
                <a:cs typeface="+mn-lt"/>
              </a:rPr>
              <a:t>DRYING UNIT  (Fan + Airflow </a:t>
            </a:r>
            <a:r>
              <a:rPr lang="en-US" sz="1100" dirty="0">
                <a:ea typeface="+mn-lt"/>
                <a:cs typeface="+mn-lt"/>
              </a:rPr>
              <a:t>Control)</a:t>
            </a:r>
            <a:endParaRPr lang="en-US" sz="1100">
              <a:ea typeface="Calibri"/>
              <a:cs typeface="Calibri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5104547-5408-6427-F7BD-DFCB25C15015}"/>
              </a:ext>
            </a:extLst>
          </p:cNvPr>
          <p:cNvSpPr/>
          <p:nvPr/>
        </p:nvSpPr>
        <p:spPr>
          <a:xfrm>
            <a:off x="6952027" y="2412998"/>
            <a:ext cx="1849437" cy="61363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dirty="0">
                <a:ea typeface="+mn-lt"/>
                <a:cs typeface="+mn-lt"/>
              </a:rPr>
              <a:t>FINAL OUTPUT </a:t>
            </a:r>
          </a:p>
          <a:p>
            <a:pPr algn="ctr"/>
            <a:r>
              <a:rPr lang="en-US" sz="1100">
                <a:ea typeface="+mn-lt"/>
                <a:cs typeface="+mn-lt"/>
              </a:rPr>
              <a:t>Finished Bust / Sculpture</a:t>
            </a:r>
            <a:endParaRPr lang="en-US" sz="1100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2B73B83-0A01-5523-DC29-1CE48282A35B}"/>
              </a:ext>
            </a:extLst>
          </p:cNvPr>
          <p:cNvCxnSpPr>
            <a:cxnSpLocks/>
          </p:cNvCxnSpPr>
          <p:nvPr/>
        </p:nvCxnSpPr>
        <p:spPr>
          <a:xfrm flipV="1">
            <a:off x="7914703" y="3872413"/>
            <a:ext cx="610" cy="156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FFD7CC1-396F-7A28-0E42-A31762C760BE}"/>
              </a:ext>
            </a:extLst>
          </p:cNvPr>
          <p:cNvCxnSpPr>
            <a:cxnSpLocks/>
          </p:cNvCxnSpPr>
          <p:nvPr/>
        </p:nvCxnSpPr>
        <p:spPr>
          <a:xfrm flipV="1">
            <a:off x="7878068" y="3029816"/>
            <a:ext cx="610" cy="15685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9C05460-1503-F0DC-7D3D-2EC4132E7878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4A12FA18-B17C-0289-BD0F-C09668C46D1C}"/>
              </a:ext>
            </a:extLst>
          </p:cNvPr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6AEE5E8-FDE3-7E7E-B412-F5F6DE22A4B3}"/>
              </a:ext>
            </a:extLst>
          </p:cNvPr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0EEF8"/>
                </a:solidFill>
                <a:ea typeface="Calibri"/>
                <a:cs typeface="Calibri"/>
              </a:rPr>
              <a:t>Operational Flow</a:t>
            </a:r>
            <a:endParaRPr lang="en-US" sz="22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85AB130-E459-B6D7-7C25-7542B31B5A62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CE1626C5-3FC6-588C-9411-D898ACAA102E}"/>
              </a:ext>
            </a:extLst>
          </p:cNvPr>
          <p:cNvSpPr/>
          <p:nvPr/>
        </p:nvSpPr>
        <p:spPr>
          <a:xfrm>
            <a:off x="108438" y="4844855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0EEF8"/>
                </a:solidFill>
              </a:rPr>
              <a:t>Microcontroller-Based 3D Potter Printer  | Operational Flow</a:t>
            </a:r>
            <a:endParaRPr lang="en-US" sz="9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505EE26-B99C-3E23-9A03-3984E3DD3E65}"/>
              </a:ext>
            </a:extLst>
          </p:cNvPr>
          <p:cNvGrpSpPr/>
          <p:nvPr/>
        </p:nvGrpSpPr>
        <p:grpSpPr>
          <a:xfrm>
            <a:off x="230474" y="775306"/>
            <a:ext cx="2506513" cy="814579"/>
            <a:chOff x="201168" y="841248"/>
            <a:chExt cx="4133088" cy="909828"/>
          </a:xfrm>
        </p:grpSpPr>
        <p:sp>
          <p:nvSpPr>
            <p:cNvPr id="13" name="Shape 6">
              <a:extLst>
                <a:ext uri="{FF2B5EF4-FFF2-40B4-BE49-F238E27FC236}">
                  <a16:creationId xmlns:a16="http://schemas.microsoft.com/office/drawing/2014/main" id="{48F85813-D7D3-5F5A-D2A0-DCC7371B02F6}"/>
                </a:ext>
              </a:extLst>
            </p:cNvPr>
            <p:cNvSpPr/>
            <p:nvPr/>
          </p:nvSpPr>
          <p:spPr>
            <a:xfrm>
              <a:off x="201168" y="84124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7">
              <a:extLst>
                <a:ext uri="{FF2B5EF4-FFF2-40B4-BE49-F238E27FC236}">
                  <a16:creationId xmlns:a16="http://schemas.microsoft.com/office/drawing/2014/main" id="{0B2F5558-9F4B-8C0E-E0C7-71D6317FDD85}"/>
                </a:ext>
              </a:extLst>
            </p:cNvPr>
            <p:cNvSpPr/>
            <p:nvPr/>
          </p:nvSpPr>
          <p:spPr>
            <a:xfrm>
              <a:off x="201168" y="841248"/>
              <a:ext cx="4133088" cy="256032"/>
            </a:xfrm>
            <a:prstGeom prst="rect">
              <a:avLst/>
            </a:prstGeom>
            <a:solidFill>
              <a:srgbClr val="0D1B3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E3A6108D-C533-3954-F803-00010EC130A2}"/>
                </a:ext>
              </a:extLst>
            </p:cNvPr>
            <p:cNvSpPr/>
            <p:nvPr/>
          </p:nvSpPr>
          <p:spPr>
            <a:xfrm>
              <a:off x="397454" y="899805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28600" indent="-228600">
                <a:buAutoNum type="arabicPeriod"/>
              </a:pPr>
              <a:r>
                <a:rPr lang="en-US" sz="950" b="1">
                  <a:solidFill>
                    <a:srgbClr val="FFFFFF"/>
                  </a:solidFill>
                </a:rPr>
                <a:t>System Start &amp; Initialization</a:t>
              </a:r>
              <a:endParaRPr lang="en-US" sz="95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8E708D0B-2054-6685-56C0-5891D764C3DD}"/>
                </a:ext>
              </a:extLst>
            </p:cNvPr>
            <p:cNvSpPr/>
            <p:nvPr/>
          </p:nvSpPr>
          <p:spPr>
            <a:xfrm>
              <a:off x="292608" y="113385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0D1B3E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Power ON → MCU boots</a:t>
              </a:r>
              <a:endParaRPr lang="en-US" sz="850" dirty="0"/>
            </a:p>
          </p:txBody>
        </p:sp>
        <p:sp>
          <p:nvSpPr>
            <p:cNvPr id="19" name="Text 12">
              <a:extLst>
                <a:ext uri="{FF2B5EF4-FFF2-40B4-BE49-F238E27FC236}">
                  <a16:creationId xmlns:a16="http://schemas.microsoft.com/office/drawing/2014/main" id="{75A98A27-0A23-90D0-6E79-38EFB1AF1C80}"/>
                </a:ext>
              </a:extLst>
            </p:cNvPr>
            <p:cNvSpPr/>
            <p:nvPr/>
          </p:nvSpPr>
          <p:spPr>
            <a:xfrm>
              <a:off x="292608" y="130302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0D1B3E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Self-check: Motors, Sensors, Modules</a:t>
              </a:r>
              <a:endParaRPr lang="en-US" sz="850" dirty="0"/>
            </a:p>
          </p:txBody>
        </p:sp>
        <p:sp>
          <p:nvSpPr>
            <p:cNvPr id="20" name="Text 13">
              <a:extLst>
                <a:ext uri="{FF2B5EF4-FFF2-40B4-BE49-F238E27FC236}">
                  <a16:creationId xmlns:a16="http://schemas.microsoft.com/office/drawing/2014/main" id="{D9E53480-8719-B25E-DF69-F4D8859C35E2}"/>
                </a:ext>
              </a:extLst>
            </p:cNvPr>
            <p:cNvSpPr/>
            <p:nvPr/>
          </p:nvSpPr>
          <p:spPr>
            <a:xfrm>
              <a:off x="292608" y="1472184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0D1B3E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Display: System Ready – Load Material</a:t>
              </a:r>
              <a:endParaRPr lang="en-US" sz="85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C85E0FC-F6D0-09A8-8335-AE6999DE2E40}"/>
              </a:ext>
            </a:extLst>
          </p:cNvPr>
          <p:cNvGrpSpPr/>
          <p:nvPr/>
        </p:nvGrpSpPr>
        <p:grpSpPr>
          <a:xfrm>
            <a:off x="230474" y="1663915"/>
            <a:ext cx="2506513" cy="814579"/>
            <a:chOff x="201168" y="1847088"/>
            <a:chExt cx="4133088" cy="909828"/>
          </a:xfrm>
        </p:grpSpPr>
        <p:sp>
          <p:nvSpPr>
            <p:cNvPr id="58" name="Shape 15">
              <a:extLst>
                <a:ext uri="{FF2B5EF4-FFF2-40B4-BE49-F238E27FC236}">
                  <a16:creationId xmlns:a16="http://schemas.microsoft.com/office/drawing/2014/main" id="{6C1C35FD-EDA8-EA5C-910E-BE6B8DE05BAB}"/>
                </a:ext>
              </a:extLst>
            </p:cNvPr>
            <p:cNvSpPr/>
            <p:nvPr/>
          </p:nvSpPr>
          <p:spPr>
            <a:xfrm>
              <a:off x="201168" y="184708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Shape 16">
              <a:extLst>
                <a:ext uri="{FF2B5EF4-FFF2-40B4-BE49-F238E27FC236}">
                  <a16:creationId xmlns:a16="http://schemas.microsoft.com/office/drawing/2014/main" id="{A4975A45-AD84-5D3F-F279-5FA0C0C9CABE}"/>
                </a:ext>
              </a:extLst>
            </p:cNvPr>
            <p:cNvSpPr/>
            <p:nvPr/>
          </p:nvSpPr>
          <p:spPr>
            <a:xfrm>
              <a:off x="201168" y="1847088"/>
              <a:ext cx="4133088" cy="256032"/>
            </a:xfrm>
            <a:prstGeom prst="rect">
              <a:avLst/>
            </a:prstGeom>
            <a:solidFill>
              <a:srgbClr val="1565C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19">
              <a:extLst>
                <a:ext uri="{FF2B5EF4-FFF2-40B4-BE49-F238E27FC236}">
                  <a16:creationId xmlns:a16="http://schemas.microsoft.com/office/drawing/2014/main" id="{F4A8E0CE-DBAD-D31B-DAE2-C64559080679}"/>
                </a:ext>
              </a:extLst>
            </p:cNvPr>
            <p:cNvSpPr/>
            <p:nvPr/>
          </p:nvSpPr>
          <p:spPr>
            <a:xfrm>
              <a:off x="397454" y="1905645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2.   Material Loading</a:t>
              </a:r>
              <a:endParaRPr lang="en-US" sz="950"/>
            </a:p>
          </p:txBody>
        </p:sp>
        <p:sp>
          <p:nvSpPr>
            <p:cNvPr id="63" name="Text 20">
              <a:extLst>
                <a:ext uri="{FF2B5EF4-FFF2-40B4-BE49-F238E27FC236}">
                  <a16:creationId xmlns:a16="http://schemas.microsoft.com/office/drawing/2014/main" id="{FF563880-4300-B99E-6A51-A552623436BA}"/>
                </a:ext>
              </a:extLst>
            </p:cNvPr>
            <p:cNvSpPr/>
            <p:nvPr/>
          </p:nvSpPr>
          <p:spPr>
            <a:xfrm>
              <a:off x="292608" y="213969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User loads clay (earthenware, semi-dry)</a:t>
              </a:r>
              <a:endParaRPr lang="en-US" sz="850" dirty="0"/>
            </a:p>
          </p:txBody>
        </p:sp>
        <p:sp>
          <p:nvSpPr>
            <p:cNvPr id="64" name="Text 21">
              <a:extLst>
                <a:ext uri="{FF2B5EF4-FFF2-40B4-BE49-F238E27FC236}">
                  <a16:creationId xmlns:a16="http://schemas.microsoft.com/office/drawing/2014/main" id="{9FD7B8B5-4C0A-7CC5-29B9-F32AC3289201}"/>
                </a:ext>
              </a:extLst>
            </p:cNvPr>
            <p:cNvSpPr/>
            <p:nvPr/>
          </p:nvSpPr>
          <p:spPr>
            <a:xfrm>
              <a:off x="292608" y="230886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User adds initial water</a:t>
              </a:r>
              <a:endParaRPr lang="en-US" sz="850" dirty="0"/>
            </a:p>
          </p:txBody>
        </p:sp>
        <p:sp>
          <p:nvSpPr>
            <p:cNvPr id="65" name="Text 22">
              <a:extLst>
                <a:ext uri="{FF2B5EF4-FFF2-40B4-BE49-F238E27FC236}">
                  <a16:creationId xmlns:a16="http://schemas.microsoft.com/office/drawing/2014/main" id="{717241FC-F016-7442-63E7-EEAA20854F1C}"/>
                </a:ext>
              </a:extLst>
            </p:cNvPr>
            <p:cNvSpPr/>
            <p:nvPr/>
          </p:nvSpPr>
          <p:spPr>
            <a:xfrm>
              <a:off x="292608" y="2478024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No manual mixing required</a:t>
              </a:r>
              <a:endParaRPr lang="en-US" sz="850" dirty="0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1BB147C-62E9-9DA5-982B-D71DBE1123E0}"/>
              </a:ext>
            </a:extLst>
          </p:cNvPr>
          <p:cNvGrpSpPr/>
          <p:nvPr/>
        </p:nvGrpSpPr>
        <p:grpSpPr>
          <a:xfrm>
            <a:off x="230473" y="2571006"/>
            <a:ext cx="2506514" cy="1297549"/>
            <a:chOff x="201168" y="836510"/>
            <a:chExt cx="4133088" cy="914566"/>
          </a:xfrm>
        </p:grpSpPr>
        <p:sp>
          <p:nvSpPr>
            <p:cNvPr id="67" name="Shape 6">
              <a:extLst>
                <a:ext uri="{FF2B5EF4-FFF2-40B4-BE49-F238E27FC236}">
                  <a16:creationId xmlns:a16="http://schemas.microsoft.com/office/drawing/2014/main" id="{C9D912C5-F872-3A63-1455-2053FB58C9B5}"/>
                </a:ext>
              </a:extLst>
            </p:cNvPr>
            <p:cNvSpPr/>
            <p:nvPr/>
          </p:nvSpPr>
          <p:spPr>
            <a:xfrm>
              <a:off x="201168" y="84124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Shape 7">
              <a:extLst>
                <a:ext uri="{FF2B5EF4-FFF2-40B4-BE49-F238E27FC236}">
                  <a16:creationId xmlns:a16="http://schemas.microsoft.com/office/drawing/2014/main" id="{C2F677EC-7D75-BAEF-FAA8-4BBC613599DC}"/>
                </a:ext>
              </a:extLst>
            </p:cNvPr>
            <p:cNvSpPr/>
            <p:nvPr/>
          </p:nvSpPr>
          <p:spPr>
            <a:xfrm>
              <a:off x="201168" y="841248"/>
              <a:ext cx="4133088" cy="204389"/>
            </a:xfrm>
            <a:prstGeom prst="rect">
              <a:avLst/>
            </a:prstGeom>
            <a:solidFill>
              <a:srgbClr val="0D1B3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10">
              <a:extLst>
                <a:ext uri="{FF2B5EF4-FFF2-40B4-BE49-F238E27FC236}">
                  <a16:creationId xmlns:a16="http://schemas.microsoft.com/office/drawing/2014/main" id="{0DE95BB8-AADC-EB6A-9E48-A8D8F6BCC39E}"/>
                </a:ext>
              </a:extLst>
            </p:cNvPr>
            <p:cNvSpPr/>
            <p:nvPr/>
          </p:nvSpPr>
          <p:spPr>
            <a:xfrm>
              <a:off x="397454" y="836510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b="1">
                  <a:solidFill>
                    <a:srgbClr val="FFFFFF"/>
                  </a:solidFill>
                </a:rPr>
                <a:t>3.   Automated Material Prep</a:t>
              </a:r>
              <a:r>
                <a:rPr lang="en-US" sz="1000" dirty="0">
                  <a:solidFill>
                    <a:srgbClr val="000000"/>
                  </a:solidFill>
                </a:rPr>
                <a:t>3. </a:t>
              </a:r>
            </a:p>
          </p:txBody>
        </p:sp>
      </p:grpSp>
      <p:sp>
        <p:nvSpPr>
          <p:cNvPr id="73" name="Text 31">
            <a:extLst>
              <a:ext uri="{FF2B5EF4-FFF2-40B4-BE49-F238E27FC236}">
                <a16:creationId xmlns:a16="http://schemas.microsoft.com/office/drawing/2014/main" id="{1AE54C38-FF23-2018-7079-3B822A953B61}"/>
              </a:ext>
            </a:extLst>
          </p:cNvPr>
          <p:cNvSpPr/>
          <p:nvPr/>
        </p:nvSpPr>
        <p:spPr>
          <a:xfrm>
            <a:off x="241319" y="2837512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Mixer motor rotates: clay + water combine</a:t>
            </a:r>
            <a:endParaRPr lang="en-US" sz="850" dirty="0"/>
          </a:p>
        </p:txBody>
      </p:sp>
      <p:sp>
        <p:nvSpPr>
          <p:cNvPr id="74" name="Text 32">
            <a:extLst>
              <a:ext uri="{FF2B5EF4-FFF2-40B4-BE49-F238E27FC236}">
                <a16:creationId xmlns:a16="http://schemas.microsoft.com/office/drawing/2014/main" id="{C797280C-6472-C765-6620-AD8E40F2ADE3}"/>
              </a:ext>
            </a:extLst>
          </p:cNvPr>
          <p:cNvSpPr/>
          <p:nvPr/>
        </p:nvSpPr>
        <p:spPr>
          <a:xfrm>
            <a:off x="241319" y="3006676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Load cell + HX711 measures extrusion resistance</a:t>
            </a:r>
            <a:endParaRPr lang="en-US" sz="850" dirty="0"/>
          </a:p>
        </p:txBody>
      </p:sp>
      <p:sp>
        <p:nvSpPr>
          <p:cNvPr id="75" name="Text 33">
            <a:extLst>
              <a:ext uri="{FF2B5EF4-FFF2-40B4-BE49-F238E27FC236}">
                <a16:creationId xmlns:a16="http://schemas.microsoft.com/office/drawing/2014/main" id="{EE20EF89-ED83-E3D1-75AA-D6208671E3F7}"/>
              </a:ext>
            </a:extLst>
          </p:cNvPr>
          <p:cNvSpPr/>
          <p:nvPr/>
        </p:nvSpPr>
        <p:spPr>
          <a:xfrm>
            <a:off x="241319" y="3175840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Motor current monitors torque behavior</a:t>
            </a:r>
            <a:endParaRPr lang="en-US" sz="850" dirty="0"/>
          </a:p>
        </p:txBody>
      </p:sp>
      <p:sp>
        <p:nvSpPr>
          <p:cNvPr id="76" name="Text 34">
            <a:extLst>
              <a:ext uri="{FF2B5EF4-FFF2-40B4-BE49-F238E27FC236}">
                <a16:creationId xmlns:a16="http://schemas.microsoft.com/office/drawing/2014/main" id="{B3B15E67-E17B-259A-C26D-F90AA522D7FD}"/>
              </a:ext>
            </a:extLst>
          </p:cNvPr>
          <p:cNvSpPr/>
          <p:nvPr/>
        </p:nvSpPr>
        <p:spPr>
          <a:xfrm>
            <a:off x="241319" y="3345004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Auto loop: Mix → Test → Adjust → Repeat</a:t>
            </a:r>
            <a:endParaRPr lang="en-US" sz="850" dirty="0"/>
          </a:p>
        </p:txBody>
      </p:sp>
      <p:sp>
        <p:nvSpPr>
          <p:cNvPr id="77" name="Text 35">
            <a:extLst>
              <a:ext uri="{FF2B5EF4-FFF2-40B4-BE49-F238E27FC236}">
                <a16:creationId xmlns:a16="http://schemas.microsoft.com/office/drawing/2014/main" id="{8AFB4AE5-8568-7E9B-020A-458468935546}"/>
              </a:ext>
            </a:extLst>
          </p:cNvPr>
          <p:cNvSpPr/>
          <p:nvPr/>
        </p:nvSpPr>
        <p:spPr>
          <a:xfrm>
            <a:off x="241319" y="3514168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Too thick? → Add water | Too soft? → Continue mix</a:t>
            </a:r>
            <a:endParaRPr lang="en-US" sz="850" dirty="0"/>
          </a:p>
        </p:txBody>
      </p:sp>
      <p:sp>
        <p:nvSpPr>
          <p:cNvPr id="78" name="Text 36">
            <a:extLst>
              <a:ext uri="{FF2B5EF4-FFF2-40B4-BE49-F238E27FC236}">
                <a16:creationId xmlns:a16="http://schemas.microsoft.com/office/drawing/2014/main" id="{494C8560-EADA-0CAF-2453-6679A02ACEFF}"/>
              </a:ext>
            </a:extLst>
          </p:cNvPr>
          <p:cNvSpPr/>
          <p:nvPr/>
        </p:nvSpPr>
        <p:spPr>
          <a:xfrm>
            <a:off x="241319" y="3683332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Target range met → Material Ready</a:t>
            </a:r>
            <a:endParaRPr lang="en-US" sz="85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69EF814-E530-36F5-6859-970B6DB659F0}"/>
              </a:ext>
            </a:extLst>
          </p:cNvPr>
          <p:cNvGrpSpPr/>
          <p:nvPr/>
        </p:nvGrpSpPr>
        <p:grpSpPr>
          <a:xfrm>
            <a:off x="230474" y="3949915"/>
            <a:ext cx="2506513" cy="814579"/>
            <a:chOff x="201168" y="1847088"/>
            <a:chExt cx="4133088" cy="909828"/>
          </a:xfrm>
        </p:grpSpPr>
        <p:sp>
          <p:nvSpPr>
            <p:cNvPr id="80" name="Shape 15">
              <a:extLst>
                <a:ext uri="{FF2B5EF4-FFF2-40B4-BE49-F238E27FC236}">
                  <a16:creationId xmlns:a16="http://schemas.microsoft.com/office/drawing/2014/main" id="{9902AAB6-E8ED-8887-A94C-B00F495FE33C}"/>
                </a:ext>
              </a:extLst>
            </p:cNvPr>
            <p:cNvSpPr/>
            <p:nvPr/>
          </p:nvSpPr>
          <p:spPr>
            <a:xfrm>
              <a:off x="201168" y="184708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Shape 16">
              <a:extLst>
                <a:ext uri="{FF2B5EF4-FFF2-40B4-BE49-F238E27FC236}">
                  <a16:creationId xmlns:a16="http://schemas.microsoft.com/office/drawing/2014/main" id="{1D8A98AA-F2CA-02D0-8C44-D98EA76F6715}"/>
                </a:ext>
              </a:extLst>
            </p:cNvPr>
            <p:cNvSpPr/>
            <p:nvPr/>
          </p:nvSpPr>
          <p:spPr>
            <a:xfrm>
              <a:off x="201168" y="1847088"/>
              <a:ext cx="4133088" cy="256032"/>
            </a:xfrm>
            <a:prstGeom prst="rect">
              <a:avLst/>
            </a:prstGeom>
            <a:solidFill>
              <a:srgbClr val="1565C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19">
              <a:extLst>
                <a:ext uri="{FF2B5EF4-FFF2-40B4-BE49-F238E27FC236}">
                  <a16:creationId xmlns:a16="http://schemas.microsoft.com/office/drawing/2014/main" id="{6EF54CCC-09C6-B479-3742-5F452D52AE5A}"/>
                </a:ext>
              </a:extLst>
            </p:cNvPr>
            <p:cNvSpPr/>
            <p:nvPr/>
          </p:nvSpPr>
          <p:spPr>
            <a:xfrm>
              <a:off x="397454" y="1905645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  <a:ea typeface="Calibri"/>
                  <a:cs typeface="Calibri"/>
                </a:rPr>
                <a:t>4.   Material Transfer to Extruder</a:t>
              </a:r>
              <a:endParaRPr lang="en-US" sz="950" b="1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83" name="Text 20">
              <a:extLst>
                <a:ext uri="{FF2B5EF4-FFF2-40B4-BE49-F238E27FC236}">
                  <a16:creationId xmlns:a16="http://schemas.microsoft.com/office/drawing/2014/main" id="{C6866A72-9737-D87B-4B81-40104BC40CA3}"/>
                </a:ext>
              </a:extLst>
            </p:cNvPr>
            <p:cNvSpPr/>
            <p:nvPr/>
          </p:nvSpPr>
          <p:spPr>
            <a:xfrm>
              <a:off x="292608" y="213969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>
                  <a:solidFill>
                    <a:srgbClr val="1E88E5"/>
                  </a:solidFill>
                  <a:ea typeface="Calibri"/>
                  <a:cs typeface="Calibri"/>
                </a:rPr>
                <a:t>▸ </a:t>
              </a:r>
              <a:r>
                <a:rPr lang="en-US" sz="900">
                  <a:solidFill>
                    <a:srgbClr val="263238"/>
                  </a:solidFill>
                  <a:ea typeface="Calibri"/>
                  <a:cs typeface="Calibri"/>
                </a:rPr>
                <a:t>Prepared clay flows to extrusion chamber</a:t>
              </a:r>
              <a:endParaRPr lang="en-US" sz="900">
                <a:solidFill>
                  <a:srgbClr val="000000"/>
                </a:solidFill>
                <a:ea typeface="Calibri"/>
                <a:cs typeface="Calibri"/>
              </a:endParaRPr>
            </a:p>
          </p:txBody>
        </p:sp>
        <p:sp>
          <p:nvSpPr>
            <p:cNvPr id="84" name="Text 21">
              <a:extLst>
                <a:ext uri="{FF2B5EF4-FFF2-40B4-BE49-F238E27FC236}">
                  <a16:creationId xmlns:a16="http://schemas.microsoft.com/office/drawing/2014/main" id="{F639B725-0A01-F533-7AD5-A9FEC89F2BB4}"/>
                </a:ext>
              </a:extLst>
            </p:cNvPr>
            <p:cNvSpPr/>
            <p:nvPr/>
          </p:nvSpPr>
          <p:spPr>
            <a:xfrm>
              <a:off x="292608" y="230886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b="1">
                  <a:solidFill>
                    <a:srgbClr val="1E88E5"/>
                  </a:solidFill>
                  <a:ea typeface="Calibri"/>
                  <a:cs typeface="Calibri"/>
                </a:rPr>
                <a:t>▸ </a:t>
              </a:r>
              <a:r>
                <a:rPr lang="en-US" sz="900">
                  <a:solidFill>
                    <a:srgbClr val="263238"/>
                  </a:solidFill>
                  <a:ea typeface="Calibri"/>
                  <a:cs typeface="Calibri"/>
                </a:rPr>
                <a:t>Pressure stabilized before print start</a:t>
              </a:r>
              <a:endParaRPr lang="en-US"/>
            </a:p>
          </p:txBody>
        </p: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F2D94988-AB38-860E-DA93-03E49299A996}"/>
              </a:ext>
            </a:extLst>
          </p:cNvPr>
          <p:cNvGrpSpPr/>
          <p:nvPr/>
        </p:nvGrpSpPr>
        <p:grpSpPr>
          <a:xfrm>
            <a:off x="3378608" y="791181"/>
            <a:ext cx="4019670" cy="587971"/>
            <a:chOff x="2934108" y="775306"/>
            <a:chExt cx="4019670" cy="587971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F7B81879-5FEB-006E-242E-ECB95C36C32A}"/>
                </a:ext>
              </a:extLst>
            </p:cNvPr>
            <p:cNvGrpSpPr/>
            <p:nvPr/>
          </p:nvGrpSpPr>
          <p:grpSpPr>
            <a:xfrm>
              <a:off x="2934108" y="775306"/>
              <a:ext cx="2506513" cy="587445"/>
              <a:chOff x="201168" y="841248"/>
              <a:chExt cx="4133088" cy="909828"/>
            </a:xfrm>
          </p:grpSpPr>
          <p:sp>
            <p:nvSpPr>
              <p:cNvPr id="87" name="Shape 6">
                <a:extLst>
                  <a:ext uri="{FF2B5EF4-FFF2-40B4-BE49-F238E27FC236}">
                    <a16:creationId xmlns:a16="http://schemas.microsoft.com/office/drawing/2014/main" id="{3A086A00-6577-A895-6DC6-D9991A224680}"/>
                  </a:ext>
                </a:extLst>
              </p:cNvPr>
              <p:cNvSpPr/>
              <p:nvPr/>
            </p:nvSpPr>
            <p:spPr>
              <a:xfrm>
                <a:off x="201168" y="841248"/>
                <a:ext cx="4133088" cy="909828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63500" dist="254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7">
                <a:extLst>
                  <a:ext uri="{FF2B5EF4-FFF2-40B4-BE49-F238E27FC236}">
                    <a16:creationId xmlns:a16="http://schemas.microsoft.com/office/drawing/2014/main" id="{AD62F8DC-EE07-EB4D-8F8D-F94A04073BD0}"/>
                  </a:ext>
                </a:extLst>
              </p:cNvPr>
              <p:cNvSpPr/>
              <p:nvPr/>
            </p:nvSpPr>
            <p:spPr>
              <a:xfrm>
                <a:off x="201168" y="841248"/>
                <a:ext cx="4133088" cy="369510"/>
              </a:xfrm>
              <a:prstGeom prst="rect">
                <a:avLst/>
              </a:prstGeom>
              <a:solidFill>
                <a:srgbClr val="0D1B3E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Text 10">
                <a:extLst>
                  <a:ext uri="{FF2B5EF4-FFF2-40B4-BE49-F238E27FC236}">
                    <a16:creationId xmlns:a16="http://schemas.microsoft.com/office/drawing/2014/main" id="{DDE7C1FB-123C-F998-5142-A0744E033B2E}"/>
                  </a:ext>
                </a:extLst>
              </p:cNvPr>
              <p:cNvSpPr/>
              <p:nvPr/>
            </p:nvSpPr>
            <p:spPr>
              <a:xfrm>
                <a:off x="361209" y="899805"/>
                <a:ext cx="3749040" cy="2011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50" b="1">
                    <a:solidFill>
                      <a:srgbClr val="FFFFFF"/>
                    </a:solidFill>
                  </a:rPr>
                  <a:t>5.    Mode Based Printing</a:t>
                </a:r>
                <a:endParaRPr lang="en-US" sz="950">
                  <a:ea typeface="Calibri" panose="020F0502020204030204"/>
                  <a:cs typeface="Calibri" panose="020F0502020204030204"/>
                </a:endParaRPr>
              </a:p>
            </p:txBody>
          </p:sp>
        </p:grpSp>
        <p:sp>
          <p:nvSpPr>
            <p:cNvPr id="93" name="Text 51">
              <a:extLst>
                <a:ext uri="{FF2B5EF4-FFF2-40B4-BE49-F238E27FC236}">
                  <a16:creationId xmlns:a16="http://schemas.microsoft.com/office/drawing/2014/main" id="{A1BA241A-0A28-8FF2-E9B9-76C6BDBCDF59}"/>
                </a:ext>
              </a:extLst>
            </p:cNvPr>
            <p:cNvSpPr/>
            <p:nvPr/>
          </p:nvSpPr>
          <p:spPr>
            <a:xfrm>
              <a:off x="3003570" y="1029521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50" b="1" dirty="0">
                  <a:solidFill>
                    <a:srgbClr val="00695C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X, Y, Z axes </a:t>
              </a:r>
              <a:r>
                <a:rPr lang="en-US" sz="850" dirty="0" err="1">
                  <a:solidFill>
                    <a:srgbClr val="263238"/>
                  </a:solidFill>
                </a:rPr>
                <a:t>mo</a:t>
              </a:r>
              <a:r>
                <a:rPr lang="en-US" sz="850">
                  <a:solidFill>
                    <a:srgbClr val="263238"/>
                  </a:solidFill>
                </a:rPr>
                <a:t>tion for bust/sculpture</a:t>
              </a:r>
              <a:endParaRPr lang="en-US" sz="850" dirty="0"/>
            </a:p>
          </p:txBody>
        </p:sp>
        <p:sp>
          <p:nvSpPr>
            <p:cNvPr id="94" name="Text 52">
              <a:extLst>
                <a:ext uri="{FF2B5EF4-FFF2-40B4-BE49-F238E27FC236}">
                  <a16:creationId xmlns:a16="http://schemas.microsoft.com/office/drawing/2014/main" id="{D84C63F3-66C5-E5B1-8077-0445F99FD396}"/>
                </a:ext>
              </a:extLst>
            </p:cNvPr>
            <p:cNvSpPr/>
            <p:nvPr/>
          </p:nvSpPr>
          <p:spPr>
            <a:xfrm>
              <a:off x="3003570" y="1198685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50" b="1" dirty="0">
                  <a:solidFill>
                    <a:schemeClr val="tx1">
                      <a:lumMod val="76000"/>
                      <a:lumOff val="24000"/>
                    </a:schemeClr>
                  </a:solidFill>
                </a:rPr>
                <a:t>▸ </a:t>
              </a:r>
              <a:r>
                <a:rPr lang="en-US" sz="850">
                  <a:solidFill>
                    <a:schemeClr val="tx1">
                      <a:lumMod val="76000"/>
                      <a:lumOff val="24000"/>
                    </a:schemeClr>
                  </a:solidFill>
                </a:rPr>
                <a:t>Rotary Mode for pot/vase</a:t>
              </a:r>
              <a:endParaRPr lang="en-US" sz="850">
                <a:solidFill>
                  <a:schemeClr val="tx1">
                    <a:lumMod val="76000"/>
                    <a:lumOff val="24000"/>
                  </a:schemeClr>
                </a:solidFill>
                <a:ea typeface="Calibri"/>
                <a:cs typeface="Calibri"/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1B7F1C8-093B-7561-930E-B4295306C34D}"/>
              </a:ext>
            </a:extLst>
          </p:cNvPr>
          <p:cNvGrpSpPr/>
          <p:nvPr/>
        </p:nvGrpSpPr>
        <p:grpSpPr>
          <a:xfrm>
            <a:off x="3378608" y="1481963"/>
            <a:ext cx="4026996" cy="814579"/>
            <a:chOff x="2934108" y="1466088"/>
            <a:chExt cx="4026996" cy="814579"/>
          </a:xfrm>
        </p:grpSpPr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117FEEAD-A849-59DD-0ACA-3CF1460A07E6}"/>
                </a:ext>
              </a:extLst>
            </p:cNvPr>
            <p:cNvGrpSpPr/>
            <p:nvPr/>
          </p:nvGrpSpPr>
          <p:grpSpPr>
            <a:xfrm>
              <a:off x="2934108" y="1466088"/>
              <a:ext cx="2506513" cy="814579"/>
              <a:chOff x="201168" y="1847088"/>
              <a:chExt cx="4133088" cy="909828"/>
            </a:xfrm>
          </p:grpSpPr>
          <p:sp>
            <p:nvSpPr>
              <p:cNvPr id="96" name="Shape 15">
                <a:extLst>
                  <a:ext uri="{FF2B5EF4-FFF2-40B4-BE49-F238E27FC236}">
                    <a16:creationId xmlns:a16="http://schemas.microsoft.com/office/drawing/2014/main" id="{7CA29E18-62D1-EE4A-C927-151712CE2768}"/>
                  </a:ext>
                </a:extLst>
              </p:cNvPr>
              <p:cNvSpPr/>
              <p:nvPr/>
            </p:nvSpPr>
            <p:spPr>
              <a:xfrm>
                <a:off x="201168" y="1847088"/>
                <a:ext cx="4133088" cy="909828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63500" dist="254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Shape 16">
                <a:extLst>
                  <a:ext uri="{FF2B5EF4-FFF2-40B4-BE49-F238E27FC236}">
                    <a16:creationId xmlns:a16="http://schemas.microsoft.com/office/drawing/2014/main" id="{ED57D300-4B30-0B69-D4D3-6890EF1AF9A3}"/>
                  </a:ext>
                </a:extLst>
              </p:cNvPr>
              <p:cNvSpPr/>
              <p:nvPr/>
            </p:nvSpPr>
            <p:spPr>
              <a:xfrm>
                <a:off x="201168" y="1847088"/>
                <a:ext cx="4133088" cy="256032"/>
              </a:xfrm>
              <a:prstGeom prst="rect">
                <a:avLst/>
              </a:prstGeom>
              <a:solidFill>
                <a:srgbClr val="1565C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Text 19">
                <a:extLst>
                  <a:ext uri="{FF2B5EF4-FFF2-40B4-BE49-F238E27FC236}">
                    <a16:creationId xmlns:a16="http://schemas.microsoft.com/office/drawing/2014/main" id="{B523FD2C-87B7-6BCC-68B0-EE2D01EBFF61}"/>
                  </a:ext>
                </a:extLst>
              </p:cNvPr>
              <p:cNvSpPr/>
              <p:nvPr/>
            </p:nvSpPr>
            <p:spPr>
              <a:xfrm>
                <a:off x="397454" y="1905645"/>
                <a:ext cx="374904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50" b="1">
                    <a:solidFill>
                      <a:srgbClr val="FFFFFF"/>
                    </a:solidFill>
                    <a:ea typeface="Calibri"/>
                    <a:cs typeface="Calibri"/>
                  </a:rPr>
                  <a:t>6.   Design Input</a:t>
                </a:r>
                <a:endParaRPr lang="en-US" sz="950" b="1" dirty="0">
                  <a:solidFill>
                    <a:srgbClr val="FFFFFF"/>
                  </a:solidFill>
                  <a:ea typeface="Calibri"/>
                  <a:cs typeface="Calibri"/>
                </a:endParaRPr>
              </a:p>
            </p:txBody>
          </p:sp>
        </p:grpSp>
        <p:sp>
          <p:nvSpPr>
            <p:cNvPr id="102" name="Text 59">
              <a:extLst>
                <a:ext uri="{FF2B5EF4-FFF2-40B4-BE49-F238E27FC236}">
                  <a16:creationId xmlns:a16="http://schemas.microsoft.com/office/drawing/2014/main" id="{4A9AAE62-7979-3956-29D1-18703A4B116A}"/>
                </a:ext>
              </a:extLst>
            </p:cNvPr>
            <p:cNvSpPr/>
            <p:nvPr/>
          </p:nvSpPr>
          <p:spPr>
            <a:xfrm>
              <a:off x="3010896" y="1726985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37474F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User inserts SD card / selects file</a:t>
              </a:r>
              <a:endParaRPr lang="en-US" sz="850" dirty="0"/>
            </a:p>
          </p:txBody>
        </p:sp>
        <p:sp>
          <p:nvSpPr>
            <p:cNvPr id="103" name="Text 60">
              <a:extLst>
                <a:ext uri="{FF2B5EF4-FFF2-40B4-BE49-F238E27FC236}">
                  <a16:creationId xmlns:a16="http://schemas.microsoft.com/office/drawing/2014/main" id="{EFDBFEC9-86A3-1069-BFBA-1308ED1853DA}"/>
                </a:ext>
              </a:extLst>
            </p:cNvPr>
            <p:cNvSpPr/>
            <p:nvPr/>
          </p:nvSpPr>
          <p:spPr>
            <a:xfrm>
              <a:off x="3010896" y="1896149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37474F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System reads G-code</a:t>
              </a:r>
              <a:endParaRPr lang="en-US" sz="850" dirty="0"/>
            </a:p>
          </p:txBody>
        </p:sp>
        <p:sp>
          <p:nvSpPr>
            <p:cNvPr id="104" name="Text 61">
              <a:extLst>
                <a:ext uri="{FF2B5EF4-FFF2-40B4-BE49-F238E27FC236}">
                  <a16:creationId xmlns:a16="http://schemas.microsoft.com/office/drawing/2014/main" id="{468F4F70-FE81-507C-F9D0-26EEA080F63A}"/>
                </a:ext>
              </a:extLst>
            </p:cNvPr>
            <p:cNvSpPr/>
            <p:nvPr/>
          </p:nvSpPr>
          <p:spPr>
            <a:xfrm>
              <a:off x="3010896" y="2065313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37474F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Display: File Loaded: Vase.gcode</a:t>
              </a:r>
              <a:endParaRPr lang="en-US" sz="850" dirty="0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B784F2C-83EB-64D9-3F5B-A07583338440}"/>
              </a:ext>
            </a:extLst>
          </p:cNvPr>
          <p:cNvGrpSpPr/>
          <p:nvPr/>
        </p:nvGrpSpPr>
        <p:grpSpPr>
          <a:xfrm>
            <a:off x="3378608" y="2419809"/>
            <a:ext cx="4031271" cy="814579"/>
            <a:chOff x="2934108" y="2403934"/>
            <a:chExt cx="4031271" cy="814579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34F69F16-D500-C7EC-67A6-54E26E9D0A4D}"/>
                </a:ext>
              </a:extLst>
            </p:cNvPr>
            <p:cNvGrpSpPr/>
            <p:nvPr/>
          </p:nvGrpSpPr>
          <p:grpSpPr>
            <a:xfrm>
              <a:off x="2934108" y="2403934"/>
              <a:ext cx="2506513" cy="814579"/>
              <a:chOff x="201168" y="1847088"/>
              <a:chExt cx="4133088" cy="909828"/>
            </a:xfrm>
          </p:grpSpPr>
          <p:sp>
            <p:nvSpPr>
              <p:cNvPr id="112" name="Shape 15">
                <a:extLst>
                  <a:ext uri="{FF2B5EF4-FFF2-40B4-BE49-F238E27FC236}">
                    <a16:creationId xmlns:a16="http://schemas.microsoft.com/office/drawing/2014/main" id="{0AEAC4E4-EAF8-9383-E768-D2552D24F717}"/>
                  </a:ext>
                </a:extLst>
              </p:cNvPr>
              <p:cNvSpPr/>
              <p:nvPr/>
            </p:nvSpPr>
            <p:spPr>
              <a:xfrm>
                <a:off x="201168" y="1847088"/>
                <a:ext cx="4133088" cy="909828"/>
              </a:xfrm>
              <a:prstGeom prst="rect">
                <a:avLst/>
              </a:prstGeom>
              <a:solidFill>
                <a:srgbClr val="FFFFFF"/>
              </a:solidFill>
              <a:ln/>
              <a:effectLst>
                <a:outerShdw blurRad="63500" dist="254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Shape 16">
                <a:extLst>
                  <a:ext uri="{FF2B5EF4-FFF2-40B4-BE49-F238E27FC236}">
                    <a16:creationId xmlns:a16="http://schemas.microsoft.com/office/drawing/2014/main" id="{3FBC955C-272C-E449-4E73-180D9C6D0A82}"/>
                  </a:ext>
                </a:extLst>
              </p:cNvPr>
              <p:cNvSpPr/>
              <p:nvPr/>
            </p:nvSpPr>
            <p:spPr>
              <a:xfrm>
                <a:off x="201168" y="1847088"/>
                <a:ext cx="4133088" cy="256032"/>
              </a:xfrm>
              <a:prstGeom prst="rect">
                <a:avLst/>
              </a:prstGeom>
              <a:solidFill>
                <a:srgbClr val="1565C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Text 19">
                <a:extLst>
                  <a:ext uri="{FF2B5EF4-FFF2-40B4-BE49-F238E27FC236}">
                    <a16:creationId xmlns:a16="http://schemas.microsoft.com/office/drawing/2014/main" id="{520862C8-0413-AF68-8777-BAC9779EAD77}"/>
                  </a:ext>
                </a:extLst>
              </p:cNvPr>
              <p:cNvSpPr/>
              <p:nvPr/>
            </p:nvSpPr>
            <p:spPr>
              <a:xfrm>
                <a:off x="397454" y="1905645"/>
                <a:ext cx="374904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50" b="1">
                    <a:solidFill>
                      <a:srgbClr val="FFFFFF"/>
                    </a:solidFill>
                    <a:ea typeface="Calibri"/>
                    <a:cs typeface="Calibri"/>
                  </a:rPr>
                  <a:t>7.   Pre-Print Setup</a:t>
                </a:r>
                <a:endParaRPr lang="en-US" sz="950" b="1" dirty="0">
                  <a:solidFill>
                    <a:srgbClr val="FFFFFF"/>
                  </a:solidFill>
                  <a:ea typeface="Calibri"/>
                  <a:cs typeface="Calibri"/>
                </a:endParaRPr>
              </a:p>
            </p:txBody>
          </p:sp>
        </p:grpSp>
        <p:sp>
          <p:nvSpPr>
            <p:cNvPr id="121" name="Text 68">
              <a:extLst>
                <a:ext uri="{FF2B5EF4-FFF2-40B4-BE49-F238E27FC236}">
                  <a16:creationId xmlns:a16="http://schemas.microsoft.com/office/drawing/2014/main" id="{28050851-DE63-3B5A-D075-DF95A6097363}"/>
                </a:ext>
              </a:extLst>
            </p:cNvPr>
            <p:cNvSpPr/>
            <p:nvPr/>
          </p:nvSpPr>
          <p:spPr>
            <a:xfrm>
              <a:off x="3015171" y="2692527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4E342E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Nozzle height calibration</a:t>
              </a:r>
              <a:endParaRPr lang="en-US" sz="850" dirty="0"/>
            </a:p>
          </p:txBody>
        </p:sp>
        <p:sp>
          <p:nvSpPr>
            <p:cNvPr id="122" name="Text 69">
              <a:extLst>
                <a:ext uri="{FF2B5EF4-FFF2-40B4-BE49-F238E27FC236}">
                  <a16:creationId xmlns:a16="http://schemas.microsoft.com/office/drawing/2014/main" id="{B4A8A249-CBDA-1779-8638-50B8E8361705}"/>
                </a:ext>
              </a:extLst>
            </p:cNvPr>
            <p:cNvSpPr/>
            <p:nvPr/>
          </p:nvSpPr>
          <p:spPr>
            <a:xfrm>
              <a:off x="3015171" y="2861691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4E342E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Extrusion pressure check</a:t>
              </a:r>
              <a:endParaRPr lang="en-US" sz="850" dirty="0"/>
            </a:p>
          </p:txBody>
        </p:sp>
        <p:sp>
          <p:nvSpPr>
            <p:cNvPr id="123" name="Text 70">
              <a:extLst>
                <a:ext uri="{FF2B5EF4-FFF2-40B4-BE49-F238E27FC236}">
                  <a16:creationId xmlns:a16="http://schemas.microsoft.com/office/drawing/2014/main" id="{F46753BD-77CF-31D9-7743-B406F5391B17}"/>
                </a:ext>
              </a:extLst>
            </p:cNvPr>
            <p:cNvSpPr/>
            <p:nvPr/>
          </p:nvSpPr>
          <p:spPr>
            <a:xfrm>
              <a:off x="3015171" y="3030855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4E342E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Bed positioning confirmed</a:t>
              </a:r>
              <a:endParaRPr lang="en-US" sz="850" dirty="0"/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0093F86-4B09-C120-D4F9-20E96FDB4760}"/>
              </a:ext>
            </a:extLst>
          </p:cNvPr>
          <p:cNvGrpSpPr/>
          <p:nvPr/>
        </p:nvGrpSpPr>
        <p:grpSpPr>
          <a:xfrm>
            <a:off x="3381606" y="3357436"/>
            <a:ext cx="2505290" cy="1141652"/>
            <a:chOff x="4802418" y="841248"/>
            <a:chExt cx="4140414" cy="1141652"/>
          </a:xfrm>
        </p:grpSpPr>
        <p:sp>
          <p:nvSpPr>
            <p:cNvPr id="125" name="Shape 72">
              <a:extLst>
                <a:ext uri="{FF2B5EF4-FFF2-40B4-BE49-F238E27FC236}">
                  <a16:creationId xmlns:a16="http://schemas.microsoft.com/office/drawing/2014/main" id="{D31A0CB0-BF68-2F2D-091F-9CFC12233524}"/>
                </a:ext>
              </a:extLst>
            </p:cNvPr>
            <p:cNvSpPr/>
            <p:nvPr/>
          </p:nvSpPr>
          <p:spPr>
            <a:xfrm>
              <a:off x="4802418" y="877882"/>
              <a:ext cx="4140414" cy="110501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Shape 73">
              <a:extLst>
                <a:ext uri="{FF2B5EF4-FFF2-40B4-BE49-F238E27FC236}">
                  <a16:creationId xmlns:a16="http://schemas.microsoft.com/office/drawing/2014/main" id="{979700C8-E4D1-1AF4-42EB-3FB002CDAD27}"/>
                </a:ext>
              </a:extLst>
            </p:cNvPr>
            <p:cNvSpPr/>
            <p:nvPr/>
          </p:nvSpPr>
          <p:spPr>
            <a:xfrm>
              <a:off x="4809744" y="841248"/>
              <a:ext cx="4133088" cy="256032"/>
            </a:xfrm>
            <a:prstGeom prst="rect">
              <a:avLst/>
            </a:prstGeom>
            <a:solidFill>
              <a:srgbClr val="AD145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Text 76">
              <a:extLst>
                <a:ext uri="{FF2B5EF4-FFF2-40B4-BE49-F238E27FC236}">
                  <a16:creationId xmlns:a16="http://schemas.microsoft.com/office/drawing/2014/main" id="{F710E8F0-D897-8338-A3C5-D54D7F0926DB}"/>
                </a:ext>
              </a:extLst>
            </p:cNvPr>
            <p:cNvSpPr/>
            <p:nvPr/>
          </p:nvSpPr>
          <p:spPr>
            <a:xfrm>
              <a:off x="4994628" y="877824"/>
              <a:ext cx="374904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8.   3D Printing Process</a:t>
              </a:r>
              <a:endParaRPr lang="en-US" sz="950"/>
            </a:p>
          </p:txBody>
        </p:sp>
        <p:sp>
          <p:nvSpPr>
            <p:cNvPr id="130" name="Text 79">
              <a:extLst>
                <a:ext uri="{FF2B5EF4-FFF2-40B4-BE49-F238E27FC236}">
                  <a16:creationId xmlns:a16="http://schemas.microsoft.com/office/drawing/2014/main" id="{AEC04366-63D8-950C-3A04-DB5B0C5A0B12}"/>
                </a:ext>
              </a:extLst>
            </p:cNvPr>
            <p:cNvSpPr/>
            <p:nvPr/>
          </p:nvSpPr>
          <p:spPr>
            <a:xfrm>
              <a:off x="4879203" y="1133563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AD1457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Extruder begins clay flow → nozzle to start point</a:t>
              </a:r>
              <a:endParaRPr lang="en-US" sz="850" dirty="0"/>
            </a:p>
          </p:txBody>
        </p:sp>
        <p:sp>
          <p:nvSpPr>
            <p:cNvPr id="131" name="Text 80">
              <a:extLst>
                <a:ext uri="{FF2B5EF4-FFF2-40B4-BE49-F238E27FC236}">
                  <a16:creationId xmlns:a16="http://schemas.microsoft.com/office/drawing/2014/main" id="{952A06CB-9E63-2D49-E4FB-055923048587}"/>
                </a:ext>
              </a:extLst>
            </p:cNvPr>
            <p:cNvSpPr/>
            <p:nvPr/>
          </p:nvSpPr>
          <p:spPr>
            <a:xfrm>
              <a:off x="4879203" y="1302727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50" b="1" dirty="0">
                  <a:solidFill>
                    <a:srgbClr val="AD1457"/>
                  </a:solidFill>
                </a:rPr>
                <a:t>▸ </a:t>
              </a:r>
              <a:r>
                <a:rPr lang="en-US" sz="850">
                  <a:solidFill>
                    <a:srgbClr val="263238"/>
                  </a:solidFill>
                </a:rPr>
                <a:t>X-Y movement forms shape layer by layer for sculpting</a:t>
              </a:r>
              <a:endParaRPr lang="en-US" sz="850" dirty="0"/>
            </a:p>
          </p:txBody>
        </p:sp>
        <p:sp>
          <p:nvSpPr>
            <p:cNvPr id="132" name="Text 81">
              <a:extLst>
                <a:ext uri="{FF2B5EF4-FFF2-40B4-BE49-F238E27FC236}">
                  <a16:creationId xmlns:a16="http://schemas.microsoft.com/office/drawing/2014/main" id="{5CE552B0-A238-77AF-CDC4-744CF8A4824E}"/>
                </a:ext>
              </a:extLst>
            </p:cNvPr>
            <p:cNvSpPr/>
            <p:nvPr/>
          </p:nvSpPr>
          <p:spPr>
            <a:xfrm>
              <a:off x="4879203" y="1471891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50" b="1" dirty="0">
                  <a:solidFill>
                    <a:srgbClr val="AD1457"/>
                  </a:solidFill>
                </a:rPr>
                <a:t>▸ </a:t>
              </a:r>
              <a:r>
                <a:rPr lang="en-US" sz="850">
                  <a:solidFill>
                    <a:schemeClr val="tx1">
                      <a:lumMod val="76000"/>
                      <a:lumOff val="24000"/>
                    </a:schemeClr>
                  </a:solidFill>
                </a:rPr>
                <a:t>Rotating bed for smooth pottery</a:t>
              </a:r>
              <a:r>
                <a:rPr lang="en-US" sz="850" b="1" dirty="0">
                  <a:solidFill>
                    <a:srgbClr val="AD1457"/>
                  </a:solidFill>
                </a:rPr>
                <a:t> </a:t>
              </a:r>
              <a:endParaRPr lang="en-US" sz="850">
                <a:solidFill>
                  <a:srgbClr val="263238"/>
                </a:solidFill>
                <a:ea typeface="Calibri"/>
                <a:cs typeface="Calibri"/>
              </a:endParaRPr>
            </a:p>
          </p:txBody>
        </p:sp>
        <p:sp>
          <p:nvSpPr>
            <p:cNvPr id="133" name="Text 82">
              <a:extLst>
                <a:ext uri="{FF2B5EF4-FFF2-40B4-BE49-F238E27FC236}">
                  <a16:creationId xmlns:a16="http://schemas.microsoft.com/office/drawing/2014/main" id="{DAF2AEAA-19B0-6D0F-7621-1313FEA3FDCB}"/>
                </a:ext>
              </a:extLst>
            </p:cNvPr>
            <p:cNvSpPr/>
            <p:nvPr/>
          </p:nvSpPr>
          <p:spPr>
            <a:xfrm>
              <a:off x="4879203" y="1641055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AD1457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Real-time: monitor extrusion pressure, flow, motor load</a:t>
              </a:r>
              <a:endParaRPr lang="en-US" sz="850" dirty="0"/>
            </a:p>
          </p:txBody>
        </p:sp>
        <p:sp>
          <p:nvSpPr>
            <p:cNvPr id="134" name="Text 83">
              <a:extLst>
                <a:ext uri="{FF2B5EF4-FFF2-40B4-BE49-F238E27FC236}">
                  <a16:creationId xmlns:a16="http://schemas.microsoft.com/office/drawing/2014/main" id="{46435305-A914-6E81-A0E2-58D5C359455B}"/>
                </a:ext>
              </a:extLst>
            </p:cNvPr>
            <p:cNvSpPr/>
            <p:nvPr/>
          </p:nvSpPr>
          <p:spPr>
            <a:xfrm>
              <a:off x="4879203" y="1810219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AD1457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Error? → Pause print, show warning, wait for fix</a:t>
              </a:r>
              <a:endParaRPr lang="en-US" sz="850" dirty="0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2238911C-FE51-C90D-ED3F-9D33AF5746E9}"/>
              </a:ext>
            </a:extLst>
          </p:cNvPr>
          <p:cNvGrpSpPr/>
          <p:nvPr/>
        </p:nvGrpSpPr>
        <p:grpSpPr>
          <a:xfrm>
            <a:off x="6405182" y="771564"/>
            <a:ext cx="2505901" cy="845210"/>
            <a:chOff x="4809744" y="2350008"/>
            <a:chExt cx="4133088" cy="909828"/>
          </a:xfrm>
        </p:grpSpPr>
        <p:sp>
          <p:nvSpPr>
            <p:cNvPr id="137" name="Shape 85">
              <a:extLst>
                <a:ext uri="{FF2B5EF4-FFF2-40B4-BE49-F238E27FC236}">
                  <a16:creationId xmlns:a16="http://schemas.microsoft.com/office/drawing/2014/main" id="{4FE64987-0A22-BFF3-09F0-CD6A87EC0CB0}"/>
                </a:ext>
              </a:extLst>
            </p:cNvPr>
            <p:cNvSpPr/>
            <p:nvPr/>
          </p:nvSpPr>
          <p:spPr>
            <a:xfrm>
              <a:off x="4809744" y="2350008"/>
              <a:ext cx="4133088" cy="909828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Shape 86">
              <a:extLst>
                <a:ext uri="{FF2B5EF4-FFF2-40B4-BE49-F238E27FC236}">
                  <a16:creationId xmlns:a16="http://schemas.microsoft.com/office/drawing/2014/main" id="{7FBF4C6A-D510-E588-1D8D-BBE9967CD6BB}"/>
                </a:ext>
              </a:extLst>
            </p:cNvPr>
            <p:cNvSpPr/>
            <p:nvPr/>
          </p:nvSpPr>
          <p:spPr>
            <a:xfrm>
              <a:off x="4809744" y="2350008"/>
              <a:ext cx="4133088" cy="256032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Text 89">
              <a:extLst>
                <a:ext uri="{FF2B5EF4-FFF2-40B4-BE49-F238E27FC236}">
                  <a16:creationId xmlns:a16="http://schemas.microsoft.com/office/drawing/2014/main" id="{B96F9DA0-90D5-7557-7135-AF0DDA81733A}"/>
                </a:ext>
              </a:extLst>
            </p:cNvPr>
            <p:cNvSpPr/>
            <p:nvPr/>
          </p:nvSpPr>
          <p:spPr>
            <a:xfrm>
              <a:off x="4942554" y="2386584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9.   Print Completion</a:t>
              </a:r>
              <a:endParaRPr lang="en-US" sz="950"/>
            </a:p>
          </p:txBody>
        </p:sp>
        <p:sp>
          <p:nvSpPr>
            <p:cNvPr id="142" name="Text 90">
              <a:extLst>
                <a:ext uri="{FF2B5EF4-FFF2-40B4-BE49-F238E27FC236}">
                  <a16:creationId xmlns:a16="http://schemas.microsoft.com/office/drawing/2014/main" id="{AE223DD8-E399-C52F-A3D9-DAED680C527D}"/>
                </a:ext>
              </a:extLst>
            </p:cNvPr>
            <p:cNvSpPr/>
            <p:nvPr/>
          </p:nvSpPr>
          <p:spPr>
            <a:xfrm>
              <a:off x="4901184" y="264261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2E7D32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Extrusion stops</a:t>
              </a:r>
              <a:endParaRPr lang="en-US" sz="850" dirty="0"/>
            </a:p>
          </p:txBody>
        </p:sp>
        <p:sp>
          <p:nvSpPr>
            <p:cNvPr id="143" name="Text 91">
              <a:extLst>
                <a:ext uri="{FF2B5EF4-FFF2-40B4-BE49-F238E27FC236}">
                  <a16:creationId xmlns:a16="http://schemas.microsoft.com/office/drawing/2014/main" id="{E6C0C30E-A161-0E07-54C2-5021A7EB28D2}"/>
                </a:ext>
              </a:extLst>
            </p:cNvPr>
            <p:cNvSpPr/>
            <p:nvPr/>
          </p:nvSpPr>
          <p:spPr>
            <a:xfrm>
              <a:off x="4901184" y="281178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2E7D32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Nozzle lifts away from object</a:t>
              </a:r>
              <a:endParaRPr lang="en-US" sz="850" dirty="0"/>
            </a:p>
          </p:txBody>
        </p:sp>
        <p:sp>
          <p:nvSpPr>
            <p:cNvPr id="144" name="Text 92">
              <a:extLst>
                <a:ext uri="{FF2B5EF4-FFF2-40B4-BE49-F238E27FC236}">
                  <a16:creationId xmlns:a16="http://schemas.microsoft.com/office/drawing/2014/main" id="{156F4323-9106-3285-DB89-B83DABA549C3}"/>
                </a:ext>
              </a:extLst>
            </p:cNvPr>
            <p:cNvSpPr/>
            <p:nvPr/>
          </p:nvSpPr>
          <p:spPr>
            <a:xfrm>
              <a:off x="4901184" y="2980944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2E7D32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Display: Printing Completed</a:t>
              </a:r>
              <a:endParaRPr lang="en-US" sz="850" dirty="0"/>
            </a:p>
          </p:txBody>
        </p:sp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A3DB13D-C938-23E8-F507-6F1AA7AFBD1B}"/>
              </a:ext>
            </a:extLst>
          </p:cNvPr>
          <p:cNvGrpSpPr/>
          <p:nvPr/>
        </p:nvGrpSpPr>
        <p:grpSpPr>
          <a:xfrm>
            <a:off x="6405793" y="1753696"/>
            <a:ext cx="2505289" cy="1044535"/>
            <a:chOff x="4802418" y="3341195"/>
            <a:chExt cx="4140414" cy="965161"/>
          </a:xfrm>
        </p:grpSpPr>
        <p:sp>
          <p:nvSpPr>
            <p:cNvPr id="147" name="Shape 94">
              <a:extLst>
                <a:ext uri="{FF2B5EF4-FFF2-40B4-BE49-F238E27FC236}">
                  <a16:creationId xmlns:a16="http://schemas.microsoft.com/office/drawing/2014/main" id="{11532694-F70A-2A71-F472-DC3B43650974}"/>
                </a:ext>
              </a:extLst>
            </p:cNvPr>
            <p:cNvSpPr/>
            <p:nvPr/>
          </p:nvSpPr>
          <p:spPr>
            <a:xfrm>
              <a:off x="4802418" y="3341195"/>
              <a:ext cx="4140414" cy="965161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Shape 95">
              <a:extLst>
                <a:ext uri="{FF2B5EF4-FFF2-40B4-BE49-F238E27FC236}">
                  <a16:creationId xmlns:a16="http://schemas.microsoft.com/office/drawing/2014/main" id="{5E257878-4C04-D3C4-ECC3-6D81F291E3E6}"/>
                </a:ext>
              </a:extLst>
            </p:cNvPr>
            <p:cNvSpPr/>
            <p:nvPr/>
          </p:nvSpPr>
          <p:spPr>
            <a:xfrm>
              <a:off x="4809744" y="3355848"/>
              <a:ext cx="4133088" cy="256032"/>
            </a:xfrm>
            <a:prstGeom prst="rect">
              <a:avLst/>
            </a:prstGeom>
            <a:solidFill>
              <a:srgbClr val="1565C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Text 98">
              <a:extLst>
                <a:ext uri="{FF2B5EF4-FFF2-40B4-BE49-F238E27FC236}">
                  <a16:creationId xmlns:a16="http://schemas.microsoft.com/office/drawing/2014/main" id="{23965543-01A0-C220-DCE1-2D99DCA93ED7}"/>
                </a:ext>
              </a:extLst>
            </p:cNvPr>
            <p:cNvSpPr/>
            <p:nvPr/>
          </p:nvSpPr>
          <p:spPr>
            <a:xfrm>
              <a:off x="4902803" y="3392424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10.   Controlled Drying Phase</a:t>
              </a:r>
              <a:endParaRPr lang="en-US" sz="950" dirty="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52" name="Text 101">
              <a:extLst>
                <a:ext uri="{FF2B5EF4-FFF2-40B4-BE49-F238E27FC236}">
                  <a16:creationId xmlns:a16="http://schemas.microsoft.com/office/drawing/2014/main" id="{DBC2C3F4-D85F-FF4D-1F95-B8842B7E6DAE}"/>
                </a:ext>
              </a:extLst>
            </p:cNvPr>
            <p:cNvSpPr/>
            <p:nvPr/>
          </p:nvSpPr>
          <p:spPr>
            <a:xfrm>
              <a:off x="4886530" y="3626182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Controlled airflow (not just a fan)</a:t>
              </a:r>
              <a:endParaRPr lang="en-US" sz="850" dirty="0"/>
            </a:p>
          </p:txBody>
        </p:sp>
        <p:sp>
          <p:nvSpPr>
            <p:cNvPr id="153" name="Text 102">
              <a:extLst>
                <a:ext uri="{FF2B5EF4-FFF2-40B4-BE49-F238E27FC236}">
                  <a16:creationId xmlns:a16="http://schemas.microsoft.com/office/drawing/2014/main" id="{12D4E2D4-F92B-C270-EF9D-B88AD4B621D3}"/>
                </a:ext>
              </a:extLst>
            </p:cNvPr>
            <p:cNvSpPr/>
            <p:nvPr/>
          </p:nvSpPr>
          <p:spPr>
            <a:xfrm>
              <a:off x="4886530" y="379534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Optional temperature monitoring</a:t>
              </a:r>
              <a:endParaRPr lang="en-US" sz="850" dirty="0"/>
            </a:p>
          </p:txBody>
        </p:sp>
        <p:sp>
          <p:nvSpPr>
            <p:cNvPr id="154" name="Text 103">
              <a:extLst>
                <a:ext uri="{FF2B5EF4-FFF2-40B4-BE49-F238E27FC236}">
                  <a16:creationId xmlns:a16="http://schemas.microsoft.com/office/drawing/2014/main" id="{0C38E99D-6BC5-5E3B-5619-6D96B2693670}"/>
                </a:ext>
              </a:extLst>
            </p:cNvPr>
            <p:cNvSpPr/>
            <p:nvPr/>
          </p:nvSpPr>
          <p:spPr>
            <a:xfrm>
              <a:off x="4886530" y="3964510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Slow air circulation for uniform moisture removal</a:t>
              </a:r>
              <a:endParaRPr lang="en-US" sz="850" dirty="0"/>
            </a:p>
          </p:txBody>
        </p:sp>
        <p:sp>
          <p:nvSpPr>
            <p:cNvPr id="155" name="Text 104">
              <a:extLst>
                <a:ext uri="{FF2B5EF4-FFF2-40B4-BE49-F238E27FC236}">
                  <a16:creationId xmlns:a16="http://schemas.microsoft.com/office/drawing/2014/main" id="{E1A2B9A4-BF8B-374A-1A61-C801E09F64AB}"/>
                </a:ext>
              </a:extLst>
            </p:cNvPr>
            <p:cNvSpPr/>
            <p:nvPr/>
          </p:nvSpPr>
          <p:spPr>
            <a:xfrm>
              <a:off x="4886530" y="4133674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1565C0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Result: stable object, minimized crack risk</a:t>
              </a:r>
              <a:endParaRPr lang="en-US" sz="850" dirty="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F20FA1C6-9A22-44E6-A8A3-B4B49B9A18A1}"/>
              </a:ext>
            </a:extLst>
          </p:cNvPr>
          <p:cNvGrpSpPr/>
          <p:nvPr/>
        </p:nvGrpSpPr>
        <p:grpSpPr>
          <a:xfrm>
            <a:off x="6397244" y="2893632"/>
            <a:ext cx="2497963" cy="1078992"/>
            <a:chOff x="4809744" y="4695444"/>
            <a:chExt cx="4133088" cy="1078992"/>
          </a:xfrm>
        </p:grpSpPr>
        <p:sp>
          <p:nvSpPr>
            <p:cNvPr id="164" name="Shape 106">
              <a:extLst>
                <a:ext uri="{FF2B5EF4-FFF2-40B4-BE49-F238E27FC236}">
                  <a16:creationId xmlns:a16="http://schemas.microsoft.com/office/drawing/2014/main" id="{57FF57D0-F966-0374-B75A-FE740CF265D6}"/>
                </a:ext>
              </a:extLst>
            </p:cNvPr>
            <p:cNvSpPr/>
            <p:nvPr/>
          </p:nvSpPr>
          <p:spPr>
            <a:xfrm>
              <a:off x="4809744" y="4695444"/>
              <a:ext cx="4133088" cy="1078992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49BA099F-3ED6-D9F8-3805-907CDC9C672E}"/>
                </a:ext>
              </a:extLst>
            </p:cNvPr>
            <p:cNvGrpSpPr/>
            <p:nvPr/>
          </p:nvGrpSpPr>
          <p:grpSpPr>
            <a:xfrm>
              <a:off x="4809744" y="4695444"/>
              <a:ext cx="4133088" cy="964692"/>
              <a:chOff x="4809744" y="4695444"/>
              <a:chExt cx="4133088" cy="964692"/>
            </a:xfrm>
          </p:grpSpPr>
          <p:sp>
            <p:nvSpPr>
              <p:cNvPr id="166" name="Shape 107">
                <a:extLst>
                  <a:ext uri="{FF2B5EF4-FFF2-40B4-BE49-F238E27FC236}">
                    <a16:creationId xmlns:a16="http://schemas.microsoft.com/office/drawing/2014/main" id="{19E43532-D41D-85D4-4C0C-1B295DC94F4C}"/>
                  </a:ext>
                </a:extLst>
              </p:cNvPr>
              <p:cNvSpPr/>
              <p:nvPr/>
            </p:nvSpPr>
            <p:spPr>
              <a:xfrm>
                <a:off x="4809744" y="4695444"/>
                <a:ext cx="4133088" cy="256032"/>
              </a:xfrm>
              <a:prstGeom prst="rect">
                <a:avLst/>
              </a:prstGeom>
              <a:solidFill>
                <a:srgbClr val="5D4037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Text 110">
                <a:extLst>
                  <a:ext uri="{FF2B5EF4-FFF2-40B4-BE49-F238E27FC236}">
                    <a16:creationId xmlns:a16="http://schemas.microsoft.com/office/drawing/2014/main" id="{8C831868-A0B3-0E6E-D22F-0B0EE546AB61}"/>
                  </a:ext>
                </a:extLst>
              </p:cNvPr>
              <p:cNvSpPr/>
              <p:nvPr/>
            </p:nvSpPr>
            <p:spPr>
              <a:xfrm>
                <a:off x="4915662" y="4732020"/>
                <a:ext cx="3749039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950" b="1">
                    <a:solidFill>
                      <a:srgbClr val="FFFFFF"/>
                    </a:solidFill>
                  </a:rPr>
                  <a:t>11.   Post-Processing (After Firing)</a:t>
                </a:r>
                <a:endParaRPr lang="en-US" sz="950"/>
              </a:p>
            </p:txBody>
          </p:sp>
          <p:sp>
            <p:nvSpPr>
              <p:cNvPr id="168" name="Text 111">
                <a:extLst>
                  <a:ext uri="{FF2B5EF4-FFF2-40B4-BE49-F238E27FC236}">
                    <a16:creationId xmlns:a16="http://schemas.microsoft.com/office/drawing/2014/main" id="{64E93C9F-F58B-9598-2508-5BB41248E9DC}"/>
                  </a:ext>
                </a:extLst>
              </p:cNvPr>
              <p:cNvSpPr/>
              <p:nvPr/>
            </p:nvSpPr>
            <p:spPr>
              <a:xfrm>
                <a:off x="4901184" y="4988052"/>
                <a:ext cx="395020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850" b="1" dirty="0">
                    <a:solidFill>
                      <a:srgbClr val="5D4037"/>
                    </a:solidFill>
                  </a:rPr>
                  <a:t>▸ </a:t>
                </a:r>
                <a:r>
                  <a:rPr lang="en-US" sz="850" dirty="0">
                    <a:solidFill>
                      <a:srgbClr val="263238"/>
                    </a:solidFill>
                  </a:rPr>
                  <a:t>User fires pot externally, then re-loads</a:t>
                </a:r>
                <a:endParaRPr lang="en-US" sz="850" dirty="0"/>
              </a:p>
            </p:txBody>
          </p:sp>
          <p:sp>
            <p:nvSpPr>
              <p:cNvPr id="169" name="Text 112">
                <a:extLst>
                  <a:ext uri="{FF2B5EF4-FFF2-40B4-BE49-F238E27FC236}">
                    <a16:creationId xmlns:a16="http://schemas.microsoft.com/office/drawing/2014/main" id="{78345D0A-9C37-758C-7C99-DF12491450FF}"/>
                  </a:ext>
                </a:extLst>
              </p:cNvPr>
              <p:cNvSpPr/>
              <p:nvPr/>
            </p:nvSpPr>
            <p:spPr>
              <a:xfrm>
                <a:off x="4901184" y="5157216"/>
                <a:ext cx="395020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850" b="1" dirty="0">
                    <a:solidFill>
                      <a:srgbClr val="5D4037"/>
                    </a:solidFill>
                  </a:rPr>
                  <a:t>▸ </a:t>
                </a:r>
                <a:r>
                  <a:rPr lang="en-US" sz="850" dirty="0">
                    <a:solidFill>
                      <a:srgbClr val="263238"/>
                    </a:solidFill>
                  </a:rPr>
                  <a:t>Tool switch: extruder → drawing tool</a:t>
                </a:r>
                <a:endParaRPr lang="en-US" sz="850" dirty="0"/>
              </a:p>
            </p:txBody>
          </p:sp>
          <p:sp>
            <p:nvSpPr>
              <p:cNvPr id="170" name="Text 113">
                <a:extLst>
                  <a:ext uri="{FF2B5EF4-FFF2-40B4-BE49-F238E27FC236}">
                    <a16:creationId xmlns:a16="http://schemas.microsoft.com/office/drawing/2014/main" id="{0081F8E4-22A5-1B52-5072-326A9A966943}"/>
                  </a:ext>
                </a:extLst>
              </p:cNvPr>
              <p:cNvSpPr/>
              <p:nvPr/>
            </p:nvSpPr>
            <p:spPr>
              <a:xfrm>
                <a:off x="4901184" y="5326380"/>
                <a:ext cx="395020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850" b="1" dirty="0">
                    <a:solidFill>
                      <a:srgbClr val="5D4037"/>
                    </a:solidFill>
                  </a:rPr>
                  <a:t>▸ </a:t>
                </a:r>
                <a:r>
                  <a:rPr lang="en-US" sz="850" dirty="0">
                    <a:solidFill>
                      <a:srgbClr val="263238"/>
                    </a:solidFill>
                  </a:rPr>
                  <a:t>User selects design file</a:t>
                </a:r>
                <a:endParaRPr lang="en-US" sz="850" dirty="0"/>
              </a:p>
            </p:txBody>
          </p:sp>
          <p:sp>
            <p:nvSpPr>
              <p:cNvPr id="171" name="Text 114">
                <a:extLst>
                  <a:ext uri="{FF2B5EF4-FFF2-40B4-BE49-F238E27FC236}">
                    <a16:creationId xmlns:a16="http://schemas.microsoft.com/office/drawing/2014/main" id="{1A3B50DB-363D-1319-6BE0-14280345047B}"/>
                  </a:ext>
                </a:extLst>
              </p:cNvPr>
              <p:cNvSpPr/>
              <p:nvPr/>
            </p:nvSpPr>
            <p:spPr>
              <a:xfrm>
                <a:off x="4901184" y="5495544"/>
                <a:ext cx="3950208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850" b="1" dirty="0">
                    <a:solidFill>
                      <a:srgbClr val="5D4037"/>
                    </a:solidFill>
                  </a:rPr>
                  <a:t>▸ </a:t>
                </a:r>
                <a:r>
                  <a:rPr lang="en-US" sz="850" dirty="0">
                    <a:solidFill>
                      <a:srgbClr val="263238"/>
                    </a:solidFill>
                  </a:rPr>
                  <a:t>Machine draws: patterns, text, decorative designs</a:t>
                </a:r>
                <a:endParaRPr lang="en-US" sz="850" dirty="0"/>
              </a:p>
            </p:txBody>
          </p: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74ADAED-9972-FAD4-C011-E21471934BAB}"/>
              </a:ext>
            </a:extLst>
          </p:cNvPr>
          <p:cNvGrpSpPr/>
          <p:nvPr/>
        </p:nvGrpSpPr>
        <p:grpSpPr>
          <a:xfrm>
            <a:off x="6397245" y="4021011"/>
            <a:ext cx="2513838" cy="740664"/>
            <a:chOff x="4809744" y="5870448"/>
            <a:chExt cx="4133088" cy="740664"/>
          </a:xfrm>
        </p:grpSpPr>
        <p:sp>
          <p:nvSpPr>
            <p:cNvPr id="173" name="Shape 116">
              <a:extLst>
                <a:ext uri="{FF2B5EF4-FFF2-40B4-BE49-F238E27FC236}">
                  <a16:creationId xmlns:a16="http://schemas.microsoft.com/office/drawing/2014/main" id="{3E9B246B-7A9E-A47C-C3B5-DF742E0C88D2}"/>
                </a:ext>
              </a:extLst>
            </p:cNvPr>
            <p:cNvSpPr/>
            <p:nvPr/>
          </p:nvSpPr>
          <p:spPr>
            <a:xfrm>
              <a:off x="4809744" y="5870448"/>
              <a:ext cx="4133088" cy="740664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74" name="Shape 117">
              <a:extLst>
                <a:ext uri="{FF2B5EF4-FFF2-40B4-BE49-F238E27FC236}">
                  <a16:creationId xmlns:a16="http://schemas.microsoft.com/office/drawing/2014/main" id="{4DCB35BC-6E7A-CA97-61E1-BB7888A5012E}"/>
                </a:ext>
              </a:extLst>
            </p:cNvPr>
            <p:cNvSpPr/>
            <p:nvPr/>
          </p:nvSpPr>
          <p:spPr>
            <a:xfrm>
              <a:off x="4809744" y="5870448"/>
              <a:ext cx="4133088" cy="256032"/>
            </a:xfrm>
            <a:prstGeom prst="rect">
              <a:avLst/>
            </a:prstGeom>
            <a:solidFill>
              <a:srgbClr val="2E7D32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75" name="Text 120">
              <a:extLst>
                <a:ext uri="{FF2B5EF4-FFF2-40B4-BE49-F238E27FC236}">
                  <a16:creationId xmlns:a16="http://schemas.microsoft.com/office/drawing/2014/main" id="{E9716864-A71E-0EAB-3FCD-56968D4B513E}"/>
                </a:ext>
              </a:extLst>
            </p:cNvPr>
            <p:cNvSpPr/>
            <p:nvPr/>
          </p:nvSpPr>
          <p:spPr>
            <a:xfrm>
              <a:off x="4890971" y="5907024"/>
              <a:ext cx="3749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50" b="1">
                  <a:solidFill>
                    <a:srgbClr val="FFFFFF"/>
                  </a:solidFill>
                </a:rPr>
                <a:t>12.   Final Output</a:t>
              </a:r>
              <a:endParaRPr lang="en-US" sz="950"/>
            </a:p>
          </p:txBody>
        </p:sp>
        <p:sp>
          <p:nvSpPr>
            <p:cNvPr id="176" name="Text 121">
              <a:extLst>
                <a:ext uri="{FF2B5EF4-FFF2-40B4-BE49-F238E27FC236}">
                  <a16:creationId xmlns:a16="http://schemas.microsoft.com/office/drawing/2014/main" id="{066085F6-0593-F02B-87EA-B068545F6464}"/>
                </a:ext>
              </a:extLst>
            </p:cNvPr>
            <p:cNvSpPr/>
            <p:nvPr/>
          </p:nvSpPr>
          <p:spPr>
            <a:xfrm>
              <a:off x="4901184" y="6163056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2E7D32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Fully formed ceramic object</a:t>
              </a:r>
              <a:endParaRPr lang="en-US" sz="850" dirty="0"/>
            </a:p>
          </p:txBody>
        </p:sp>
        <p:sp>
          <p:nvSpPr>
            <p:cNvPr id="177" name="Text 122">
              <a:extLst>
                <a:ext uri="{FF2B5EF4-FFF2-40B4-BE49-F238E27FC236}">
                  <a16:creationId xmlns:a16="http://schemas.microsoft.com/office/drawing/2014/main" id="{B657C101-BC9A-CBE9-D0CA-CFE60847FED6}"/>
                </a:ext>
              </a:extLst>
            </p:cNvPr>
            <p:cNvSpPr/>
            <p:nvPr/>
          </p:nvSpPr>
          <p:spPr>
            <a:xfrm>
              <a:off x="4901184" y="6288258"/>
              <a:ext cx="3950208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b="1" dirty="0">
                  <a:solidFill>
                    <a:srgbClr val="2E7D32"/>
                  </a:solidFill>
                </a:rPr>
                <a:t>▸ </a:t>
              </a:r>
              <a:r>
                <a:rPr lang="en-US" sz="850" dirty="0">
                  <a:solidFill>
                    <a:srgbClr val="263238"/>
                  </a:solidFill>
                </a:rPr>
                <a:t>Decorated surface with patterns/text</a:t>
              </a:r>
              <a:endParaRPr lang="en-US" sz="850" dirty="0"/>
            </a:p>
          </p:txBody>
        </p:sp>
      </p:grpSp>
      <p:sp>
        <p:nvSpPr>
          <p:cNvPr id="4" name="Text 122">
            <a:extLst>
              <a:ext uri="{FF2B5EF4-FFF2-40B4-BE49-F238E27FC236}">
                <a16:creationId xmlns:a16="http://schemas.microsoft.com/office/drawing/2014/main" id="{3DDF29E5-E01E-F792-ADD7-84CAAFCA4C2A}"/>
              </a:ext>
            </a:extLst>
          </p:cNvPr>
          <p:cNvSpPr/>
          <p:nvPr/>
        </p:nvSpPr>
        <p:spPr>
          <a:xfrm>
            <a:off x="6451396" y="4598548"/>
            <a:ext cx="24026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50" b="1" dirty="0">
                <a:solidFill>
                  <a:srgbClr val="2E7D32"/>
                </a:solidFill>
              </a:rPr>
              <a:t>▸ </a:t>
            </a:r>
            <a:r>
              <a:rPr lang="en-US" sz="850">
                <a:solidFill>
                  <a:schemeClr val="tx1">
                    <a:lumMod val="76000"/>
                    <a:lumOff val="24000"/>
                  </a:schemeClr>
                </a:solidFill>
              </a:rPr>
              <a:t>Fully formed bust / sculpture</a:t>
            </a:r>
            <a:endParaRPr lang="en-US" sz="85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793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6">
            <a:extLst>
              <a:ext uri="{FF2B5EF4-FFF2-40B4-BE49-F238E27FC236}">
                <a16:creationId xmlns:a16="http://schemas.microsoft.com/office/drawing/2014/main" id="{D0EBB0AF-BC4D-3413-1BB0-FF0C8CE42943}"/>
              </a:ext>
            </a:extLst>
          </p:cNvPr>
          <p:cNvSpPr/>
          <p:nvPr/>
        </p:nvSpPr>
        <p:spPr>
          <a:xfrm>
            <a:off x="3166128" y="820489"/>
            <a:ext cx="2506513" cy="587445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2" name="Shape 6">
            <a:extLst>
              <a:ext uri="{FF2B5EF4-FFF2-40B4-BE49-F238E27FC236}">
                <a16:creationId xmlns:a16="http://schemas.microsoft.com/office/drawing/2014/main" id="{7580E1DE-9213-8B31-58DD-E358F1B3A219}"/>
              </a:ext>
            </a:extLst>
          </p:cNvPr>
          <p:cNvSpPr/>
          <p:nvPr/>
        </p:nvSpPr>
        <p:spPr>
          <a:xfrm>
            <a:off x="6176027" y="819023"/>
            <a:ext cx="2506513" cy="587445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6">
            <a:extLst>
              <a:ext uri="{FF2B5EF4-FFF2-40B4-BE49-F238E27FC236}">
                <a16:creationId xmlns:a16="http://schemas.microsoft.com/office/drawing/2014/main" id="{5FFC402B-76C4-5FEF-1599-7716269C1F9A}"/>
              </a:ext>
            </a:extLst>
          </p:cNvPr>
          <p:cNvSpPr/>
          <p:nvPr/>
        </p:nvSpPr>
        <p:spPr>
          <a:xfrm>
            <a:off x="228031" y="820489"/>
            <a:ext cx="2506513" cy="587445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35DD2D0C-9278-50A6-7AAE-9213E38B65D6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E3BA7F97-4AAC-93AA-592D-7F2500525423}"/>
              </a:ext>
            </a:extLst>
          </p:cNvPr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66E4A12-F302-6887-2B09-5E7EEDB2D9D2}"/>
              </a:ext>
            </a:extLst>
          </p:cNvPr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0EEF8"/>
                </a:solidFill>
                <a:ea typeface="Calibri"/>
                <a:cs typeface="Calibri"/>
              </a:rPr>
              <a:t>Power System (Switch Mode </a:t>
            </a:r>
            <a:r>
              <a:rPr lang="en-US" sz="2200" b="1">
                <a:solidFill>
                  <a:srgbClr val="F0EEF8"/>
                </a:solidFill>
                <a:ea typeface="Calibri"/>
                <a:cs typeface="Calibri"/>
              </a:rPr>
              <a:t>Power Supply)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91412CD-2337-FA25-501C-A6B70E97E0FD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E7D9760-7185-649E-A298-CA839B94D98D}"/>
              </a:ext>
            </a:extLst>
          </p:cNvPr>
          <p:cNvSpPr/>
          <p:nvPr/>
        </p:nvSpPr>
        <p:spPr>
          <a:xfrm>
            <a:off x="108438" y="4844855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0EEF8"/>
                </a:solidFill>
              </a:rPr>
              <a:t>Microcontroller-Based 3D Potter Printer  | Power System</a:t>
            </a:r>
            <a:endParaRPr lang="en-US" sz="9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A3F8B7F-A49A-91BC-2270-AA8A242789DF}"/>
              </a:ext>
            </a:extLst>
          </p:cNvPr>
          <p:cNvSpPr/>
          <p:nvPr/>
        </p:nvSpPr>
        <p:spPr>
          <a:xfrm>
            <a:off x="292608" y="104241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3238"/>
                </a:solidFill>
              </a:rPr>
              <a:t>AC → SMPS → Powers system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3238"/>
                </a:solidFill>
              </a:rPr>
              <a:t>Battery charges simultaneously</a:t>
            </a:r>
            <a:endParaRPr lang="en-US" sz="8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9B81609-9A47-E0B8-5FC9-B3F37F91B15C}"/>
              </a:ext>
            </a:extLst>
          </p:cNvPr>
          <p:cNvSpPr/>
          <p:nvPr/>
        </p:nvSpPr>
        <p:spPr>
          <a:xfrm>
            <a:off x="3273552" y="104241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3238"/>
                </a:solidFill>
              </a:rPr>
              <a:t>SMPS stops → Battery instantly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3238"/>
                </a:solidFill>
              </a:rPr>
              <a:t>supplies power. No interruption.</a:t>
            </a:r>
            <a:endParaRPr lang="en-US" sz="85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B617778E-C758-0A03-0962-2E017C79C694}"/>
              </a:ext>
            </a:extLst>
          </p:cNvPr>
          <p:cNvSpPr/>
          <p:nvPr/>
        </p:nvSpPr>
        <p:spPr>
          <a:xfrm>
            <a:off x="6254496" y="1042416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3238"/>
                </a:solidFill>
              </a:rPr>
              <a:t>Switches back to SMPS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63238"/>
                </a:solidFill>
              </a:rPr>
              <a:t>Battery resumes charging</a:t>
            </a:r>
            <a:endParaRPr lang="en-US" sz="85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DF58B4B-437E-26F5-D558-36262DAA33D1}"/>
              </a:ext>
            </a:extLst>
          </p:cNvPr>
          <p:cNvSpPr/>
          <p:nvPr/>
        </p:nvSpPr>
        <p:spPr>
          <a:xfrm>
            <a:off x="227996" y="817383"/>
            <a:ext cx="2504514" cy="21851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ea typeface="Calibri"/>
              <a:cs typeface="Calibri"/>
            </a:endParaRPr>
          </a:p>
        </p:txBody>
      </p:sp>
      <p:sp>
        <p:nvSpPr>
          <p:cNvPr id="49" name="Text 59">
            <a:extLst>
              <a:ext uri="{FF2B5EF4-FFF2-40B4-BE49-F238E27FC236}">
                <a16:creationId xmlns:a16="http://schemas.microsoft.com/office/drawing/2014/main" id="{05AC1437-306C-2481-6671-064275DB7890}"/>
              </a:ext>
            </a:extLst>
          </p:cNvPr>
          <p:cNvSpPr/>
          <p:nvPr/>
        </p:nvSpPr>
        <p:spPr>
          <a:xfrm>
            <a:off x="6205376" y="156520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</a:rPr>
              <a:t>Main Power Supply</a:t>
            </a:r>
            <a:endParaRPr lang="en-US" sz="950" dirty="0"/>
          </a:p>
        </p:txBody>
      </p:sp>
      <p:sp>
        <p:nvSpPr>
          <p:cNvPr id="50" name="Text 60">
            <a:extLst>
              <a:ext uri="{FF2B5EF4-FFF2-40B4-BE49-F238E27FC236}">
                <a16:creationId xmlns:a16="http://schemas.microsoft.com/office/drawing/2014/main" id="{FF9D6E34-EF20-7DB4-CF3B-33719875CC29}"/>
              </a:ext>
            </a:extLst>
          </p:cNvPr>
          <p:cNvSpPr/>
          <p:nvPr/>
        </p:nvSpPr>
        <p:spPr>
          <a:xfrm>
            <a:off x="6205376" y="1757231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24V, 10A SMPS (≈240W)</a:t>
            </a:r>
            <a:endParaRPr lang="en-US" sz="850" dirty="0"/>
          </a:p>
        </p:txBody>
      </p:sp>
      <p:sp>
        <p:nvSpPr>
          <p:cNvPr id="51" name="Text 61">
            <a:extLst>
              <a:ext uri="{FF2B5EF4-FFF2-40B4-BE49-F238E27FC236}">
                <a16:creationId xmlns:a16="http://schemas.microsoft.com/office/drawing/2014/main" id="{EF1F0A5E-0FB7-6344-354D-A0BB4877C010}"/>
              </a:ext>
            </a:extLst>
          </p:cNvPr>
          <p:cNvSpPr/>
          <p:nvPr/>
        </p:nvSpPr>
        <p:spPr>
          <a:xfrm>
            <a:off x="6205376" y="1903535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D1B3E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Sufficient for all motors &amp; electronics</a:t>
            </a:r>
            <a:endParaRPr lang="en-US" sz="850" dirty="0"/>
          </a:p>
        </p:txBody>
      </p:sp>
      <p:sp>
        <p:nvSpPr>
          <p:cNvPr id="52" name="Text 64">
            <a:extLst>
              <a:ext uri="{FF2B5EF4-FFF2-40B4-BE49-F238E27FC236}">
                <a16:creationId xmlns:a16="http://schemas.microsoft.com/office/drawing/2014/main" id="{BC99E730-8914-9881-544B-66CDE4CCA050}"/>
              </a:ext>
            </a:extLst>
          </p:cNvPr>
          <p:cNvSpPr/>
          <p:nvPr/>
        </p:nvSpPr>
        <p:spPr>
          <a:xfrm>
            <a:off x="6205376" y="215956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37474F"/>
                </a:solidFill>
              </a:rPr>
              <a:t>Battery Pack</a:t>
            </a:r>
            <a:endParaRPr lang="en-US" sz="950" dirty="0"/>
          </a:p>
        </p:txBody>
      </p:sp>
      <p:sp>
        <p:nvSpPr>
          <p:cNvPr id="53" name="Text 65">
            <a:extLst>
              <a:ext uri="{FF2B5EF4-FFF2-40B4-BE49-F238E27FC236}">
                <a16:creationId xmlns:a16="http://schemas.microsoft.com/office/drawing/2014/main" id="{63618D93-AB2E-CCB4-EFAD-D89C2D82A695}"/>
              </a:ext>
            </a:extLst>
          </p:cNvPr>
          <p:cNvSpPr/>
          <p:nvPr/>
        </p:nvSpPr>
        <p:spPr>
          <a:xfrm>
            <a:off x="6205376" y="2351591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37474F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24V Lithium-ion </a:t>
            </a:r>
            <a:endParaRPr lang="en-US" sz="850"/>
          </a:p>
        </p:txBody>
      </p:sp>
      <p:sp>
        <p:nvSpPr>
          <p:cNvPr id="54" name="Text 66">
            <a:extLst>
              <a:ext uri="{FF2B5EF4-FFF2-40B4-BE49-F238E27FC236}">
                <a16:creationId xmlns:a16="http://schemas.microsoft.com/office/drawing/2014/main" id="{F7106E69-1742-8376-EEEF-A8E6D9F58D31}"/>
              </a:ext>
            </a:extLst>
          </p:cNvPr>
          <p:cNvSpPr/>
          <p:nvPr/>
        </p:nvSpPr>
        <p:spPr>
          <a:xfrm>
            <a:off x="6205376" y="2497895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37474F"/>
                </a:solidFill>
              </a:rPr>
              <a:t>▸ </a:t>
            </a:r>
            <a:r>
              <a:rPr lang="en-US" sz="850">
                <a:solidFill>
                  <a:srgbClr val="263238"/>
                </a:solidFill>
              </a:rPr>
              <a:t>10Ah minimum | 20Ah maximum</a:t>
            </a:r>
            <a:endParaRPr lang="en-US" sz="850"/>
          </a:p>
        </p:txBody>
      </p:sp>
      <p:sp>
        <p:nvSpPr>
          <p:cNvPr id="55" name="Text 69">
            <a:extLst>
              <a:ext uri="{FF2B5EF4-FFF2-40B4-BE49-F238E27FC236}">
                <a16:creationId xmlns:a16="http://schemas.microsoft.com/office/drawing/2014/main" id="{A28F684F-2BC9-78E3-5304-DC58DD44EBC9}"/>
              </a:ext>
            </a:extLst>
          </p:cNvPr>
          <p:cNvSpPr/>
          <p:nvPr/>
        </p:nvSpPr>
        <p:spPr>
          <a:xfrm>
            <a:off x="6205376" y="275392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AD1457"/>
                </a:solidFill>
              </a:rPr>
              <a:t>Battery Charger Module</a:t>
            </a:r>
            <a:endParaRPr lang="en-US" sz="950" dirty="0"/>
          </a:p>
        </p:txBody>
      </p:sp>
      <p:sp>
        <p:nvSpPr>
          <p:cNvPr id="56" name="Text 70">
            <a:extLst>
              <a:ext uri="{FF2B5EF4-FFF2-40B4-BE49-F238E27FC236}">
                <a16:creationId xmlns:a16="http://schemas.microsoft.com/office/drawing/2014/main" id="{3C8A4D60-8E27-3CA7-A630-4BB9A1897C57}"/>
              </a:ext>
            </a:extLst>
          </p:cNvPr>
          <p:cNvSpPr/>
          <p:nvPr/>
        </p:nvSpPr>
        <p:spPr>
          <a:xfrm>
            <a:off x="6205376" y="2945951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AD1457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Charges when AC power is available</a:t>
            </a:r>
            <a:endParaRPr lang="en-US" sz="850" dirty="0"/>
          </a:p>
        </p:txBody>
      </p:sp>
      <p:sp>
        <p:nvSpPr>
          <p:cNvPr id="57" name="Text 71">
            <a:extLst>
              <a:ext uri="{FF2B5EF4-FFF2-40B4-BE49-F238E27FC236}">
                <a16:creationId xmlns:a16="http://schemas.microsoft.com/office/drawing/2014/main" id="{A383FADF-A507-F410-C5E3-43DD8D42538D}"/>
              </a:ext>
            </a:extLst>
          </p:cNvPr>
          <p:cNvSpPr/>
          <p:nvPr/>
        </p:nvSpPr>
        <p:spPr>
          <a:xfrm>
            <a:off x="6205376" y="3092255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AD1457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Keeps battery at full capacity</a:t>
            </a:r>
            <a:endParaRPr lang="en-US" sz="850" dirty="0"/>
          </a:p>
        </p:txBody>
      </p:sp>
      <p:sp>
        <p:nvSpPr>
          <p:cNvPr id="58" name="Text 74">
            <a:extLst>
              <a:ext uri="{FF2B5EF4-FFF2-40B4-BE49-F238E27FC236}">
                <a16:creationId xmlns:a16="http://schemas.microsoft.com/office/drawing/2014/main" id="{A4FED44E-DA57-6734-BB67-81B0E16B2141}"/>
              </a:ext>
            </a:extLst>
          </p:cNvPr>
          <p:cNvSpPr/>
          <p:nvPr/>
        </p:nvSpPr>
        <p:spPr>
          <a:xfrm>
            <a:off x="6205376" y="3348287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Auto Switching Circuit</a:t>
            </a:r>
            <a:endParaRPr lang="en-US" sz="950" dirty="0"/>
          </a:p>
        </p:txBody>
      </p:sp>
      <p:sp>
        <p:nvSpPr>
          <p:cNvPr id="60" name="Text 76">
            <a:extLst>
              <a:ext uri="{FF2B5EF4-FFF2-40B4-BE49-F238E27FC236}">
                <a16:creationId xmlns:a16="http://schemas.microsoft.com/office/drawing/2014/main" id="{791E7CF6-3FFE-16CB-8B40-A5B374D47906}"/>
              </a:ext>
            </a:extLst>
          </p:cNvPr>
          <p:cNvSpPr/>
          <p:nvPr/>
        </p:nvSpPr>
        <p:spPr>
          <a:xfrm>
            <a:off x="6205376" y="3532750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1565C0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Option B: Relay / Transfer Module (better)</a:t>
            </a:r>
            <a:endParaRPr lang="en-US" sz="850" dirty="0"/>
          </a:p>
        </p:txBody>
      </p:sp>
      <p:sp>
        <p:nvSpPr>
          <p:cNvPr id="61" name="Text 79">
            <a:extLst>
              <a:ext uri="{FF2B5EF4-FFF2-40B4-BE49-F238E27FC236}">
                <a16:creationId xmlns:a16="http://schemas.microsoft.com/office/drawing/2014/main" id="{FA896530-B810-9588-38FB-CCAD669C35C6}"/>
              </a:ext>
            </a:extLst>
          </p:cNvPr>
          <p:cNvSpPr/>
          <p:nvPr/>
        </p:nvSpPr>
        <p:spPr>
          <a:xfrm>
            <a:off x="6220030" y="37741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00695C"/>
                </a:solidFill>
              </a:rPr>
              <a:t>DC-DC Converter</a:t>
            </a:r>
            <a:endParaRPr lang="en-US" sz="950" dirty="0"/>
          </a:p>
        </p:txBody>
      </p:sp>
      <p:sp>
        <p:nvSpPr>
          <p:cNvPr id="62" name="Text 80">
            <a:extLst>
              <a:ext uri="{FF2B5EF4-FFF2-40B4-BE49-F238E27FC236}">
                <a16:creationId xmlns:a16="http://schemas.microsoft.com/office/drawing/2014/main" id="{7AB3809D-DE83-88FF-30C0-772AFCB37D15}"/>
              </a:ext>
            </a:extLst>
          </p:cNvPr>
          <p:cNvSpPr/>
          <p:nvPr/>
        </p:nvSpPr>
        <p:spPr>
          <a:xfrm>
            <a:off x="6220030" y="3966152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Steps 24V → 5V for MCU &amp; sensors</a:t>
            </a:r>
            <a:endParaRPr lang="en-US" sz="850" dirty="0"/>
          </a:p>
        </p:txBody>
      </p:sp>
      <p:sp>
        <p:nvSpPr>
          <p:cNvPr id="63" name="Text 81">
            <a:extLst>
              <a:ext uri="{FF2B5EF4-FFF2-40B4-BE49-F238E27FC236}">
                <a16:creationId xmlns:a16="http://schemas.microsoft.com/office/drawing/2014/main" id="{A87779CF-5052-548C-A84F-542B0698486A}"/>
              </a:ext>
            </a:extLst>
          </p:cNvPr>
          <p:cNvSpPr/>
          <p:nvPr/>
        </p:nvSpPr>
        <p:spPr>
          <a:xfrm>
            <a:off x="6220030" y="4112456"/>
            <a:ext cx="3931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 dirty="0">
                <a:solidFill>
                  <a:srgbClr val="00695C"/>
                </a:solidFill>
              </a:rPr>
              <a:t>▸ </a:t>
            </a:r>
            <a:r>
              <a:rPr lang="en-US" sz="850" dirty="0">
                <a:solidFill>
                  <a:srgbClr val="263238"/>
                </a:solidFill>
              </a:rPr>
              <a:t>Regulated, stable low-voltage supply</a:t>
            </a:r>
            <a:endParaRPr lang="en-US" sz="8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66F3BC29-E1ED-B013-8A95-71757854A7D7}"/>
              </a:ext>
            </a:extLst>
          </p:cNvPr>
          <p:cNvSpPr/>
          <p:nvPr/>
        </p:nvSpPr>
        <p:spPr>
          <a:xfrm>
            <a:off x="274320" y="83761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✅  Normal (AC ON)</a:t>
            </a:r>
            <a:endParaRPr lang="en-US" sz="95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1A1C0FC-8C23-1493-7347-35D85D9F584D}"/>
              </a:ext>
            </a:extLst>
          </p:cNvPr>
          <p:cNvSpPr/>
          <p:nvPr/>
        </p:nvSpPr>
        <p:spPr>
          <a:xfrm>
            <a:off x="6177457" y="817383"/>
            <a:ext cx="2504514" cy="21851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ea typeface="Calibri"/>
              <a:cs typeface="Calibri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6015551-5558-1278-1F6F-E9981F5A4D31}"/>
              </a:ext>
            </a:extLst>
          </p:cNvPr>
          <p:cNvSpPr/>
          <p:nvPr/>
        </p:nvSpPr>
        <p:spPr>
          <a:xfrm>
            <a:off x="3166091" y="817382"/>
            <a:ext cx="2504514" cy="21851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dirty="0"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E2A5AAA-5E8D-E9EB-3BFF-10768F621145}"/>
              </a:ext>
            </a:extLst>
          </p:cNvPr>
          <p:cNvSpPr/>
          <p:nvPr/>
        </p:nvSpPr>
        <p:spPr>
          <a:xfrm>
            <a:off x="3255264" y="822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⚠️  Power Failure</a:t>
            </a:r>
            <a:endParaRPr lang="en-US" sz="95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68EC2203-9DE0-33A1-4C2C-2085CC2F7815}"/>
              </a:ext>
            </a:extLst>
          </p:cNvPr>
          <p:cNvSpPr/>
          <p:nvPr/>
        </p:nvSpPr>
        <p:spPr>
          <a:xfrm>
            <a:off x="6265515" y="83761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🔋  AC Restored</a:t>
            </a:r>
            <a:endParaRPr lang="en-US" sz="95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4E615BC4-1980-1DFB-5C18-3909DA262F19}"/>
              </a:ext>
            </a:extLst>
          </p:cNvPr>
          <p:cNvGrpSpPr/>
          <p:nvPr/>
        </p:nvGrpSpPr>
        <p:grpSpPr>
          <a:xfrm>
            <a:off x="2732372" y="4221891"/>
            <a:ext cx="4038173" cy="569616"/>
            <a:chOff x="2190180" y="4221891"/>
            <a:chExt cx="4038173" cy="569616"/>
          </a:xfrm>
        </p:grpSpPr>
        <p:sp>
          <p:nvSpPr>
            <p:cNvPr id="77" name="Shape 6">
              <a:extLst>
                <a:ext uri="{FF2B5EF4-FFF2-40B4-BE49-F238E27FC236}">
                  <a16:creationId xmlns:a16="http://schemas.microsoft.com/office/drawing/2014/main" id="{1344048F-3C40-5DA9-BEC2-8E5016BEBAC5}"/>
                </a:ext>
              </a:extLst>
            </p:cNvPr>
            <p:cNvSpPr/>
            <p:nvPr/>
          </p:nvSpPr>
          <p:spPr>
            <a:xfrm>
              <a:off x="2190180" y="4226042"/>
              <a:ext cx="3327129" cy="565465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63500" dist="254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63B304C-D890-526B-23C0-2F3B7255C4FF}"/>
                </a:ext>
              </a:extLst>
            </p:cNvPr>
            <p:cNvSpPr/>
            <p:nvPr/>
          </p:nvSpPr>
          <p:spPr>
            <a:xfrm>
              <a:off x="2191610" y="4224402"/>
              <a:ext cx="3325130" cy="22584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dirty="0">
                <a:ea typeface="Calibri"/>
                <a:cs typeface="Calibri"/>
              </a:endParaRPr>
            </a:p>
          </p:txBody>
        </p:sp>
        <p:sp>
          <p:nvSpPr>
            <p:cNvPr id="64" name="Text 84">
              <a:extLst>
                <a:ext uri="{FF2B5EF4-FFF2-40B4-BE49-F238E27FC236}">
                  <a16:creationId xmlns:a16="http://schemas.microsoft.com/office/drawing/2014/main" id="{DEA33503-AEEE-0A7A-77B4-2D213D7CE487}"/>
                </a:ext>
              </a:extLst>
            </p:cNvPr>
            <p:cNvSpPr/>
            <p:nvPr/>
          </p:nvSpPr>
          <p:spPr>
            <a:xfrm>
              <a:off x="2219589" y="4221891"/>
              <a:ext cx="398678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50" b="1" dirty="0">
                  <a:solidFill>
                    <a:srgbClr val="FFFFFF"/>
                  </a:solidFill>
                </a:rPr>
                <a:t>🔋  Backup Runtime Estimate</a:t>
              </a:r>
              <a:endParaRPr lang="en-US" sz="950" dirty="0"/>
            </a:p>
          </p:txBody>
        </p:sp>
        <p:sp>
          <p:nvSpPr>
            <p:cNvPr id="65" name="Text 85">
              <a:extLst>
                <a:ext uri="{FF2B5EF4-FFF2-40B4-BE49-F238E27FC236}">
                  <a16:creationId xmlns:a16="http://schemas.microsoft.com/office/drawing/2014/main" id="{8E5B3C68-E348-242F-7638-4732689AE6BB}"/>
                </a:ext>
              </a:extLst>
            </p:cNvPr>
            <p:cNvSpPr/>
            <p:nvPr/>
          </p:nvSpPr>
          <p:spPr>
            <a:xfrm>
              <a:off x="2241569" y="4443164"/>
              <a:ext cx="39867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900" b="1" dirty="0">
                  <a:solidFill>
                    <a:srgbClr val="0D1B3E"/>
                  </a:solidFill>
                </a:rPr>
                <a:t>Energy = 24V × 10Ah = 240Wh   |   Runtime ≈ 240 ÷ 150W ≈ 1.5 hours</a:t>
              </a:r>
              <a:endParaRPr lang="en-US" sz="900" dirty="0"/>
            </a:p>
          </p:txBody>
        </p:sp>
        <p:sp>
          <p:nvSpPr>
            <p:cNvPr id="66" name="Text 86">
              <a:extLst>
                <a:ext uri="{FF2B5EF4-FFF2-40B4-BE49-F238E27FC236}">
                  <a16:creationId xmlns:a16="http://schemas.microsoft.com/office/drawing/2014/main" id="{3D40F78C-1419-3AAF-2A8C-4B6A1A505717}"/>
                </a:ext>
              </a:extLst>
            </p:cNvPr>
            <p:cNvSpPr/>
            <p:nvPr/>
          </p:nvSpPr>
          <p:spPr>
            <a:xfrm>
              <a:off x="2241569" y="4616900"/>
              <a:ext cx="398678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850" i="1" dirty="0">
                  <a:solidFill>
                    <a:srgbClr val="546E7A"/>
                  </a:solidFill>
                </a:rPr>
                <a:t>Sufficient for emergency save or safe shutdown of in-progress print</a:t>
              </a:r>
              <a:endParaRPr lang="en-US" sz="850" dirty="0"/>
            </a:p>
          </p:txBody>
        </p:sp>
      </p:grpSp>
      <p:sp>
        <p:nvSpPr>
          <p:cNvPr id="80" name="Rectangle 79">
            <a:extLst>
              <a:ext uri="{FF2B5EF4-FFF2-40B4-BE49-F238E27FC236}">
                <a16:creationId xmlns:a16="http://schemas.microsoft.com/office/drawing/2014/main" id="{F8B36A77-C7C6-6B15-EFC6-EED0BB42200F}"/>
              </a:ext>
            </a:extLst>
          </p:cNvPr>
          <p:cNvSpPr/>
          <p:nvPr/>
        </p:nvSpPr>
        <p:spPr>
          <a:xfrm>
            <a:off x="1054520" y="1642436"/>
            <a:ext cx="1142999" cy="3689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AC Mains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230V Input</a:t>
            </a:r>
            <a:endParaRPr lang="en-US" sz="1100" dirty="0">
              <a:ea typeface="Calibri"/>
              <a:cs typeface="Calibri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A1F622C-F8C6-F608-567F-6A3875C90697}"/>
              </a:ext>
            </a:extLst>
          </p:cNvPr>
          <p:cNvSpPr/>
          <p:nvPr/>
        </p:nvSpPr>
        <p:spPr>
          <a:xfrm>
            <a:off x="1054520" y="2272551"/>
            <a:ext cx="1142999" cy="368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SMPS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230V -&gt; 24V DC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ABBA1EC5-E027-3603-696E-E8FB414BDEFC}"/>
              </a:ext>
            </a:extLst>
          </p:cNvPr>
          <p:cNvSpPr/>
          <p:nvPr/>
        </p:nvSpPr>
        <p:spPr>
          <a:xfrm>
            <a:off x="1054519" y="2939300"/>
            <a:ext cx="1142999" cy="3689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DC Bus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24V Distribution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9723CBC-DA95-42D1-F3C6-CFD4AC5C4603}"/>
              </a:ext>
            </a:extLst>
          </p:cNvPr>
          <p:cNvSpPr/>
          <p:nvPr/>
        </p:nvSpPr>
        <p:spPr>
          <a:xfrm>
            <a:off x="3252597" y="2052743"/>
            <a:ext cx="1245575" cy="3982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00" b="1">
                <a:ea typeface="Calibri"/>
                <a:cs typeface="Calibri"/>
              </a:rPr>
              <a:t>Charger</a:t>
            </a:r>
          </a:p>
          <a:p>
            <a:pPr algn="ctr"/>
            <a:r>
              <a:rPr lang="en-US" sz="1000">
                <a:ea typeface="Calibri"/>
                <a:cs typeface="Calibri"/>
              </a:rPr>
              <a:t>Charges when AC on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7B89712-E452-43D9-2F7B-E2237507A408}"/>
              </a:ext>
            </a:extLst>
          </p:cNvPr>
          <p:cNvSpPr/>
          <p:nvPr/>
        </p:nvSpPr>
        <p:spPr>
          <a:xfrm>
            <a:off x="3252596" y="2946627"/>
            <a:ext cx="1142999" cy="36894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24V Battery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10-20Ah Pack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384E2EB-6E17-D7B3-17A1-D88F1ACCD2D1}"/>
              </a:ext>
            </a:extLst>
          </p:cNvPr>
          <p:cNvSpPr/>
          <p:nvPr/>
        </p:nvSpPr>
        <p:spPr>
          <a:xfrm>
            <a:off x="3252597" y="3752589"/>
            <a:ext cx="1142999" cy="3689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Auto Switch</a:t>
            </a:r>
          </a:p>
          <a:p>
            <a:pPr algn="ctr"/>
            <a:r>
              <a:rPr lang="en-US" sz="1100" dirty="0">
                <a:ea typeface="Calibri"/>
                <a:cs typeface="Calibri"/>
              </a:rPr>
              <a:t> Relay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FB84CC3-5BA2-8B6B-19E9-6AD485E678E8}"/>
              </a:ext>
            </a:extLst>
          </p:cNvPr>
          <p:cNvSpPr/>
          <p:nvPr/>
        </p:nvSpPr>
        <p:spPr>
          <a:xfrm>
            <a:off x="1604040" y="3752589"/>
            <a:ext cx="1326171" cy="3689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MCU &amp; Sensors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ESP32 + Modules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4686D87-8CC9-09BE-62BF-E1CDC4E7A7D3}"/>
              </a:ext>
            </a:extLst>
          </p:cNvPr>
          <p:cNvSpPr/>
          <p:nvPr/>
        </p:nvSpPr>
        <p:spPr>
          <a:xfrm>
            <a:off x="336482" y="3752589"/>
            <a:ext cx="1142999" cy="36894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ea typeface="Calibri"/>
                <a:cs typeface="Calibri"/>
              </a:rPr>
              <a:t>Motors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Mix X, Y, Z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48FAEE7-091E-551F-FF78-71B8D89EC457}"/>
              </a:ext>
            </a:extLst>
          </p:cNvPr>
          <p:cNvCxnSpPr/>
          <p:nvPr/>
        </p:nvCxnSpPr>
        <p:spPr>
          <a:xfrm>
            <a:off x="1629041" y="2029625"/>
            <a:ext cx="7937" cy="2243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605F91F-8C0F-5FB0-6D2B-646FDBF70907}"/>
              </a:ext>
            </a:extLst>
          </p:cNvPr>
          <p:cNvCxnSpPr/>
          <p:nvPr/>
        </p:nvCxnSpPr>
        <p:spPr>
          <a:xfrm>
            <a:off x="1618359" y="2670560"/>
            <a:ext cx="7937" cy="23500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09AC114C-A8A5-F6C3-0762-0D56A478A4C4}"/>
              </a:ext>
            </a:extLst>
          </p:cNvPr>
          <p:cNvCxnSpPr/>
          <p:nvPr/>
        </p:nvCxnSpPr>
        <p:spPr>
          <a:xfrm>
            <a:off x="1618359" y="3316836"/>
            <a:ext cx="7937" cy="117504"/>
          </a:xfrm>
          <a:prstGeom prst="straightConnector1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A989663-21F1-4597-4652-B312D20E8082}"/>
              </a:ext>
            </a:extLst>
          </p:cNvPr>
          <p:cNvCxnSpPr/>
          <p:nvPr/>
        </p:nvCxnSpPr>
        <p:spPr>
          <a:xfrm flipV="1">
            <a:off x="849238" y="3447003"/>
            <a:ext cx="1437515" cy="6717"/>
          </a:xfrm>
          <a:prstGeom prst="straightConnector1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ABD8ED0-F512-1892-6479-A6EB1EE450CF}"/>
              </a:ext>
            </a:extLst>
          </p:cNvPr>
          <p:cNvCxnSpPr/>
          <p:nvPr/>
        </p:nvCxnSpPr>
        <p:spPr>
          <a:xfrm>
            <a:off x="2285999" y="3455705"/>
            <a:ext cx="7937" cy="283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3910DB6C-6D43-3DA4-2FFF-72574D4B7C2F}"/>
              </a:ext>
            </a:extLst>
          </p:cNvPr>
          <p:cNvCxnSpPr>
            <a:cxnSpLocks/>
          </p:cNvCxnSpPr>
          <p:nvPr/>
        </p:nvCxnSpPr>
        <p:spPr>
          <a:xfrm>
            <a:off x="842595" y="3448378"/>
            <a:ext cx="7937" cy="2830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F21790-FC2B-2E89-E31E-D79277427769}"/>
              </a:ext>
            </a:extLst>
          </p:cNvPr>
          <p:cNvCxnSpPr/>
          <p:nvPr/>
        </p:nvCxnSpPr>
        <p:spPr>
          <a:xfrm>
            <a:off x="2200541" y="1810639"/>
            <a:ext cx="1671771" cy="7937"/>
          </a:xfrm>
          <a:prstGeom prst="straightConnector1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2667BE43-D8B5-F4A1-328D-06ACFA09A6A7}"/>
              </a:ext>
            </a:extLst>
          </p:cNvPr>
          <p:cNvCxnSpPr>
            <a:cxnSpLocks/>
          </p:cNvCxnSpPr>
          <p:nvPr/>
        </p:nvCxnSpPr>
        <p:spPr>
          <a:xfrm flipH="1">
            <a:off x="3847243" y="1821800"/>
            <a:ext cx="6717" cy="22446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2525C86-8E10-3D39-83F4-37933BE60D9C}"/>
              </a:ext>
            </a:extLst>
          </p:cNvPr>
          <p:cNvCxnSpPr>
            <a:cxnSpLocks/>
          </p:cNvCxnSpPr>
          <p:nvPr/>
        </p:nvCxnSpPr>
        <p:spPr>
          <a:xfrm flipH="1">
            <a:off x="3839915" y="2495877"/>
            <a:ext cx="6717" cy="451599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49D77F08-A911-49DB-7289-15FE015FFA6B}"/>
              </a:ext>
            </a:extLst>
          </p:cNvPr>
          <p:cNvCxnSpPr>
            <a:cxnSpLocks/>
          </p:cNvCxnSpPr>
          <p:nvPr/>
        </p:nvCxnSpPr>
        <p:spPr>
          <a:xfrm flipH="1">
            <a:off x="3825260" y="3375107"/>
            <a:ext cx="21371" cy="378330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802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290C412-8756-787B-70E9-881A948ED454}"/>
              </a:ext>
            </a:extLst>
          </p:cNvPr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F4FBA6A1-7588-3874-75B8-10D4C32C7326}"/>
              </a:ext>
            </a:extLst>
          </p:cNvPr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A7984666-5A47-72CF-F91F-DCD20AB41272}"/>
              </a:ext>
            </a:extLst>
          </p:cNvPr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0EEF8"/>
                </a:solidFill>
                <a:ea typeface="Calibri"/>
                <a:cs typeface="Calibri"/>
              </a:rPr>
              <a:t>Hand Sketch Design</a:t>
            </a:r>
            <a:endParaRPr lang="en-US" sz="22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3AD25580-60EC-BC5D-79BC-66FE6D17662A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F1BE54A6-974F-3618-8585-31F297DED32B}"/>
              </a:ext>
            </a:extLst>
          </p:cNvPr>
          <p:cNvSpPr/>
          <p:nvPr/>
        </p:nvSpPr>
        <p:spPr>
          <a:xfrm>
            <a:off x="108438" y="4844855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0EEF8"/>
                </a:solidFill>
              </a:rPr>
              <a:t>Microcontroller-Based 3D Potter Printer  | Hand Sketch Design</a:t>
            </a:r>
            <a:endParaRPr lang="en-US" sz="900" dirty="0"/>
          </a:p>
        </p:txBody>
      </p:sp>
      <p:pic>
        <p:nvPicPr>
          <p:cNvPr id="12" name="Picture 11" descr="A drawing of a laboratory&#10;&#10;AI-generated content may be incorrect.">
            <a:extLst>
              <a:ext uri="{FF2B5EF4-FFF2-40B4-BE49-F238E27FC236}">
                <a16:creationId xmlns:a16="http://schemas.microsoft.com/office/drawing/2014/main" id="{3477F7C9-AFDE-C5C3-48AA-FE6733F54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922" y="798635"/>
            <a:ext cx="6326156" cy="40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6476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/>
                <a:ea typeface="Calibri"/>
                <a:cs typeface="Calibri"/>
              </a:rPr>
              <a:t>Automated Material </a:t>
            </a:r>
            <a:r>
              <a:rPr lang="en-US" sz="2200" b="1">
                <a:solidFill>
                  <a:srgbClr val="F0EEF8"/>
                </a:solidFill>
                <a:latin typeface="Calibri"/>
                <a:ea typeface="Calibri"/>
                <a:cs typeface="Calibri"/>
              </a:rPr>
              <a:t>Preparation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85039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dirty="0">
                <a:solidFill>
                  <a:srgbClr val="C8C8C8"/>
                </a:solidFill>
              </a:rPr>
              <a:t>The module creates the printing material to the printer by an automated process — no human intervene required.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545336"/>
            <a:ext cx="457200" cy="457200"/>
          </a:xfrm>
          <a:prstGeom prst="ellipse">
            <a:avLst/>
          </a:prstGeom>
          <a:solidFill>
            <a:srgbClr val="3A8FE8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" y="1545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78408" y="1545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A8FE8"/>
                </a:solidFill>
                <a:ea typeface="Calibri"/>
                <a:cs typeface="Calibri"/>
              </a:rPr>
              <a:t>Raw Materials </a:t>
            </a:r>
            <a:r>
              <a:rPr lang="en-US" sz="1200" b="1">
                <a:solidFill>
                  <a:srgbClr val="3A8FE8"/>
                </a:solidFill>
                <a:ea typeface="Calibri"/>
                <a:cs typeface="Calibri"/>
              </a:rPr>
              <a:t>Input</a:t>
            </a:r>
            <a:endParaRPr lang="en-US" sz="1200" b="1" dirty="0">
              <a:solidFill>
                <a:srgbClr val="3A8FE8"/>
              </a:solidFill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9768" y="2130552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 dirty="0">
                <a:solidFill>
                  <a:srgbClr val="C8C8C8"/>
                </a:solidFill>
                <a:ea typeface="Calibri"/>
                <a:cs typeface="Calibri"/>
              </a:rPr>
              <a:t>User puts water and </a:t>
            </a:r>
            <a:r>
              <a:rPr lang="en-US" sz="1050">
                <a:solidFill>
                  <a:srgbClr val="C8C8C8"/>
                </a:solidFill>
                <a:ea typeface="Calibri"/>
                <a:cs typeface="Calibri"/>
              </a:rPr>
              <a:t>clay</a:t>
            </a:r>
            <a:r>
              <a:rPr lang="en-US" sz="1050" dirty="0">
                <a:solidFill>
                  <a:srgbClr val="C8C8C8"/>
                </a:solidFill>
                <a:ea typeface="Calibri"/>
                <a:cs typeface="Calibri"/>
              </a:rPr>
              <a:t> into the mixing chamber</a:t>
            </a:r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545336"/>
            <a:ext cx="457200" cy="457200"/>
          </a:xfrm>
          <a:prstGeom prst="ellipse">
            <a:avLst/>
          </a:prstGeom>
          <a:solidFill>
            <a:srgbClr val="1EBFA0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545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58768" y="1545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BFA0"/>
                </a:solidFill>
              </a:rPr>
              <a:t>Mixing Chamber </a:t>
            </a:r>
            <a:r>
              <a:rPr lang="en-US" sz="1200" b="1">
                <a:solidFill>
                  <a:srgbClr val="1EBFA0"/>
                </a:solidFill>
              </a:rPr>
              <a:t>Activation</a:t>
            </a:r>
            <a:endParaRPr lang="en-US" dirty="0" err="1"/>
          </a:p>
        </p:txBody>
      </p:sp>
      <p:sp>
        <p:nvSpPr>
          <p:cNvPr id="15" name="Text 13"/>
          <p:cNvSpPr/>
          <p:nvPr/>
        </p:nvSpPr>
        <p:spPr>
          <a:xfrm>
            <a:off x="3310128" y="2130552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C8C8C8"/>
                </a:solidFill>
              </a:rPr>
              <a:t>Mixing process begin inside a sealed chamber by a motor driven mixer</a:t>
            </a:r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80760" y="1417320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0488" y="1545336"/>
            <a:ext cx="457200" cy="457200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1545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39128" y="15453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7C6FF7"/>
                </a:solidFill>
              </a:rPr>
              <a:t>Moisture Detection</a:t>
            </a:r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90488" y="2130552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C8C8C8"/>
                </a:solidFill>
              </a:rPr>
              <a:t>Checks the water level and if the mixture dry, pump some water</a:t>
            </a:r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081528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9768" y="3209544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3" name="Text 21"/>
          <p:cNvSpPr/>
          <p:nvPr/>
        </p:nvSpPr>
        <p:spPr>
          <a:xfrm>
            <a:off x="42976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8408" y="3209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F0A030"/>
                </a:solidFill>
              </a:rPr>
              <a:t>Thickness Check</a:t>
            </a:r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9768" y="3794760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 dirty="0">
                <a:solidFill>
                  <a:srgbClr val="C8C8C8"/>
                </a:solidFill>
              </a:rPr>
              <a:t>Extruder motor pushes and measure resistant and if dry, </a:t>
            </a:r>
            <a:r>
              <a:rPr lang="en-US" sz="1050">
                <a:solidFill>
                  <a:srgbClr val="C8C8C8"/>
                </a:solidFill>
              </a:rPr>
              <a:t>add water and mix</a:t>
            </a:r>
            <a:r>
              <a:rPr lang="en-US" sz="1050" dirty="0">
                <a:solidFill>
                  <a:srgbClr val="C8C8C8"/>
                </a:solidFill>
              </a:rPr>
              <a:t> 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200400" y="3081528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0128" y="3209544"/>
            <a:ext cx="457200" cy="457200"/>
          </a:xfrm>
          <a:prstGeom prst="ellipse">
            <a:avLst/>
          </a:prstGeom>
          <a:solidFill>
            <a:srgbClr val="E8603C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858768" y="3209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E8603C"/>
                </a:solidFill>
              </a:rPr>
              <a:t>Closed Loop</a:t>
            </a:r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310128" y="3794760"/>
            <a:ext cx="2487168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chemeClr val="bg1"/>
                </a:solidFill>
              </a:rPr>
              <a:t>Mix → Measure → Adjust → Repeat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80760" y="3081528"/>
            <a:ext cx="2697480" cy="1481328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90488" y="3209544"/>
            <a:ext cx="457200" cy="457200"/>
          </a:xfrm>
          <a:prstGeom prst="ellipse">
            <a:avLst/>
          </a:prstGeom>
          <a:solidFill>
            <a:srgbClr val="E03A3A"/>
          </a:solidFill>
          <a:ln/>
        </p:spPr>
      </p:sp>
      <p:sp>
        <p:nvSpPr>
          <p:cNvPr id="33" name="Text 31"/>
          <p:cNvSpPr/>
          <p:nvPr/>
        </p:nvSpPr>
        <p:spPr>
          <a:xfrm>
            <a:off x="6190488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39128" y="320954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3A3A"/>
                </a:solidFill>
              </a:rPr>
              <a:t>Decision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90488" y="3794760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C8C8"/>
                </a:solidFill>
              </a:rPr>
              <a:t>Print OK  /  Adjust settings  /  Reject material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7" name="Text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Material Identification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System &amp; Purpose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868680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868680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FE8"/>
                </a:solidFill>
              </a:rPr>
              <a:t>Moisture Sensor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197864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Detects clay water content (25–35%). Prevents nozzle clogging &amp; auto-adjusts extrusion speed.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636776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636776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36776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🔘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16824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FE8"/>
                </a:solidFill>
              </a:rPr>
              <a:t>Limit Switches ×3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43000" y="196596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Detects home position for X, Y and Z axes. Essential for accurate homing and auto-bed leveling.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04872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404872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404872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2450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FE8"/>
                </a:solidFill>
              </a:rPr>
              <a:t>Load Cell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2734056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Measures extrusion pressure. Identifies clay that is too thick or too runny in real-time.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172968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172968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72968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43000" y="3218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FE8"/>
                </a:solidFill>
              </a:rPr>
              <a:t>Ultrasonic Sensor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" y="3502152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Monitors nozzle standoff height above the clay surface for consistent layer thickness.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941064"/>
            <a:ext cx="8503920" cy="65836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3941064"/>
            <a:ext cx="64008" cy="658368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941064"/>
            <a:ext cx="594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🌡️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43000" y="39867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A8FE8"/>
                </a:solidFill>
              </a:rPr>
              <a:t>DHT22 Sensor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4270248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Monitors environment temp &amp; humidity. Ensures optimal clay drying rate during printing.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Sensor System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8" name="Text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Hardware Components</a:t>
            </a:r>
            <a:endParaRPr lang="en-US" sz="900" dirty="0"/>
          </a:p>
        </p:txBody>
      </p: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EE4897A5-7923-04C3-29C1-304F86656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490969"/>
              </p:ext>
            </p:extLst>
          </p:nvPr>
        </p:nvGraphicFramePr>
        <p:xfrm>
          <a:off x="231238" y="707722"/>
          <a:ext cx="4176035" cy="418941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63687">
                  <a:extLst>
                    <a:ext uri="{9D8B030D-6E8A-4147-A177-3AD203B41FA5}">
                      <a16:colId xmlns:a16="http://schemas.microsoft.com/office/drawing/2014/main" val="3158240278"/>
                    </a:ext>
                  </a:extLst>
                </a:gridCol>
                <a:gridCol w="2612348">
                  <a:extLst>
                    <a:ext uri="{9D8B030D-6E8A-4147-A177-3AD203B41FA5}">
                      <a16:colId xmlns:a16="http://schemas.microsoft.com/office/drawing/2014/main" val="3092223382"/>
                    </a:ext>
                  </a:extLst>
                </a:gridCol>
              </a:tblGrid>
              <a:tr h="276240">
                <a:tc>
                  <a:txBody>
                    <a:bodyPr/>
                    <a:lstStyle/>
                    <a:p>
                      <a:r>
                        <a:rPr lang="en-US" sz="11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8354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r>
                        <a:rPr lang="en-US" sz="900"/>
                        <a:t>Power System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/>
                        <a:t>230V AC Input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854976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24V Battery Pack</a:t>
                      </a:r>
                      <a:endParaRPr lang="en-US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457264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Battery charger (24V compatible)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05907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5V DC-DC buck converter (for logic &amp; sensors)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382461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r>
                        <a:rPr lang="en-US" sz="900"/>
                        <a:t>Control &amp; Electronics</a:t>
                      </a: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ESP32 </a:t>
                      </a:r>
                      <a:r>
                        <a:rPr lang="en-US" sz="900" b="0" i="0" u="none" strike="noStrike" noProof="0" dirty="0" err="1">
                          <a:latin typeface="Calibri"/>
                          <a:ea typeface="Calibri"/>
                          <a:cs typeface="Calibri"/>
                        </a:rPr>
                        <a:t>DevKit</a:t>
                      </a:r>
                      <a:r>
                        <a:rPr lang="en-US" sz="9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 V1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45046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Stepper drivers: TMC2208 or A4988 (×4–5)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1985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20×4 LCD or TFT display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26598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Rotary encoder / keypad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56377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SD card module (for G-code)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649536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Wiring (silicone wires, connectors, ferrules)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0474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Motion System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NEMA 17 stepper motors ×3 (X, Y, Z)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44078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Timing belts (GT2) + pulleys (X, Y)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44078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 dirty="0" err="1">
                          <a:latin typeface="Calibri"/>
                          <a:ea typeface="Calibri"/>
                          <a:cs typeface="Calibri"/>
                        </a:rPr>
                        <a:t>Aluminium</a:t>
                      </a:r>
                      <a:r>
                        <a:rPr lang="en-US" sz="9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 profile frame (2020 / 2040)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409960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Limit switches ×3 (X, Y, Z homing)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1716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Material Preparation System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Mixing chamber (metal cylinder)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03244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Mixing shaft with auger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908639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High-torque DC gear motor (for mixing)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638646"/>
                  </a:ext>
                </a:extLst>
              </a:tr>
            </a:tbl>
          </a:graphicData>
        </a:graphic>
      </p:graphicFrame>
      <p:graphicFrame>
        <p:nvGraphicFramePr>
          <p:cNvPr id="54" name="Table 53">
            <a:extLst>
              <a:ext uri="{FF2B5EF4-FFF2-40B4-BE49-F238E27FC236}">
                <a16:creationId xmlns:a16="http://schemas.microsoft.com/office/drawing/2014/main" id="{FAD8765F-324C-406B-230C-12B086A5E7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757331"/>
              </p:ext>
            </p:extLst>
          </p:nvPr>
        </p:nvGraphicFramePr>
        <p:xfrm>
          <a:off x="4744622" y="729702"/>
          <a:ext cx="4176035" cy="37750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563687">
                  <a:extLst>
                    <a:ext uri="{9D8B030D-6E8A-4147-A177-3AD203B41FA5}">
                      <a16:colId xmlns:a16="http://schemas.microsoft.com/office/drawing/2014/main" val="3158240278"/>
                    </a:ext>
                  </a:extLst>
                </a:gridCol>
                <a:gridCol w="2612348">
                  <a:extLst>
                    <a:ext uri="{9D8B030D-6E8A-4147-A177-3AD203B41FA5}">
                      <a16:colId xmlns:a16="http://schemas.microsoft.com/office/drawing/2014/main" val="3092223382"/>
                    </a:ext>
                  </a:extLst>
                </a:gridCol>
              </a:tblGrid>
              <a:tr h="276240">
                <a:tc>
                  <a:txBody>
                    <a:bodyPr/>
                    <a:lstStyle/>
                    <a:p>
                      <a:r>
                        <a:rPr lang="en-US" sz="110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83542"/>
                  </a:ext>
                </a:extLst>
              </a:tr>
              <a:tr h="27624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Motor driver (H-bridge or PWM controller)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4007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Mini water pump (12V/24V)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3854976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Smart Consistency Detection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Load cell (5–20 kg) + </a:t>
                      </a:r>
                      <a:r>
                        <a:rPr lang="en-US" sz="900" b="0" i="0" u="none" strike="noStrike" noProof="0"/>
                        <a:t>HX711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457264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Motor current sensor (INA219)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805907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Extrusion System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Extruder barrel (metal)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382461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NEMA 17 stepper motor (extruder)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45046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Stepper drivers: TMC2208 or A4988 (×4–5)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19853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Nozzle set (interchangeable diameters 1–3 mm)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126598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Controlled Drying System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DC fan(s) (12V/24V)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956377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Simple vent control (manual flaps)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649536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Pattern Drawing Unit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Pen/paint marker holder 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480474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b="0" i="0" u="none" strike="noStrike" noProof="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Small servo (optional Z-pressure control)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440782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Safety &amp; Reliability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Emergency stop button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2440785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/>
                        <a:t>Overcurrent fuse (battery + SMPS output)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409960"/>
                  </a:ext>
                </a:extLst>
              </a:tr>
              <a:tr h="230187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</a:rPr>
                        <a:t>Proper enclosure/guards for moving parts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171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0EEF8"/>
                </a:solidFill>
                <a:latin typeface="Calibri"/>
                <a:ea typeface="Calibri"/>
                <a:cs typeface="Calibri"/>
              </a:rPr>
              <a:t>Project Process — 10 Months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572768" cy="4114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Research &amp; Requirements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65376" y="146304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0" name="Shape 8"/>
          <p:cNvSpPr/>
          <p:nvPr/>
        </p:nvSpPr>
        <p:spPr>
          <a:xfrm>
            <a:off x="1993392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868680"/>
            <a:ext cx="1572768" cy="4114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2" name="Text 10"/>
          <p:cNvSpPr/>
          <p:nvPr/>
        </p:nvSpPr>
        <p:spPr>
          <a:xfrm>
            <a:off x="1993392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66544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System Design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84448" y="146304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5" name="Shape 13"/>
          <p:cNvSpPr/>
          <p:nvPr/>
        </p:nvSpPr>
        <p:spPr>
          <a:xfrm>
            <a:off x="3712464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12464" y="868680"/>
            <a:ext cx="1572768" cy="4114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17" name="Text 15"/>
          <p:cNvSpPr/>
          <p:nvPr/>
        </p:nvSpPr>
        <p:spPr>
          <a:xfrm>
            <a:off x="3712464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85616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Component Procurement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146304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0" name="Shape 18"/>
          <p:cNvSpPr/>
          <p:nvPr/>
        </p:nvSpPr>
        <p:spPr>
          <a:xfrm>
            <a:off x="5431536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31536" y="868680"/>
            <a:ext cx="1572768" cy="4114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22" name="Text 20"/>
          <p:cNvSpPr/>
          <p:nvPr/>
        </p:nvSpPr>
        <p:spPr>
          <a:xfrm>
            <a:off x="5431536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4688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Mechanical Construction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22592" y="146304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25" name="Shape 23"/>
          <p:cNvSpPr/>
          <p:nvPr/>
        </p:nvSpPr>
        <p:spPr>
          <a:xfrm>
            <a:off x="7150608" y="86868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50608" y="868680"/>
            <a:ext cx="1572768" cy="41148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7" name="Text 25"/>
          <p:cNvSpPr/>
          <p:nvPr/>
        </p:nvSpPr>
        <p:spPr>
          <a:xfrm>
            <a:off x="7150608" y="86868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23760" y="134416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Electronics Assembly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788920"/>
            <a:ext cx="1572768" cy="41148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47472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Software Development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65376" y="338328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4" name="Shape 32"/>
          <p:cNvSpPr/>
          <p:nvPr/>
        </p:nvSpPr>
        <p:spPr>
          <a:xfrm>
            <a:off x="1993392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993392" y="2788920"/>
            <a:ext cx="1572768" cy="41148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36" name="Text 34"/>
          <p:cNvSpPr/>
          <p:nvPr/>
        </p:nvSpPr>
        <p:spPr>
          <a:xfrm>
            <a:off x="1993392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117"/>
                </a:solidFill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066544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System Integration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584448" y="338328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39" name="Shape 37"/>
          <p:cNvSpPr/>
          <p:nvPr/>
        </p:nvSpPr>
        <p:spPr>
          <a:xfrm>
            <a:off x="3712464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12464" y="2788920"/>
            <a:ext cx="1572768" cy="41148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41" name="Text 39"/>
          <p:cNvSpPr/>
          <p:nvPr/>
        </p:nvSpPr>
        <p:spPr>
          <a:xfrm>
            <a:off x="3712464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117"/>
                </a:solidFill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785616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Calibration &amp; Testing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03520" y="338328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4" name="Shape 42"/>
          <p:cNvSpPr/>
          <p:nvPr/>
        </p:nvSpPr>
        <p:spPr>
          <a:xfrm>
            <a:off x="5431536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431536" y="2788920"/>
            <a:ext cx="1572768" cy="411480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6" name="Text 44"/>
          <p:cNvSpPr/>
          <p:nvPr/>
        </p:nvSpPr>
        <p:spPr>
          <a:xfrm>
            <a:off x="5431536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09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5504688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Performance Optimization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22592" y="3383280"/>
            <a:ext cx="109728" cy="45720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49" name="Shape 47"/>
          <p:cNvSpPr/>
          <p:nvPr/>
        </p:nvSpPr>
        <p:spPr>
          <a:xfrm>
            <a:off x="7150608" y="2788920"/>
            <a:ext cx="1572768" cy="164592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50608" y="2788920"/>
            <a:ext cx="1572768" cy="411480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51" name="Text 49"/>
          <p:cNvSpPr/>
          <p:nvPr/>
        </p:nvSpPr>
        <p:spPr>
          <a:xfrm>
            <a:off x="7150608" y="2788920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EEF8"/>
                </a:solidFill>
              </a:rPr>
              <a:t>10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223760" y="3264408"/>
            <a:ext cx="142646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C8C8"/>
                </a:solidFill>
              </a:rPr>
              <a:t>Documentation &amp; Report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54" name="Text 5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Project Process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 Work Breakdown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572768" cy="438912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1417320"/>
            <a:ext cx="457200" cy="457200"/>
          </a:xfrm>
          <a:prstGeom prst="ellipse">
            <a:avLst/>
          </a:prstGeom>
          <a:solidFill>
            <a:srgbClr val="1EBFA0"/>
          </a:solidFill>
          <a:ln/>
        </p:spPr>
      </p:sp>
      <p:sp>
        <p:nvSpPr>
          <p:cNvPr id="8" name="Text 6"/>
          <p:cNvSpPr/>
          <p:nvPr/>
        </p:nvSpPr>
        <p:spPr>
          <a:xfrm>
            <a:off x="832104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1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993392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93392" y="868680"/>
            <a:ext cx="1572768" cy="438912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8" name="Shape 16"/>
          <p:cNvSpPr/>
          <p:nvPr/>
        </p:nvSpPr>
        <p:spPr>
          <a:xfrm>
            <a:off x="2551176" y="1417320"/>
            <a:ext cx="457200" cy="457200"/>
          </a:xfrm>
          <a:prstGeom prst="ellipse">
            <a:avLst/>
          </a:prstGeom>
          <a:solidFill>
            <a:srgbClr val="7C6FF7"/>
          </a:solidFill>
          <a:ln/>
        </p:spPr>
      </p:sp>
      <p:sp>
        <p:nvSpPr>
          <p:cNvPr id="19" name="Text 17"/>
          <p:cNvSpPr/>
          <p:nvPr/>
        </p:nvSpPr>
        <p:spPr>
          <a:xfrm>
            <a:off x="2551176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2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712464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12464" y="868680"/>
            <a:ext cx="1572768" cy="438912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29" name="Shape 27"/>
          <p:cNvSpPr/>
          <p:nvPr/>
        </p:nvSpPr>
        <p:spPr>
          <a:xfrm>
            <a:off x="4270248" y="1417320"/>
            <a:ext cx="457200" cy="457200"/>
          </a:xfrm>
          <a:prstGeom prst="ellipse">
            <a:avLst/>
          </a:prstGeom>
          <a:solidFill>
            <a:srgbClr val="3A8FE8"/>
          </a:solidFill>
          <a:ln/>
        </p:spPr>
      </p:sp>
      <p:sp>
        <p:nvSpPr>
          <p:cNvPr id="30" name="Text 28"/>
          <p:cNvSpPr/>
          <p:nvPr/>
        </p:nvSpPr>
        <p:spPr>
          <a:xfrm>
            <a:off x="4270248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3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431536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31536" y="868680"/>
            <a:ext cx="1572768" cy="438912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0" name="Shape 38"/>
          <p:cNvSpPr/>
          <p:nvPr/>
        </p:nvSpPr>
        <p:spPr>
          <a:xfrm>
            <a:off x="5989320" y="1417320"/>
            <a:ext cx="457200" cy="457200"/>
          </a:xfrm>
          <a:prstGeom prst="ellipse">
            <a:avLst/>
          </a:prstGeom>
          <a:solidFill>
            <a:srgbClr val="E8603C"/>
          </a:solidFill>
          <a:ln/>
        </p:spPr>
      </p:sp>
      <p:sp>
        <p:nvSpPr>
          <p:cNvPr id="41" name="Text 39"/>
          <p:cNvSpPr/>
          <p:nvPr/>
        </p:nvSpPr>
        <p:spPr>
          <a:xfrm>
            <a:off x="598932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EEF8"/>
                </a:solidFill>
              </a:rPr>
              <a:t>4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7150608" y="868680"/>
            <a:ext cx="1572768" cy="384048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150608" y="868680"/>
            <a:ext cx="1572768" cy="43891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51" name="Shape 49"/>
          <p:cNvSpPr/>
          <p:nvPr/>
        </p:nvSpPr>
        <p:spPr>
          <a:xfrm>
            <a:off x="7708392" y="1417320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52" name="Text 50"/>
          <p:cNvSpPr/>
          <p:nvPr/>
        </p:nvSpPr>
        <p:spPr>
          <a:xfrm>
            <a:off x="770839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117"/>
                </a:solidFill>
              </a:rPr>
              <a:t>5</a:t>
            </a:r>
            <a:endParaRPr lang="en-US" sz="1500" dirty="0"/>
          </a:p>
        </p:txBody>
      </p:sp>
      <p:sp>
        <p:nvSpPr>
          <p:cNvPr id="60" name="Shape 5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61" name="Text 5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Team Breakdown</a:t>
            </a:r>
            <a:endParaRPr lang="en-US" sz="9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B6B19A-F8C9-CF56-AEA1-83B979D62DC7}"/>
              </a:ext>
            </a:extLst>
          </p:cNvPr>
          <p:cNvSpPr txBox="1"/>
          <p:nvPr/>
        </p:nvSpPr>
        <p:spPr>
          <a:xfrm>
            <a:off x="439615" y="945173"/>
            <a:ext cx="4572000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DE SILVA P.S.S</a:t>
            </a:r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6A36EFF-489C-7B95-91B2-DF30A3207F16}"/>
              </a:ext>
            </a:extLst>
          </p:cNvPr>
          <p:cNvSpPr txBox="1"/>
          <p:nvPr/>
        </p:nvSpPr>
        <p:spPr>
          <a:xfrm>
            <a:off x="2242038" y="945173"/>
            <a:ext cx="4572000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CHAMIDYA J.A.S 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98E252-D87B-2225-9379-4F1606665912}"/>
              </a:ext>
            </a:extLst>
          </p:cNvPr>
          <p:cNvSpPr txBox="1"/>
          <p:nvPr/>
        </p:nvSpPr>
        <p:spPr>
          <a:xfrm>
            <a:off x="3956538" y="937846"/>
            <a:ext cx="4572000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OMESH N.A.N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093C5F-D7FD-EE1C-A5D4-762F6A3FE6F8}"/>
              </a:ext>
            </a:extLst>
          </p:cNvPr>
          <p:cNvSpPr txBox="1"/>
          <p:nvPr/>
        </p:nvSpPr>
        <p:spPr>
          <a:xfrm>
            <a:off x="5502519" y="945173"/>
            <a:ext cx="4572000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KALANSOORIYA O.K 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BBC0754-89AB-2567-2E94-6FAC2F559497}"/>
              </a:ext>
            </a:extLst>
          </p:cNvPr>
          <p:cNvSpPr txBox="1"/>
          <p:nvPr/>
        </p:nvSpPr>
        <p:spPr>
          <a:xfrm>
            <a:off x="7085135" y="937846"/>
            <a:ext cx="4572000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b="0" i="0" u="none" strike="noStrike" baseline="0">
                <a:solidFill>
                  <a:srgbClr val="FFFFFF"/>
                </a:solidFill>
                <a:latin typeface="Calibri"/>
              </a:rPr>
              <a:t>GOONATILLAKA W.A.D.S.S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4" y="1555652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</a:rPr>
              <a:t>Control System &amp; </a:t>
            </a:r>
            <a:r>
              <a:rPr lang="en-US" sz="1200" b="1" dirty="0">
                <a:solidFill>
                  <a:schemeClr val="bg1"/>
                </a:solidFill>
              </a:rPr>
              <a:t>Coordination Lead</a:t>
            </a:r>
            <a:endParaRPr lang="en-US" sz="12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200" b="1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0EEF8"/>
                </a:solidFill>
                <a:ea typeface="+mn-lt"/>
                <a:cs typeface="+mn-lt"/>
              </a:rPr>
              <a:t>Microcontroller system (ESP32 / Arduino Mega 2560)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0EEF8"/>
                </a:solidFill>
                <a:ea typeface="+mn-lt"/>
                <a:cs typeface="+mn-lt"/>
              </a:rPr>
              <a:t>Power distribution &amp; wiring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 dirty="0">
              <a:solidFill>
                <a:srgbClr val="F0EEF8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000">
                <a:solidFill>
                  <a:srgbClr val="F0EEF8"/>
                </a:solidFill>
                <a:ea typeface="+mn-lt"/>
                <a:cs typeface="+mn-lt"/>
              </a:rPr>
              <a:t>Temperature &amp; humidity sensor (DHT22)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sz="11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 dirty="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67" name="Text 7">
            <a:extLst>
              <a:ext uri="{FF2B5EF4-FFF2-40B4-BE49-F238E27FC236}">
                <a16:creationId xmlns:a16="http://schemas.microsoft.com/office/drawing/2014/main" id="{4D5051DF-354D-42E9-FCF1-6B1DF5F468CF}"/>
              </a:ext>
            </a:extLst>
          </p:cNvPr>
          <p:cNvSpPr/>
          <p:nvPr/>
        </p:nvSpPr>
        <p:spPr>
          <a:xfrm>
            <a:off x="2032666" y="1482383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Material Preparation</a:t>
            </a:r>
            <a:endParaRPr lang="en-US" b="1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Mixing chamber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Mixing motor + shaft design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Water pump system </a:t>
            </a:r>
          </a:p>
          <a:p>
            <a:pPr marL="285750" indent="-285750">
              <a:buFont typeface="Arial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Moisture sensor</a:t>
            </a:r>
          </a:p>
          <a:p>
            <a:endParaRPr lang="en-US" sz="11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1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 dirty="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68" name="Text 7">
            <a:extLst>
              <a:ext uri="{FF2B5EF4-FFF2-40B4-BE49-F238E27FC236}">
                <a16:creationId xmlns:a16="http://schemas.microsoft.com/office/drawing/2014/main" id="{0DD8A7BD-6ACA-9D39-6236-4E5084688A02}"/>
              </a:ext>
            </a:extLst>
          </p:cNvPr>
          <p:cNvSpPr/>
          <p:nvPr/>
        </p:nvSpPr>
        <p:spPr>
          <a:xfrm>
            <a:off x="3710531" y="1489709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Extrusion System Lead</a:t>
            </a:r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Auger / piston extrusion system </a:t>
            </a: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Nozzle design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Clay flow mechanism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Load cell + HX711</a:t>
            </a:r>
            <a:endParaRPr lang="en-US"/>
          </a:p>
          <a:p>
            <a:endParaRPr lang="en-US" sz="11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1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 dirty="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69" name="Text 7">
            <a:extLst>
              <a:ext uri="{FF2B5EF4-FFF2-40B4-BE49-F238E27FC236}">
                <a16:creationId xmlns:a16="http://schemas.microsoft.com/office/drawing/2014/main" id="{F7039EB1-84C2-63A7-81C7-F30FBD9D40AC}"/>
              </a:ext>
            </a:extLst>
          </p:cNvPr>
          <p:cNvSpPr/>
          <p:nvPr/>
        </p:nvSpPr>
        <p:spPr>
          <a:xfrm>
            <a:off x="5468993" y="1555652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Motion System Lead</a:t>
            </a:r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X, Y, Z axis mechanics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Stepper motors + rails + belts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Frame assembly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Limit switches (X, Y, Z homing)</a:t>
            </a:r>
          </a:p>
          <a:p>
            <a:endParaRPr lang="en-US" sz="11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1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 dirty="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  <p:sp>
        <p:nvSpPr>
          <p:cNvPr id="70" name="Text 7">
            <a:extLst>
              <a:ext uri="{FF2B5EF4-FFF2-40B4-BE49-F238E27FC236}">
                <a16:creationId xmlns:a16="http://schemas.microsoft.com/office/drawing/2014/main" id="{CAD2D6BA-E182-9475-7BCC-4D56A8435CB0}"/>
              </a:ext>
            </a:extLst>
          </p:cNvPr>
          <p:cNvSpPr/>
          <p:nvPr/>
        </p:nvSpPr>
        <p:spPr>
          <a:xfrm>
            <a:off x="7154185" y="1555651"/>
            <a:ext cx="1499734" cy="39591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>
                <a:solidFill>
                  <a:schemeClr val="bg1"/>
                </a:solidFill>
                <a:ea typeface="+mn-lt"/>
                <a:cs typeface="+mn-lt"/>
              </a:rPr>
              <a:t>User Interface &amp; System Monitoring Lead</a:t>
            </a:r>
            <a:endParaRPr lang="en-US" b="1">
              <a:solidFill>
                <a:schemeClr val="bg1"/>
              </a:solidFill>
              <a:ea typeface="+mn-lt"/>
              <a:cs typeface="+mn-lt"/>
            </a:endParaRPr>
          </a:p>
          <a:p>
            <a:endParaRPr lang="en-US" sz="1200" b="1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🔧 Hardware Module: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LCD / TFT display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Keypad / rotary encoder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SD card module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>
                <a:solidFill>
                  <a:schemeClr val="bg1"/>
                </a:solidFill>
              </a:rPr>
              <a:t>📡 Sensor Responsibility:</a:t>
            </a:r>
            <a:endParaRPr lang="en-US" sz="1100">
              <a:solidFill>
                <a:schemeClr val="bg1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solidFill>
                  <a:schemeClr val="bg1"/>
                </a:solidFill>
                <a:ea typeface="+mn-lt"/>
                <a:cs typeface="+mn-lt"/>
              </a:rPr>
              <a:t>Motor current sensing </a:t>
            </a:r>
          </a:p>
          <a:p>
            <a:endParaRPr lang="en-US" sz="11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100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000" dirty="0">
              <a:solidFill>
                <a:srgbClr val="F0EEF8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endParaRPr lang="en-US" sz="1000" b="1" dirty="0">
              <a:solidFill>
                <a:srgbClr val="F0EEF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Budget (LKR)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Frame (Aluminium Profiles)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069080" y="868680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18,000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07008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Stepper Motors × 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9080" y="1207008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16,000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545336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45336"/>
            <a:ext cx="3657600" cy="338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8C8C8"/>
                </a:solidFill>
              </a:rPr>
              <a:t>ESP32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69080" y="1545336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 5,500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883664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1883664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Stepper Drivers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69080" y="1883664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 5,000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221992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221992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Sensors (All)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69080" y="2221992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 3,500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560320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Display + Keypad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69080" y="2560320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 4,000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898648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898648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Clay Extrusion System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69080" y="2898648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12,000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236976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236976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Power Supply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69080" y="3236976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 6,000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575304"/>
            <a:ext cx="5029200" cy="338328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575304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Wiring + PCB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069080" y="3575304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 7,000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3913632"/>
            <a:ext cx="5029200" cy="338328"/>
          </a:xfrm>
          <a:prstGeom prst="rect">
            <a:avLst/>
          </a:prstGeom>
          <a:solidFill>
            <a:srgbClr val="1E2438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913632"/>
            <a:ext cx="3657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Miscellaneous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69080" y="3913632"/>
            <a:ext cx="11887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0A030"/>
                </a:solidFill>
              </a:rPr>
              <a:t>Rs. 10,000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4251960"/>
            <a:ext cx="5029200" cy="41148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251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117"/>
                </a:solidFill>
              </a:rPr>
              <a:t>TOTAL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37560" y="4251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1117"/>
                </a:solidFill>
              </a:rPr>
              <a:t>Rs. 87,000 – 95,000</a:t>
            </a:r>
            <a:endParaRPr lang="en-US" sz="1300" dirty="0"/>
          </a:p>
        </p:txBody>
      </p:sp>
      <p:graphicFrame>
        <p:nvGraphicFramePr>
          <p:cNvPr id="38" name="Chart 0"/>
          <p:cNvGraphicFramePr/>
          <p:nvPr/>
        </p:nvGraphicFramePr>
        <p:xfrm>
          <a:off x="5577840" y="822960"/>
          <a:ext cx="33832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0" name="Text 3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Budget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548640"/>
            <a:ext cx="3200400" cy="3200400"/>
          </a:xfrm>
          <a:prstGeom prst="ellipse">
            <a:avLst/>
          </a:prstGeom>
          <a:solidFill>
            <a:srgbClr val="7C6FF7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1EBFA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4572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EBFA0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0EE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Smart Solution for Modern Pottery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20040" y="2194560"/>
            <a:ext cx="64008" cy="329184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9456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C8"/>
                </a:solidFill>
              </a:rPr>
              <a:t>Fully automated clay printing — microcontroller replaces manual pottery skill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633472"/>
            <a:ext cx="64008" cy="329184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3347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C8"/>
                </a:solidFill>
              </a:rPr>
              <a:t>Precise 3-axis stepper motor control with sensor-driven auto-bed leveling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072384"/>
            <a:ext cx="64008" cy="329184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072384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C8"/>
                </a:solidFill>
              </a:rPr>
              <a:t>Intelligent material identification through an integrated 5-sensor suite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3511296"/>
            <a:ext cx="64008" cy="329184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511296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C8"/>
                </a:solidFill>
              </a:rPr>
              <a:t>Safe and user-friendly: LCD interface, emergency stop, real-time monitoring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950208"/>
            <a:ext cx="64008" cy="329184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950208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C8C8"/>
                </a:solidFill>
              </a:rPr>
              <a:t>Budget-conscious design: approx. Rs. 87,000 – 95,000 total cost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F1117"/>
                </a:solidFill>
              </a:rPr>
              <a:t>Thank You  ·  Microcontroller-Based 3D Potter Printer  · Level 01 Project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acc1"/>
          <p:cNvSpPr/>
          <p:nvPr/>
        </p:nvSpPr>
        <p:spPr>
          <a:xfrm>
            <a:off x="320040" y="868680"/>
            <a:ext cx="45720" cy="59600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6" name="Text title1"/>
          <p:cNvSpPr/>
          <p:nvPr/>
        </p:nvSpPr>
        <p:spPr>
          <a:xfrm>
            <a:off x="502920" y="86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BFA0"/>
                </a:solidFill>
              </a:rPr>
              <a:t>01</a:t>
            </a:r>
            <a:r>
              <a:rPr lang="en-US" sz="1200" b="1" dirty="0">
                <a:solidFill>
                  <a:srgbClr val="F0EEF8"/>
                </a:solidFill>
              </a:rPr>
              <a:t>   Espressif Systems — ESP32 Datasheet</a:t>
            </a:r>
            <a:endParaRPr lang="en-US" sz="1200" dirty="0"/>
          </a:p>
        </p:txBody>
      </p:sp>
      <p:sp>
        <p:nvSpPr>
          <p:cNvPr id="7" name="Text sub1"/>
          <p:cNvSpPr/>
          <p:nvPr/>
        </p:nvSpPr>
        <p:spPr>
          <a:xfrm>
            <a:off x="502920" y="118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</a:rPr>
              <a:t>ESP32 Series Datasheet v5.2  ·  documentation.espressif.com</a:t>
            </a:r>
            <a:endParaRPr lang="en-US" sz="1000" dirty="0"/>
          </a:p>
        </p:txBody>
      </p:sp>
      <p:sp>
        <p:nvSpPr>
          <p:cNvPr id="8" name="Shape acc2"/>
          <p:cNvSpPr/>
          <p:nvPr/>
        </p:nvSpPr>
        <p:spPr>
          <a:xfrm>
            <a:off x="320040" y="1838680"/>
            <a:ext cx="45720" cy="59600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9" name="Text title2"/>
          <p:cNvSpPr/>
          <p:nvPr/>
        </p:nvSpPr>
        <p:spPr>
          <a:xfrm>
            <a:off x="502920" y="183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C6FF7"/>
                </a:solidFill>
              </a:rPr>
              <a:t>02</a:t>
            </a:r>
            <a:r>
              <a:rPr lang="en-US" sz="1200" b="1" dirty="0">
                <a:solidFill>
                  <a:srgbClr val="F0EEF8"/>
                </a:solidFill>
              </a:rPr>
              <a:t>   Analog Devices — TMC2208 Driver Datasheet</a:t>
            </a:r>
            <a:endParaRPr lang="en-US" sz="1200" dirty="0"/>
          </a:p>
        </p:txBody>
      </p:sp>
      <p:sp>
        <p:nvSpPr>
          <p:cNvPr id="10" name="Text sub2"/>
          <p:cNvSpPr/>
          <p:nvPr/>
        </p:nvSpPr>
        <p:spPr>
          <a:xfrm>
            <a:off x="502920" y="215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</a:rPr>
              <a:t>TMC220X/TMC2224 Datasheet Rev. 1.14  ·  analog.com</a:t>
            </a:r>
            <a:endParaRPr lang="en-US" sz="1000" dirty="0"/>
          </a:p>
        </p:txBody>
      </p:sp>
      <p:sp>
        <p:nvSpPr>
          <p:cNvPr id="11" name="Shape acc3"/>
          <p:cNvSpPr/>
          <p:nvPr/>
        </p:nvSpPr>
        <p:spPr>
          <a:xfrm>
            <a:off x="320040" y="2808680"/>
            <a:ext cx="45720" cy="596000"/>
          </a:xfrm>
          <a:prstGeom prst="rect">
            <a:avLst/>
          </a:prstGeom>
          <a:solidFill>
            <a:srgbClr val="3A8FE8"/>
          </a:solidFill>
          <a:ln/>
        </p:spPr>
      </p:sp>
      <p:sp>
        <p:nvSpPr>
          <p:cNvPr id="12" name="Text title3"/>
          <p:cNvSpPr/>
          <p:nvPr/>
        </p:nvSpPr>
        <p:spPr>
          <a:xfrm>
            <a:off x="502920" y="280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A8FE8"/>
                </a:solidFill>
              </a:rPr>
              <a:t>03</a:t>
            </a:r>
            <a:r>
              <a:rPr lang="en-US" sz="1200" b="1" dirty="0">
                <a:solidFill>
                  <a:srgbClr val="F0EEF8"/>
                </a:solidFill>
              </a:rPr>
              <a:t>   Avia Semiconductor — HX711 ADC Datasheet</a:t>
            </a:r>
            <a:endParaRPr lang="en-US" sz="1200" dirty="0"/>
          </a:p>
        </p:txBody>
      </p:sp>
      <p:sp>
        <p:nvSpPr>
          <p:cNvPr id="13" name="Text sub3"/>
          <p:cNvSpPr/>
          <p:nvPr/>
        </p:nvSpPr>
        <p:spPr>
          <a:xfrm>
            <a:off x="502920" y="312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</a:rPr>
              <a:t>24-Bit ADC for Weigh Scales  ·  cdn.sparkfun.com</a:t>
            </a:r>
            <a:endParaRPr lang="en-US" sz="1000" dirty="0"/>
          </a:p>
        </p:txBody>
      </p:sp>
      <p:sp>
        <p:nvSpPr>
          <p:cNvPr id="14" name="Shape acc4"/>
          <p:cNvSpPr/>
          <p:nvPr/>
        </p:nvSpPr>
        <p:spPr>
          <a:xfrm>
            <a:off x="320040" y="3778680"/>
            <a:ext cx="45720" cy="596000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15" name="Text title4"/>
          <p:cNvSpPr/>
          <p:nvPr/>
        </p:nvSpPr>
        <p:spPr>
          <a:xfrm>
            <a:off x="502920" y="377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8603C"/>
                </a:solidFill>
              </a:rPr>
              <a:t>04</a:t>
            </a:r>
            <a:r>
              <a:rPr lang="en-US" sz="1200" b="1" dirty="0">
                <a:solidFill>
                  <a:srgbClr val="F0EEF8"/>
                </a:solidFill>
              </a:rPr>
              <a:t>   Aosong Electronics — AM2302/DHT22 Manual</a:t>
            </a:r>
            <a:endParaRPr lang="en-US" sz="1200" dirty="0"/>
          </a:p>
        </p:txBody>
      </p:sp>
      <p:sp>
        <p:nvSpPr>
          <p:cNvPr id="16" name="Text sub4"/>
          <p:cNvSpPr/>
          <p:nvPr/>
        </p:nvSpPr>
        <p:spPr>
          <a:xfrm>
            <a:off x="502920" y="409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</a:rPr>
              <a:t>Digital Humidity &amp; Temperature Sensor  ·  aosong.com</a:t>
            </a:r>
            <a:endParaRPr lang="en-US" sz="1000" dirty="0"/>
          </a:p>
        </p:txBody>
      </p:sp>
      <p:sp>
        <p:nvSpPr>
          <p:cNvPr id="17" name="Shape acc5"/>
          <p:cNvSpPr/>
          <p:nvPr/>
        </p:nvSpPr>
        <p:spPr>
          <a:xfrm>
            <a:off x="4663440" y="868680"/>
            <a:ext cx="45720" cy="596000"/>
          </a:xfrm>
          <a:prstGeom prst="rect">
            <a:avLst/>
          </a:prstGeom>
          <a:solidFill>
            <a:srgbClr val="F0A030"/>
          </a:solidFill>
          <a:ln/>
        </p:spPr>
      </p:sp>
      <p:sp>
        <p:nvSpPr>
          <p:cNvPr id="18" name="Text title5"/>
          <p:cNvSpPr/>
          <p:nvPr/>
        </p:nvSpPr>
        <p:spPr>
          <a:xfrm>
            <a:off x="4846320" y="86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0A030"/>
                </a:solidFill>
              </a:rPr>
              <a:t>05</a:t>
            </a:r>
            <a:r>
              <a:rPr lang="en-US" sz="1200" b="1" dirty="0">
                <a:solidFill>
                  <a:srgbClr val="F0EEF8"/>
                </a:solidFill>
              </a:rPr>
              <a:t>   RepRap Project — G-code Reference</a:t>
            </a:r>
            <a:endParaRPr lang="en-US" sz="1200" dirty="0"/>
          </a:p>
        </p:txBody>
      </p:sp>
      <p:sp>
        <p:nvSpPr>
          <p:cNvPr id="19" name="Text sub5"/>
          <p:cNvSpPr/>
          <p:nvPr/>
        </p:nvSpPr>
        <p:spPr>
          <a:xfrm>
            <a:off x="4846320" y="118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</a:rPr>
              <a:t>G-code Command Wiki  ·  reprap.org/wiki/G-code</a:t>
            </a:r>
            <a:endParaRPr lang="en-US" sz="1000" dirty="0"/>
          </a:p>
        </p:txBody>
      </p:sp>
      <p:sp>
        <p:nvSpPr>
          <p:cNvPr id="20" name="Shape acc6"/>
          <p:cNvSpPr/>
          <p:nvPr/>
        </p:nvSpPr>
        <p:spPr>
          <a:xfrm>
            <a:off x="4663440" y="1838680"/>
            <a:ext cx="45720" cy="596000"/>
          </a:xfrm>
          <a:prstGeom prst="rect">
            <a:avLst/>
          </a:prstGeom>
          <a:solidFill>
            <a:srgbClr val="1EBFA0"/>
          </a:solidFill>
          <a:ln/>
        </p:spPr>
      </p:sp>
      <p:sp>
        <p:nvSpPr>
          <p:cNvPr id="21" name="Text title6"/>
          <p:cNvSpPr/>
          <p:nvPr/>
        </p:nvSpPr>
        <p:spPr>
          <a:xfrm>
            <a:off x="4846320" y="183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BFA0"/>
                </a:solidFill>
              </a:rPr>
              <a:t>06</a:t>
            </a:r>
            <a:r>
              <a:rPr lang="en-US" sz="1200" b="1" dirty="0">
                <a:solidFill>
                  <a:srgbClr val="F0EEF8"/>
                </a:solidFill>
              </a:rPr>
              <a:t>   Ruscitti, Tapia &amp; Rendtorff (2020)</a:t>
            </a:r>
            <a:endParaRPr lang="en-US" sz="1200" dirty="0"/>
          </a:p>
        </p:txBody>
      </p:sp>
      <p:sp>
        <p:nvSpPr>
          <p:cNvPr id="22" name="Text sub6"/>
          <p:cNvSpPr/>
          <p:nvPr/>
        </p:nvSpPr>
        <p:spPr>
          <a:xfrm>
            <a:off x="4846320" y="215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</a:rPr>
              <a:t>AM of Ceramics via Clay-Paste Extrusion, Cerâmica 66(380)</a:t>
            </a:r>
            <a:endParaRPr lang="en-US" sz="1000" dirty="0"/>
          </a:p>
        </p:txBody>
      </p:sp>
      <p:sp>
        <p:nvSpPr>
          <p:cNvPr id="23" name="Shape acc7"/>
          <p:cNvSpPr/>
          <p:nvPr/>
        </p:nvSpPr>
        <p:spPr>
          <a:xfrm>
            <a:off x="4663440" y="2808680"/>
            <a:ext cx="45720" cy="59600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4" name="Text title7"/>
          <p:cNvSpPr/>
          <p:nvPr/>
        </p:nvSpPr>
        <p:spPr>
          <a:xfrm>
            <a:off x="4846320" y="28086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C6FF7"/>
                </a:solidFill>
              </a:rPr>
              <a:t>07</a:t>
            </a:r>
            <a:r>
              <a:rPr lang="en-US" sz="1200" b="1" dirty="0">
                <a:solidFill>
                  <a:srgbClr val="F0EEF8"/>
                </a:solidFill>
              </a:rPr>
              <a:t>   Cárdenas Correa, Torres Barahona &amp; Carda Castelló (2026)</a:t>
            </a:r>
            <a:endParaRPr lang="en-US" sz="1200" dirty="0"/>
          </a:p>
        </p:txBody>
      </p:sp>
      <p:sp>
        <p:nvSpPr>
          <p:cNvPr id="25" name="Text sub7"/>
          <p:cNvSpPr/>
          <p:nvPr/>
        </p:nvSpPr>
        <p:spPr>
          <a:xfrm>
            <a:off x="4846320" y="3128680"/>
            <a:ext cx="397764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8C8C8"/>
                </a:solidFill>
              </a:rPr>
              <a:t>Ceramic AM via Direct Ink Writing: A Review, Ceramics 9(2):16</a:t>
            </a:r>
            <a:endParaRPr lang="en-US" sz="1000" dirty="0"/>
          </a:p>
        </p:txBody>
      </p:sp>
      <p:sp>
        <p:nvSpPr>
          <p:cNvPr id="26" name="Shape footer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7" name="Text footer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References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81C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Users, Scope &amp; Market Position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841248"/>
            <a:ext cx="8503920" cy="777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dirty="0">
                <a:solidFill>
                  <a:srgbClr val="C8C8C8"/>
                </a:solidFill>
              </a:rPr>
              <a:t>Framed as consistency and accessibility for non-potters, not as a replacement for skilled ceramicists — this project targets a specific gap left by existing single-mode commercial clay printers.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73736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81051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88720" y="18288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FF7"/>
                </a:solidFill>
              </a:rPr>
              <a:t>Target Users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Hobbyist ceramicists, small pottery studios/makerspaces, and ceramics or STEAM education programs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81051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🚧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23560" y="18288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FF7"/>
                </a:solidFill>
              </a:rPr>
              <a:t>Scope Boundary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23560" y="219456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C8C8C8"/>
                </a:solidFill>
              </a:rPr>
              <a:t>Produces greenware / decorated bisque-ready pieces only — firing is done externally, outside system scope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22783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8720" y="3246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FF7"/>
                </a:solidFill>
              </a:rPr>
              <a:t>Guaranteed vs. Stretch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36118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Rotary pottery mode is the guaranteed Level 01 deliverable; XYZ sculpture/bust mode is a stretch goal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4114800" cy="1234440"/>
          </a:xfrm>
          <a:prstGeom prst="rect">
            <a:avLst/>
          </a:prstGeom>
          <a:solidFill>
            <a:srgbClr val="181C28"/>
          </a:solidFill>
          <a:ln/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227832"/>
            <a:ext cx="64008" cy="1088136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623560" y="3246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6FF7"/>
                </a:solidFill>
              </a:rPr>
              <a:t>vs. Commercial Printers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36118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C8C8"/>
                </a:solidFill>
              </a:rPr>
              <a:t>Single-mode WASP/Delta WASP printers cost more; this adds dual-mode + closed-loop material prep at ~Rs. 90,000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6FF7"/>
          </a:solidFill>
          <a:ln/>
        </p:spPr>
      </p:sp>
      <p:sp>
        <p:nvSpPr>
          <p:cNvPr id="27" name="Text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EEF8"/>
                </a:solidFill>
              </a:rPr>
              <a:t>Microcontroller-Based 3D Potter Printer  |  Target Users &amp; Scope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Microcontroller-Based 3D Potter Printer</dc:title>
  <dc:subject>PptxGenJS Presentation</dc:subject>
  <dc:creator>PptxGenJS</dc:creator>
  <cp:lastModifiedBy>PptxGenJS</cp:lastModifiedBy>
  <cp:revision>853</cp:revision>
  <dcterms:created xsi:type="dcterms:W3CDTF">2026-04-07T10:51:14Z</dcterms:created>
  <dcterms:modified xsi:type="dcterms:W3CDTF">2026-04-10T06:11:03Z</dcterms:modified>
</cp:coreProperties>
</file>
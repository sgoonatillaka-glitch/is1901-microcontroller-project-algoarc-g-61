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1524B8-AF06-4E00-A893-EFA3765FFA42}" v="23" dt="2026-07-05T14:30:46.429"/>
    <p1510:client id="{9FCF9421-6324-4BF7-8FF1-67C5F8D69FA1}" v="5" dt="2026-07-05T14:39:31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641B1-8DF6-4299-A73E-BB486DA27BAD}" type="datetimeFigureOut">
              <a:t>7/5/2026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1898B-119B-4881-B633-7C9D023779A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469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F2994A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B25 FIT LEVEL 01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430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Recovery Companion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Microcontroller-Based Patient Comfort and Care Automation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" y="3131271"/>
            <a:ext cx="430865" cy="43086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69164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9671" y="3131271"/>
            <a:ext cx="430865" cy="43086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6032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351" y="3131271"/>
            <a:ext cx="430865" cy="43086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2900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7031" y="3131271"/>
            <a:ext cx="430865" cy="43086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297680" y="3063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5711" y="3131271"/>
            <a:ext cx="430865" cy="43086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22960" y="3977640"/>
            <a:ext cx="7863840" cy="2331720"/>
          </a:xfrm>
          <a:prstGeom prst="roundRect">
            <a:avLst>
              <a:gd name="adj" fmla="val 3137"/>
            </a:avLst>
          </a:prstGeom>
          <a:solidFill>
            <a:srgbClr val="0F2E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05156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1051560" y="443484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 No.] [Initials &amp; Surname] — BSc (Hons) in [Degree Programme Name]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 No.] [Initials &amp; Surname] — BSc (Hons) in [Degree Programme Name]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 No.] [Initials &amp; Surname] — BSc (Hons) in [Degree Programme Name]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 No.] [Initials &amp; Surname] — BSc (Hons) in [Degree Programme Name]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[Index No.] [Initials &amp; Surname] — BSc (Hons) in [Degree Programme Name]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8915400" y="397764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0F2E44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909828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9098280" y="4526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[Supervisor's Full Name]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9098280" y="5074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A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[Department Name]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82296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Information Technology  |  Academic Year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recovering at home from illness, fever, flu, or surgery need continuous comfort, hydration, medication adherence, and safety support — but round-the-clock caregiver presence is not always possible.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proposes a microcontroller-based assistant that automates everyday recovery-support tasks: environmental comfort, medicine reminders, hydration tracking, and safety alerts.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deliberately avoids diagnosing any illness. It does not interpret vital signs or medical data — it only automates supportive, non-clinical comfort and care routines, keeping the scope realistic for a Level 01 embedded systems project.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463040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62672" y="1645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995" y="171724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0" y="158191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0" y="19476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temp &amp; humidity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98080" y="2587752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62672" y="2770632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3995" y="2841955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0" y="270662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Adherence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0" y="30723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reminders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498080" y="3712464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62672" y="3895344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3995" y="3966667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83133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41970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intake tracking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498080" y="4837176"/>
            <a:ext cx="4114800" cy="960120"/>
          </a:xfrm>
          <a:prstGeom prst="roundRect">
            <a:avLst>
              <a:gd name="adj" fmla="val 857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662672" y="5020056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3995" y="5091379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0" y="4956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412480" y="53218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&amp; emergency alerts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Aim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0B3554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72768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7" y="1638605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48132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microcontroller-based, non-diagnostic comfort and care automation system that supports a patient's recovery at home through environmental control, medication reminders, hydration tracking, and emergency alerts to caregivers.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5146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3232" y="26791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713232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26517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Comfort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13232" y="30815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room temperature &amp; humidity and automatically control a fan and humidifier.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06824" y="25146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71416" y="26791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4471416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55464" y="26517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Reminder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471416" y="30815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RTC schedule to trigger a servo-based pill dispenser, display, and buzzer alert.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065008" y="25146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29600" y="26791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613648" y="26517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Monitoring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229600" y="30815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water bottle weight with a load cell and prompt the patient if intake is low.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548640" y="41148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13232" y="42793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97280" y="42519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Emergency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13232" y="46817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falls with an accelerometer and provide a manual emergency button.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4306824" y="41148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471416" y="42793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4471416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855464" y="42519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Integration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471416" y="46817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all subsystems on one ESP32 controller with a local OLED status dashboard.</a:t>
            </a:r>
            <a:endParaRPr lang="en-US" sz="1080" dirty="0"/>
          </a:p>
        </p:txBody>
      </p:sp>
      <p:sp>
        <p:nvSpPr>
          <p:cNvPr id="32" name="Shape 29"/>
          <p:cNvSpPr/>
          <p:nvPr/>
        </p:nvSpPr>
        <p:spPr>
          <a:xfrm>
            <a:off x="8065008" y="4114800"/>
            <a:ext cx="3575304" cy="1417320"/>
          </a:xfrm>
          <a:prstGeom prst="roundRect">
            <a:avLst>
              <a:gd name="adj" fmla="val 5161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229600" y="42793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0" y="4279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8613648" y="425196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Notification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8229600" y="468172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Wi-Fi based alerts (Telegram / SMS / Email) for missed doses, falls, or emergencies.</a:t>
            </a:r>
            <a:endParaRPr lang="en-US" sz="108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Problem and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FCEFE3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7" y="17574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caregivers cannot monitor a recovering patient 24/7.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often forget prescribed medicine times and become dehydrated during illness.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humidity and temperature swings cause dry throat, coughing, and discomfort.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or recovering patient may fall or need help without anyone noticing in time.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smart-health devices usually attempt medical diagnosis, which requires regulatory approval and clinical validation, making them unsuitable for a student embedded-systems project.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99632" y="1417320"/>
            <a:ext cx="5440680" cy="4800600"/>
          </a:xfrm>
          <a:prstGeom prst="roundRect">
            <a:avLst>
              <a:gd name="adj" fmla="val 1905"/>
            </a:avLst>
          </a:prstGeom>
          <a:solidFill>
            <a:srgbClr val="E4F2ED"/>
          </a:solidFill>
          <a:ln/>
        </p:spPr>
      </p:sp>
      <p:sp>
        <p:nvSpPr>
          <p:cNvPr id="9" name="Shape 6"/>
          <p:cNvSpPr/>
          <p:nvPr/>
        </p:nvSpPr>
        <p:spPr>
          <a:xfrm>
            <a:off x="6473952" y="1691640"/>
            <a:ext cx="548640" cy="548640"/>
          </a:xfrm>
          <a:prstGeom prst="ellipse">
            <a:avLst/>
          </a:prstGeom>
          <a:solidFill>
            <a:srgbClr val="6FCF9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9789" y="175747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59752" y="1737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19672" y="233172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integrated, ESP32-based "Smart Recovery Companion" that automates comfort and care routines without interpreting any medical/vital-sign data.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+ relay-controlled fan/humidifier keep the room within a comfortable humidity and temperature band automatically.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RTC-scheduled servo pill dispenser and buzzer/OLED reminders support medicine adherence.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load-cell-based bottle monitor and MPU6050 fall detector add hydration and safety support.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connectivity pushes real-time alerts to a caregiver's phone via Telegram/SMS/Email whenever attention is needed.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Implementation — Complete Block Diagram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937760" y="28803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983480" y="2880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(Wi-Fi + Bluetooth)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LAYER (Inputs)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7373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— Temp. &amp; Humidity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49040" y="2020824"/>
            <a:ext cx="1188720" cy="1316736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4231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231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+ Load Cell — Bottle Weight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2706624"/>
            <a:ext cx="1188720" cy="64922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1089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— Tank / Bin Level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3749040" y="3374136"/>
            <a:ext cx="1188720" cy="182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7947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794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— Fall Detection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V="1">
            <a:off x="3749040" y="3392424"/>
            <a:ext cx="1188720" cy="6858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4805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" y="4480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MQ135 — Air Quality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flipV="1">
            <a:off x="3749040" y="3410712"/>
            <a:ext cx="1188720" cy="135331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1663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EAF4F6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51663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 — Emergency / Snooze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V="1">
            <a:off x="3749040" y="3429000"/>
            <a:ext cx="1188720" cy="202082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41248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 &amp; OUTPUT LAYER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17373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CEFE3"/>
          </a:solidFill>
          <a:ln w="15875">
            <a:solidFill>
              <a:srgbClr val="F2994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17373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 Fan — Cooling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7223760" y="2020824"/>
            <a:ext cx="1188720" cy="1325880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412480" y="24231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CEFE3"/>
          </a:solidFill>
          <a:ln w="15875">
            <a:solidFill>
              <a:srgbClr val="F2994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458200" y="24231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 Ultrasonic Humidifier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flipV="1">
            <a:off x="7223760" y="2706624"/>
            <a:ext cx="1188720" cy="658368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412480" y="31089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CEFE3"/>
          </a:solidFill>
          <a:ln w="15875">
            <a:solidFill>
              <a:srgbClr val="F2994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458200" y="31089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— Pill Dispenser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23760" y="3383280"/>
            <a:ext cx="1188720" cy="9144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412480" y="37947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CEFE3"/>
          </a:solidFill>
          <a:ln w="15875">
            <a:solidFill>
              <a:srgbClr val="F2994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458200" y="3794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0.96" OLED — Status Display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3401568"/>
            <a:ext cx="1188720" cy="676656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412480" y="4480560"/>
            <a:ext cx="3291840" cy="566928"/>
          </a:xfrm>
          <a:prstGeom prst="roundRect">
            <a:avLst>
              <a:gd name="adj" fmla="val 12903"/>
            </a:avLst>
          </a:prstGeom>
          <a:solidFill>
            <a:srgbClr val="FCEFE3"/>
          </a:solidFill>
          <a:ln w="15875">
            <a:solidFill>
              <a:srgbClr val="F2994A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458200" y="44805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— Audible Alerts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31018" y="3419856"/>
            <a:ext cx="1188720" cy="1344168"/>
          </a:xfrm>
          <a:prstGeom prst="line">
            <a:avLst/>
          </a:prstGeom>
          <a:noFill/>
          <a:ln w="22225">
            <a:solidFill>
              <a:srgbClr val="F2994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937760" y="46634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5875">
            <a:solidFill>
              <a:srgbClr val="1C7293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83480" y="4663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Module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(on-board)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080760" y="3886200"/>
            <a:ext cx="0" cy="777240"/>
          </a:xfrm>
          <a:prstGeom prst="line">
            <a:avLst/>
          </a:prstGeom>
          <a:noFill/>
          <a:ln w="22225">
            <a:solidFill>
              <a:srgbClr val="0B355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91497" y="5084354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6FCF97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44474" y="5113383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/ MQTT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 flipH="1">
            <a:off x="5425439" y="5120785"/>
            <a:ext cx="1145178" cy="57333"/>
          </a:xfrm>
          <a:prstGeom prst="line">
            <a:avLst/>
          </a:prstGeom>
          <a:noFill/>
          <a:ln w="22225">
            <a:solidFill>
              <a:srgbClr val="6FCF97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121469" y="512064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6FCF97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8167189" y="51206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801429" y="5504688"/>
            <a:ext cx="320040" cy="0"/>
          </a:xfrm>
          <a:prstGeom prst="line">
            <a:avLst/>
          </a:prstGeom>
          <a:noFill/>
          <a:ln w="22225">
            <a:solidFill>
              <a:srgbClr val="6FCF97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0265954" y="5149669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6FCF97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311674" y="5149669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Caregiver's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945914" y="5533717"/>
            <a:ext cx="320040" cy="0"/>
          </a:xfrm>
          <a:prstGeom prst="line">
            <a:avLst/>
          </a:prstGeom>
          <a:noFill/>
          <a:ln w="22225">
            <a:solidFill>
              <a:srgbClr val="6FCF97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sensor inputs and actuator outputs are coordinated by a single ESP32, which also pushes real-time alerts to the caregiver over Wi-Fi.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Implementation — Medicine Reminder &amp; Dispenser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3000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2322576"/>
            <a:ext cx="521208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 (DS3231)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scheduled dose time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423160" y="2971800"/>
            <a:ext cx="4297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852928" y="201168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CEFE3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47288" y="2240280"/>
            <a:ext cx="685800" cy="6858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232257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Logic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44368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time to schedule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27448" y="2971800"/>
            <a:ext cx="4297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157216" y="201168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51576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872" y="2322576"/>
            <a:ext cx="521208" cy="5212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48656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48656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Rotates dispenser compartment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031736" y="2971800"/>
            <a:ext cx="4297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7461504" y="201168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FCEFE3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55864" y="2240280"/>
            <a:ext cx="685800" cy="6858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322576"/>
            <a:ext cx="521208" cy="5212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552944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OLED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552944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 for medicine" alert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9336024" y="2971800"/>
            <a:ext cx="429768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9765792" y="2011680"/>
            <a:ext cx="1874520" cy="1920240"/>
          </a:xfrm>
          <a:prstGeom prst="roundRect">
            <a:avLst>
              <a:gd name="adj" fmla="val 4878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360152" y="224028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2448" y="2322576"/>
            <a:ext cx="521208" cy="5212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857232" y="3017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Button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857232" y="33832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confirms dose taken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48640" y="434340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B3554"/>
          </a:solidFill>
          <a:ln/>
        </p:spPr>
      </p:sp>
      <p:sp>
        <p:nvSpPr>
          <p:cNvPr id="33" name="Shape 26"/>
          <p:cNvSpPr/>
          <p:nvPr/>
        </p:nvSpPr>
        <p:spPr>
          <a:xfrm>
            <a:off x="777240" y="4507992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077" y="4573829"/>
            <a:ext cx="416966" cy="41696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1508760" y="443484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missed: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button is not pressed within a configurable window (e.g. 10 minutes) after the buzzer sounds, the ESP32 sends a "missed dose" notification to the caregiver's phone over Wi-Fi (Telegram/SMS), without making any medical judgement about the patient's condition.</a:t>
            </a:r>
            <a:endParaRPr lang="en-US" sz="1250" dirty="0"/>
          </a:p>
        </p:txBody>
      </p:sp>
      <p:sp>
        <p:nvSpPr>
          <p:cNvPr id="36" name="Text 28"/>
          <p:cNvSpPr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count and dosing schedule are configurable via firmware before deployment for a specific patient.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Implementation — Comfort &amp; Safety Subsystem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EAF4F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1706270"/>
            <a:ext cx="382219" cy="38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Comfort Control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&lt; 45% RH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2537460"/>
            <a:ext cx="3200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520440" y="228600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Humidifier relay 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22960" y="288036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880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&gt; 60% RH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00400" y="3131820"/>
            <a:ext cx="3200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520440" y="28803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2880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Humidifier relay OFF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22960" y="347472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474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&gt; 28°C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0" y="3726180"/>
            <a:ext cx="3200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520440" y="347472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566160" y="3474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relay 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406908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&lt; 22°C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0" y="4320540"/>
            <a:ext cx="3200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520440" y="4069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566160" y="40690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Heater relay ON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822960" y="46634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68680" y="4663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level low (ultrasonic)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200400" y="4914900"/>
            <a:ext cx="32004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520440" y="466344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66160" y="4663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OLED refill alert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199632" y="1417320"/>
            <a:ext cx="5440680" cy="4754880"/>
          </a:xfrm>
          <a:prstGeom prst="roundRect">
            <a:avLst>
              <a:gd name="adj" fmla="val 1923"/>
            </a:avLst>
          </a:prstGeom>
          <a:solidFill>
            <a:srgbClr val="FCEFE3"/>
          </a:solidFill>
          <a:ln/>
        </p:spPr>
      </p:sp>
      <p:sp>
        <p:nvSpPr>
          <p:cNvPr id="33" name="Shape 30"/>
          <p:cNvSpPr/>
          <p:nvPr/>
        </p:nvSpPr>
        <p:spPr>
          <a:xfrm>
            <a:off x="6473952" y="164592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302" y="1706270"/>
            <a:ext cx="382219" cy="382219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14032" y="1691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Detection &amp; Emergency Flow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6492240" y="2331720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37" name="Text 33"/>
          <p:cNvSpPr/>
          <p:nvPr/>
        </p:nvSpPr>
        <p:spPr>
          <a:xfrm>
            <a:off x="649224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6903720" y="22768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continuously streams acceleration data to the ESP32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492240" y="3081528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0" name="Text 36"/>
          <p:cNvSpPr/>
          <p:nvPr/>
        </p:nvSpPr>
        <p:spPr>
          <a:xfrm>
            <a:off x="64922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6903720" y="3026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compares readings against a sudden-impact / free-fall threshold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492240" y="3831336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3" name="Text 39"/>
          <p:cNvSpPr/>
          <p:nvPr/>
        </p:nvSpPr>
        <p:spPr>
          <a:xfrm>
            <a:off x="6492240" y="3831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6903720" y="37764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exceeded  →  local buzzer sounds immediately</a:t>
            </a:r>
            <a:endParaRPr lang="en-US" sz="1150" dirty="0"/>
          </a:p>
        </p:txBody>
      </p:sp>
      <p:sp>
        <p:nvSpPr>
          <p:cNvPr id="45" name="Shape 41"/>
          <p:cNvSpPr/>
          <p:nvPr/>
        </p:nvSpPr>
        <p:spPr>
          <a:xfrm>
            <a:off x="6492240" y="4581144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6" name="Text 42"/>
          <p:cNvSpPr/>
          <p:nvPr/>
        </p:nvSpPr>
        <p:spPr>
          <a:xfrm>
            <a:off x="6492240" y="4581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6903720" y="45262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push-button available for manual trigger at any time</a:t>
            </a:r>
            <a:endParaRPr lang="en-US" sz="1150" dirty="0"/>
          </a:p>
        </p:txBody>
      </p:sp>
      <p:sp>
        <p:nvSpPr>
          <p:cNvPr id="48" name="Shape 44"/>
          <p:cNvSpPr/>
          <p:nvPr/>
        </p:nvSpPr>
        <p:spPr>
          <a:xfrm>
            <a:off x="6492240" y="5330952"/>
            <a:ext cx="274320" cy="2743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49" name="Text 45"/>
          <p:cNvSpPr/>
          <p:nvPr/>
        </p:nvSpPr>
        <p:spPr>
          <a:xfrm>
            <a:off x="6492240" y="5330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6903720" y="52760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sends a Wi-Fi alert (Telegram/SMS) with a timestamp to the caregiver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52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Implementation — 3D View of the Final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4023360"/>
          </a:xfrm>
          <a:prstGeom prst="roundRect">
            <a:avLst>
              <a:gd name="adj" fmla="val 2273"/>
            </a:avLst>
          </a:prstGeom>
          <a:solidFill>
            <a:srgbClr val="EAF4F6"/>
          </a:solidFill>
          <a:ln w="19050">
            <a:solidFill>
              <a:srgbClr val="1C7293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5591556" y="169164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311" y="17903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2697480"/>
            <a:ext cx="9994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your hand-drawn sketch or CAD render here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0160" y="3246120"/>
            <a:ext cx="962863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slide is intentionally left as a template — the brief requires an original hand-drawn sketch or a 3D model made in Blender / Fusion 360 / SolidWorks, and explicitly excludes AI-generated images.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enclosure to house: ESP32 + wiring, OLED display window, pill-dispenser compartments with a rotating servo disk, DHT22 vent, buzzer, and an external emergency button.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key dimension (overall L × W × H, compartment diameter, vent openings) and annotate each major part.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5623560"/>
            <a:ext cx="2567178" cy="548640"/>
          </a:xfrm>
          <a:prstGeom prst="roundRect">
            <a:avLst>
              <a:gd name="adj" fmla="val 13333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" y="5623560"/>
            <a:ext cx="247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~180 × 120 × 90 mm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90138" y="5623560"/>
            <a:ext cx="2567178" cy="548640"/>
          </a:xfrm>
          <a:prstGeom prst="roundRect">
            <a:avLst>
              <a:gd name="adj" fmla="val 13333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435858" y="5623560"/>
            <a:ext cx="247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Dispenser disk: Ø90 mm, 4 compartments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31636" y="5623560"/>
            <a:ext cx="2567178" cy="548640"/>
          </a:xfrm>
          <a:prstGeom prst="roundRect">
            <a:avLst>
              <a:gd name="adj" fmla="val 13333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277356" y="5623560"/>
            <a:ext cx="247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window: 27 × 20 mm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073134" y="5623560"/>
            <a:ext cx="2567178" cy="548640"/>
          </a:xfrm>
          <a:prstGeom prst="roundRect">
            <a:avLst>
              <a:gd name="adj" fmla="val 13333"/>
            </a:avLst>
          </a:prstGeom>
          <a:solidFill>
            <a:srgbClr val="0B3554"/>
          </a:solidFill>
          <a:ln w="15875">
            <a:solidFill>
              <a:srgbClr val="0B3554"/>
            </a:solidFill>
            <a:prstDash val="solid"/>
          </a:ln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18854" y="5623560"/>
            <a:ext cx="2475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slots: 6 × Ø8 mm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1D53377-53EF-6E27-EA76-309F025BA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074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Components Used and Technologies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492240" cy="510235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controller — Wi-Fi + Bluetooth, runs all subsystem logic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temperature &amp; humidity sensing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 RTC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 real-time scheduling for medicine reminders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Micro Servo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Rotates the pill-dispenser compartment disk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+ Load Cell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Weighs the water bottle to track hydration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Monitors humidifier tank / bin fill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Accelerometer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sudden falls / impacts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MQ135 Gas Sensor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indoor air-quality sensing (optional)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0.96" OLED (I2C, SSD1306)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status dashboard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2-Channel Relay 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fan and humidifier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Audible reminders &amp; alarms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 trigger / dose confirmation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Ultrasonic Humidifier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 output actuator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 Fan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Cooling output actuator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269480" y="1371600"/>
            <a:ext cx="4370832" cy="4937760"/>
          </a:xfrm>
          <a:prstGeom prst="roundRect">
            <a:avLst>
              <a:gd name="adj" fmla="val 2092"/>
            </a:avLst>
          </a:prstGeom>
          <a:solidFill>
            <a:srgbClr val="EAF4F6"/>
          </a:solidFill>
          <a:ln/>
        </p:spPr>
      </p:sp>
      <p:sp>
        <p:nvSpPr>
          <p:cNvPr id="5" name="Text 2"/>
          <p:cNvSpPr/>
          <p:nvPr/>
        </p:nvSpPr>
        <p:spPr>
          <a:xfrm>
            <a:off x="7543800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543800" y="20116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2057766"/>
            <a:ext cx="291876" cy="2918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0" y="1984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C++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46720" y="22585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for ESP32</a:t>
            </a:r>
            <a:endParaRPr lang="en-US" sz="1000" dirty="0"/>
          </a:p>
        </p:txBody>
      </p:sp>
      <p:sp>
        <p:nvSpPr>
          <p:cNvPr id="3" name="Shape 6"/>
          <p:cNvSpPr/>
          <p:nvPr/>
        </p:nvSpPr>
        <p:spPr>
          <a:xfrm>
            <a:off x="7543800" y="26334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2679558"/>
            <a:ext cx="291876" cy="2918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46720" y="26060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&amp; One-Wire Protocols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046720" y="28803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OLED, RTC, and DHT22 communication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7543800" y="32552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3301350"/>
            <a:ext cx="291876" cy="29187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046720" y="322783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(built-in ESP32)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046720" y="35021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to internet services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543800" y="38770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3923142"/>
            <a:ext cx="291876" cy="29187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046720" y="384962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 / GSM SMS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8046720" y="412394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notification channel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7543800" y="44988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4544934"/>
            <a:ext cx="291876" cy="29187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46720" y="44714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Blynk / MQTT (optional)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8046720" y="474573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dashboard &amp; mobile monitoring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543800" y="51206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5166726"/>
            <a:ext cx="291876" cy="29187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046720" y="5093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360 / Blender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8046720" y="536752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3D design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7543800" y="57424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886" y="5788518"/>
            <a:ext cx="291876" cy="29187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046720" y="57150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/ Fritzing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8046720" y="5989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&amp; wiring diagrams</a:t>
            </a:r>
            <a:endParaRPr lang="en-US" sz="1000" dirty="0"/>
          </a:p>
        </p:txBody>
      </p:sp>
      <p:sp>
        <p:nvSpPr>
          <p:cNvPr id="34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35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Expected Budget (LKR)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current Sri Lankan electronics-retailer pricing (Duino.lk, Tronic.lk, Microchip.lk, RoboClub, Senith Electronics — mid-2026)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9283276"/>
              </p:ext>
            </p:extLst>
          </p:nvPr>
        </p:nvGraphicFramePr>
        <p:xfrm>
          <a:off x="548640" y="1275080"/>
          <a:ext cx="8595360" cy="5465064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 (LKR)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(LKR)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5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 Dev Board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DHT22 Sensor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DS3231 RTC Module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SG90 Micro Servo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HX711 + Load Cell (5 kg)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 Ultrasonic Sensor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MPU6050 Accelerometer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MQ135 Gas Sensor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0.96" OLED Display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2-Channel Relay Module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Buzzer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Ultrasonic Humidifier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12V DC Cooling Fan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Wires / Prototyping PCB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Enclosure Box (custom-cut)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5V/2A Power Adapter &amp; Wiring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Miscellaneous (solder, connectors)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30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028">
                <a:tc gridSpan="3"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10,840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028">
                <a:tc gridSpan="3"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(~10%)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163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4028">
                <a:tc gridSpan="3"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LKR 11,900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9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72600" y="1783080"/>
            <a:ext cx="2286000" cy="4572000"/>
          </a:xfrm>
          <a:prstGeom prst="roundRect">
            <a:avLst>
              <a:gd name="adj" fmla="val 4000"/>
            </a:avLst>
          </a:prstGeom>
          <a:solidFill>
            <a:srgbClr val="EAF4F6"/>
          </a:solidFill>
          <a:ln/>
        </p:spPr>
      </p:sp>
      <p:sp>
        <p:nvSpPr>
          <p:cNvPr id="6" name="Shape 3"/>
          <p:cNvSpPr/>
          <p:nvPr/>
        </p:nvSpPr>
        <p:spPr>
          <a:xfrm>
            <a:off x="960120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4" y="202082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7260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Notes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555480" y="2880360"/>
            <a:ext cx="1920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sourced from local SL electronics retailers, mid-2026.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per team (shared, not per student).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personal tools already owned (soldering iron, multimeter).</a:t>
            </a:r>
            <a:endParaRPr lang="en-US" sz="9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AliExpress imports are cheaper but add 2–4 week delivery and customs risk.</a:t>
            </a:r>
            <a:endParaRPr lang="en-US" sz="950" dirty="0"/>
          </a:p>
        </p:txBody>
      </p:sp>
      <p:sp>
        <p:nvSpPr>
          <p:cNvPr id="4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Work Distribution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 — each owns one sensor subsystem plus a shared hardware/software integration task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35454" cy="4480560"/>
          </a:xfrm>
          <a:prstGeom prst="roundRect">
            <a:avLst>
              <a:gd name="adj" fmla="val 4492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2035454" cy="777240"/>
          </a:xfrm>
          <a:prstGeom prst="rect">
            <a:avLst/>
          </a:prstGeom>
          <a:solidFill>
            <a:srgbClr val="0B3554"/>
          </a:solidFill>
          <a:ln/>
        </p:spPr>
      </p:sp>
      <p:sp>
        <p:nvSpPr>
          <p:cNvPr id="6" name="Shape 4"/>
          <p:cNvSpPr/>
          <p:nvPr/>
        </p:nvSpPr>
        <p:spPr>
          <a:xfrm>
            <a:off x="1314907" y="17373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258" y="179771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2316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743200"/>
            <a:ext cx="1815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Comfort Lead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329184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+ Relay/Fan/Humidifier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1520" y="3931920"/>
            <a:ext cx="1669694" cy="0"/>
          </a:xfrm>
          <a:prstGeom prst="line">
            <a:avLst/>
          </a:prstGeom>
          <a:noFill/>
          <a:ln w="9525">
            <a:solidFill>
              <a:srgbClr val="C7DE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4050792"/>
            <a:ext cx="18159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wiring &amp; relay safety · Software: threshold control logic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812694" y="1600200"/>
            <a:ext cx="2035454" cy="4480560"/>
          </a:xfrm>
          <a:prstGeom prst="roundRect">
            <a:avLst>
              <a:gd name="adj" fmla="val 4492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12694" y="1600200"/>
            <a:ext cx="2035454" cy="777240"/>
          </a:xfrm>
          <a:prstGeom prst="rect">
            <a:avLst/>
          </a:prstGeom>
          <a:solidFill>
            <a:srgbClr val="0B3554"/>
          </a:solidFill>
          <a:ln/>
        </p:spPr>
      </p:sp>
      <p:sp>
        <p:nvSpPr>
          <p:cNvPr id="15" name="Shape 12"/>
          <p:cNvSpPr/>
          <p:nvPr/>
        </p:nvSpPr>
        <p:spPr>
          <a:xfrm>
            <a:off x="3578962" y="17373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797710"/>
            <a:ext cx="382219" cy="3822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12694" y="242316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922422" y="2743200"/>
            <a:ext cx="1815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Adherence Lead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922422" y="329184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DS3231 RTC + Servo Dispenser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995574" y="3931920"/>
            <a:ext cx="1669694" cy="0"/>
          </a:xfrm>
          <a:prstGeom prst="line">
            <a:avLst/>
          </a:prstGeom>
          <a:noFill/>
          <a:ln w="9525">
            <a:solidFill>
              <a:srgbClr val="C7DEE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922422" y="4050792"/>
            <a:ext cx="18159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dispenser mechanism · Software: scheduling &amp; reminder firmware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5076749" y="1600200"/>
            <a:ext cx="2035454" cy="4480560"/>
          </a:xfrm>
          <a:prstGeom prst="roundRect">
            <a:avLst>
              <a:gd name="adj" fmla="val 4492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076749" y="1600200"/>
            <a:ext cx="2035454" cy="777240"/>
          </a:xfrm>
          <a:prstGeom prst="rect">
            <a:avLst/>
          </a:prstGeom>
          <a:solidFill>
            <a:srgbClr val="0B3554"/>
          </a:solidFill>
          <a:ln/>
        </p:spPr>
      </p:sp>
      <p:sp>
        <p:nvSpPr>
          <p:cNvPr id="24" name="Shape 20"/>
          <p:cNvSpPr/>
          <p:nvPr/>
        </p:nvSpPr>
        <p:spPr>
          <a:xfrm>
            <a:off x="5843016" y="17373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1797710"/>
            <a:ext cx="382219" cy="382219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076749" y="242316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186477" y="2743200"/>
            <a:ext cx="1815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 Monitoring Lead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5186477" y="329184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HX711 + Load Cell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5259629" y="3931920"/>
            <a:ext cx="1669694" cy="0"/>
          </a:xfrm>
          <a:prstGeom prst="line">
            <a:avLst/>
          </a:prstGeom>
          <a:noFill/>
          <a:ln w="9525">
            <a:solidFill>
              <a:srgbClr val="C7DEE3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186477" y="4050792"/>
            <a:ext cx="18159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bottle-platform mount · Software: weight calibration &amp; alerts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340803" y="1600200"/>
            <a:ext cx="2035454" cy="4480560"/>
          </a:xfrm>
          <a:prstGeom prst="roundRect">
            <a:avLst>
              <a:gd name="adj" fmla="val 4492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7340803" y="1600200"/>
            <a:ext cx="2035454" cy="777240"/>
          </a:xfrm>
          <a:prstGeom prst="rect">
            <a:avLst/>
          </a:prstGeom>
          <a:solidFill>
            <a:srgbClr val="0B3554"/>
          </a:solidFill>
          <a:ln/>
        </p:spPr>
      </p:sp>
      <p:sp>
        <p:nvSpPr>
          <p:cNvPr id="33" name="Shape 28"/>
          <p:cNvSpPr/>
          <p:nvPr/>
        </p:nvSpPr>
        <p:spPr>
          <a:xfrm>
            <a:off x="8107070" y="17373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421" y="1797710"/>
            <a:ext cx="382219" cy="382219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40803" y="242316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50531" y="2743200"/>
            <a:ext cx="1815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Emergency Lead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7450531" y="329184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 + Push Button + HC-SR04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523683" y="3931920"/>
            <a:ext cx="1669694" cy="0"/>
          </a:xfrm>
          <a:prstGeom prst="line">
            <a:avLst/>
          </a:prstGeom>
          <a:noFill/>
          <a:ln w="9525">
            <a:solidFill>
              <a:srgbClr val="C7DEE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7450531" y="4050792"/>
            <a:ext cx="18159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sensor placement · Software: fall-detection threshold tuning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9604858" y="1600200"/>
            <a:ext cx="2035454" cy="4480560"/>
          </a:xfrm>
          <a:prstGeom prst="roundRect">
            <a:avLst>
              <a:gd name="adj" fmla="val 4492"/>
            </a:avLst>
          </a:prstGeom>
          <a:solidFill>
            <a:srgbClr val="EAF4F6"/>
          </a:solidFill>
          <a:ln/>
          <a:effectLst>
            <a:outerShdw blurRad="508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9604858" y="1600200"/>
            <a:ext cx="2035454" cy="777240"/>
          </a:xfrm>
          <a:prstGeom prst="rect">
            <a:avLst/>
          </a:prstGeom>
          <a:solidFill>
            <a:srgbClr val="0B3554"/>
          </a:solidFill>
          <a:ln/>
        </p:spPr>
      </p:sp>
      <p:sp>
        <p:nvSpPr>
          <p:cNvPr id="42" name="Shape 36"/>
          <p:cNvSpPr/>
          <p:nvPr/>
        </p:nvSpPr>
        <p:spPr>
          <a:xfrm>
            <a:off x="10371125" y="173736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1475" y="1797710"/>
            <a:ext cx="382219" cy="382219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604858" y="2423160"/>
            <a:ext cx="20354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35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9714586" y="2743200"/>
            <a:ext cx="18159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IoT Lead</a:t>
            </a:r>
            <a:endParaRPr lang="en-US" sz="1050" dirty="0"/>
          </a:p>
        </p:txBody>
      </p:sp>
      <p:sp>
        <p:nvSpPr>
          <p:cNvPr id="46" name="Text 39"/>
          <p:cNvSpPr/>
          <p:nvPr/>
        </p:nvSpPr>
        <p:spPr>
          <a:xfrm>
            <a:off x="9714586" y="3291840"/>
            <a:ext cx="18159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core + OLED + Wi-Fi</a:t>
            </a:r>
            <a:endParaRPr lang="en-US" sz="950" dirty="0"/>
          </a:p>
        </p:txBody>
      </p:sp>
      <p:sp>
        <p:nvSpPr>
          <p:cNvPr id="47" name="Shape 40"/>
          <p:cNvSpPr/>
          <p:nvPr/>
        </p:nvSpPr>
        <p:spPr>
          <a:xfrm>
            <a:off x="9787738" y="3931920"/>
            <a:ext cx="1669694" cy="0"/>
          </a:xfrm>
          <a:prstGeom prst="line">
            <a:avLst/>
          </a:prstGeom>
          <a:noFill/>
          <a:ln w="9525">
            <a:solidFill>
              <a:srgbClr val="C7DEE3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9714586" y="4050792"/>
            <a:ext cx="181599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Hardware: enclosure assembly · Software: Telegram/SMS alerts, system integration, testing</a:t>
            </a:r>
            <a:endParaRPr lang="en-US" sz="900" dirty="0"/>
          </a:p>
        </p:txBody>
      </p:sp>
      <p:sp>
        <p:nvSpPr>
          <p:cNvPr id="49" name="Text 42"/>
          <p:cNvSpPr/>
          <p:nvPr/>
        </p:nvSpPr>
        <p:spPr>
          <a:xfrm>
            <a:off x="548640" y="62179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members jointly contribute to documentation, testing, and the final demonstration.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51" name="Text 4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Project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14-week, one-semester schedule — realistic for a 5-member team; moderate scope, not oversized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60120" y="1691640"/>
            <a:ext cx="0" cy="40233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9344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554480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55448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1–2: Literature review, requirement study, component procurement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956816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956816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3–4: Individual sensor breadboard prototyping &amp; unit testing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14016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25880" y="2359152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2359152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5–6: Actuator wiring and control-logic coding per subsystem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816352"/>
            <a:ext cx="274320" cy="27432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2761488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FCEFE3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2761488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7: Mid-progress review — individual subsystem demos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218688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3163824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1463040" y="3163824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8–9: Full system integration on a single ESP32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3621024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5880" y="3566160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22" name="Text 20"/>
          <p:cNvSpPr/>
          <p:nvPr/>
        </p:nvSpPr>
        <p:spPr>
          <a:xfrm>
            <a:off x="1463040" y="3566160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10: Wi-Fi / Telegram / SMS notification 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" y="4023360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3968496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25" name="Text 23"/>
          <p:cNvSpPr/>
          <p:nvPr/>
        </p:nvSpPr>
        <p:spPr>
          <a:xfrm>
            <a:off x="1463040" y="3968496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11: Enclosure design, assembly &amp; wiring clean-up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4425696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4370832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1463040" y="4370832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12: End-to-end testing, calibration, bug-fixing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828032"/>
            <a:ext cx="274320" cy="27432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25880" y="4773168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EA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4773168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13: Report and documentation writing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5230368"/>
            <a:ext cx="274320" cy="274320"/>
          </a:xfrm>
          <a:prstGeom prst="ellipse">
            <a:avLst/>
          </a:prstGeom>
          <a:solidFill>
            <a:srgbClr val="F29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25880" y="5175504"/>
            <a:ext cx="10040112" cy="347472"/>
          </a:xfrm>
          <a:prstGeom prst="roundRect">
            <a:avLst>
              <a:gd name="adj" fmla="val 13158"/>
            </a:avLst>
          </a:prstGeom>
          <a:solidFill>
            <a:srgbClr val="FCEFE3"/>
          </a:solidFill>
          <a:ln/>
        </p:spPr>
      </p:sp>
      <p:sp>
        <p:nvSpPr>
          <p:cNvPr id="34" name="Text 32"/>
          <p:cNvSpPr/>
          <p:nvPr/>
        </p:nvSpPr>
        <p:spPr>
          <a:xfrm>
            <a:off x="1463040" y="5175504"/>
            <a:ext cx="9765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14: Final demonstration &amp; viva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35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Systems, "ESP32 Series Datasheet," Espressif Systems, 2023.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Aosong Electronics, "AM2302/DHT22 Digital Temperature and Humidity Sensor Datasheet."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Devices (Maxim Integrated), "DS3231 Extremely Accurate I²C-Integrated RTC/TCXO/Crystal Datasheet."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 Semiconductor, "HX711 24-Bit Analog-to-Digital Converter for Weigh Scales Datasheet."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Ahmad, H. M. Kaidi, M. N. Nordin, A. F. Ramli, M. A. Abu, and Y. Kadase, "Development of Blood Oxygen Level, Heart Rate and Temperature Monitoring System by Using ESP32," in Proc. ICSSA, IEEE, 2022, pp. 167–172.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G. T. Isa, M. I. Ammarullah, A. Efendi, Y. S. Nugroho, H. Nasrullah, and M. P. Sari, "Constructing an elderly health monitoring system using fuzzy rules and Internet of Things," AIP Advances, vol. 14, no. 5, 2024.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Rupasinghe and I. Maduranga, "IoT-based elderly activity monitoring system to support ambient assisted living," as cited in: IoT-Based Elderly Health Monitoring System Using Firebase Cloud Computing, PMC, 2024.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IJRASET, "IoT Based Smart Medical Kit Using ESP32," International Journal for Research in Applied Science &amp; Engineering Technology, 2025.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6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Xplore, "IOT-Based Wireless Patient Monitor Using ESP32 Microcontroller," IEEE Conference Publication, 2024.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 Companion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C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Recovery Companion</dc:title>
  <dc:subject>PptxGenJS Presentation</dc:subject>
  <dc:creator>B25 FIT Level 01 Project Group</dc:creator>
  <cp:lastModifiedBy>B25 FIT Level 01 Project Group</cp:lastModifiedBy>
  <cp:revision>18</cp:revision>
  <dcterms:created xsi:type="dcterms:W3CDTF">2026-07-05T14:18:33Z</dcterms:created>
  <dcterms:modified xsi:type="dcterms:W3CDTF">2026-07-05T14:40:05Z</dcterms:modified>
</cp:coreProperties>
</file>
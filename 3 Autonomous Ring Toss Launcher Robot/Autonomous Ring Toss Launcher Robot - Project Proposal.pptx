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B25 FIT — LEVEL 01 PROJECT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Ring Toss Launcher Robot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IoT-Enabled, Vision-Guided Precision Launching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154680"/>
            <a:ext cx="10515600" cy="0"/>
          </a:xfrm>
          <a:prstGeom prst="line">
            <a:avLst/>
          </a:prstGeom>
          <a:noFill/>
          <a:ln w="12700">
            <a:solidFill>
              <a:srgbClr val="3A4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337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Programme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(Hons) in Information Technology / Information Technology &amp;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63640" y="33375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63640" y="361188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[Supervisor Name]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5720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254037B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965960" y="45720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CHAMIDYA J.A.S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257800" y="45720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90118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254048J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965960" y="490118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SILVA P.S.S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57800" y="490118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2303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255078H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965960" y="52303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OMESH N.A.N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57800" y="52303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(ITM)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55955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254101R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965960" y="555955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KALANSOORIYA O.K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257800" y="55595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8887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255027D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965960" y="588873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GOONATILLAKA W.A.D.S.S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257800" y="58887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(ITM)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toss is a classic precision game that traditionally depends on human aim and consistency. This project introduces an autonomous ring-toss launcher robot that fuses mechanical design, embedded control, and computer vision to consistently and safely land rings on a target peg.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297180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integrates a dual-flywheel launching mechanism, a motorised pan-tilt aiming base, and a companion computer running real-time object detection, all coordinated through a low-level microcontroller. A mobile dashboard enables both fully autonomous operation and manual override, making the platform suitable for demonstration, competition, and further research into robotic targeting.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1417320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1527048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0" y="15819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Subsystems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0" y="2039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· Electronic · AI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35240" y="2898648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3008376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9144000" y="3063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0" y="3520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roles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35240" y="4379976"/>
            <a:ext cx="4114800" cy="1234440"/>
          </a:xfrm>
          <a:prstGeom prst="roundRect">
            <a:avLst>
              <a:gd name="adj" fmla="val 5926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4489704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144000" y="4544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Development Timeline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0" y="5001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 demonstration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77295" cy="1051560"/>
          </a:xfrm>
          <a:prstGeom prst="roundRect">
            <a:avLst>
              <a:gd name="adj" fmla="val 6087"/>
            </a:avLst>
          </a:prstGeom>
          <a:solidFill>
            <a:srgbClr val="1E2A3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75564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design, build, and demonstrate an autonomous ring-toss launcher robot capable of detecting a target peg, calculating the required trajectory, and consistently landing rings on the target with minimal human intervention.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306324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3063240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reliable dual-flywheel launching mechanism with a controlled ring-feeding system.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306324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306324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3063240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2-axis pan-tilt aiming platform driven by high-torque stepper motors.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411480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114800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real-time computer vision to detect the target and estimate distance.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411480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086600" y="4114800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low-level firmware with closed-loop PID control for flywheel RPM and aiming accuracy.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516636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16636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25880" y="5166360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safety interlock system to prevent accidental injury during operation.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516636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5166360"/>
            <a:ext cx="640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C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86600" y="5166360"/>
            <a:ext cx="4434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mobile/web dashboard for manual control, telemetry, and mode switching.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Proposed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5440680" cy="4709160"/>
          </a:xfrm>
          <a:prstGeom prst="roundRect">
            <a:avLst>
              <a:gd name="adj" fmla="val 1359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459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5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5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21488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ring-toss aiming is inconsistent and heavily skill-dependent.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5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301752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toy launchers lack sensing, feedback, or safety mechanisms.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5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8862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affordable platform combines precision mechanics with autonomous targeting for educational demonstration.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75488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55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47548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manual tuning is required whenever distance or environment changes.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417320"/>
            <a:ext cx="5440680" cy="4709160"/>
          </a:xfrm>
          <a:prstGeom prst="roundRect">
            <a:avLst>
              <a:gd name="adj" fmla="val 1359"/>
            </a:avLst>
          </a:prstGeom>
          <a:solidFill>
            <a:srgbClr val="1E2A38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64592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214884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12280" y="21488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IoT-enabled robot that autonomously detects the target using computer vision and LiDAR.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301752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301752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control ensures consistent flywheel speed and aiming angle for every shot.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388620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12280" y="38862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safety tripwire disables the launcher automatically if a person enters the firing path.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4754880"/>
            <a:ext cx="274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47548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operation (autonomous + manual) via a companion app, with live telemetry.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Block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line = data / control signal      Dashed line = power supply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09160" y="896112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1E2A38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00600" y="896112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Web Dashboard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control + live telemetry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1810512"/>
            <a:ext cx="2743200" cy="1024128"/>
          </a:xfrm>
          <a:prstGeom prst="roundRect">
            <a:avLst>
              <a:gd name="adj" fmla="val 5357"/>
            </a:avLst>
          </a:prstGeom>
          <a:solidFill>
            <a:srgbClr val="1E2A38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810512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AI Targeting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3090672"/>
            <a:ext cx="2743200" cy="1024128"/>
          </a:xfrm>
          <a:prstGeom prst="roundRect">
            <a:avLst>
              <a:gd name="adj" fmla="val 5357"/>
            </a:avLst>
          </a:prstGeom>
          <a:solidFill>
            <a:srgbClr val="1E2A38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3090672"/>
            <a:ext cx="2560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Microcontroller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Control · PID · Motion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09160" y="4370832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3A4B5F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43708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 PCB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+ E-Stop + Voltage Regulators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5212080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3A4B5F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52120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Battery Pack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Power Source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581912"/>
            <a:ext cx="0" cy="228600"/>
          </a:xfrm>
          <a:prstGeom prst="line">
            <a:avLst/>
          </a:prstGeom>
          <a:noFill/>
          <a:ln w="19050">
            <a:solidFill>
              <a:srgbClr val="3E7CB1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80760" y="2834640"/>
            <a:ext cx="0" cy="256032"/>
          </a:xfrm>
          <a:prstGeom prst="line">
            <a:avLst/>
          </a:prstGeom>
          <a:noFill/>
          <a:ln w="19050">
            <a:solidFill>
              <a:srgbClr val="3E7CB1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6080760" y="4114800"/>
            <a:ext cx="0" cy="256032"/>
          </a:xfrm>
          <a:prstGeom prst="line">
            <a:avLst/>
          </a:prstGeom>
          <a:noFill/>
          <a:ln w="19050">
            <a:solidFill>
              <a:srgbClr val="6B7684"/>
            </a:solidFill>
            <a:prstDash val="dash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6080760" y="5029200"/>
            <a:ext cx="0" cy="182880"/>
          </a:xfrm>
          <a:prstGeom prst="line">
            <a:avLst/>
          </a:prstGeom>
          <a:noFill/>
          <a:ln w="19050">
            <a:solidFill>
              <a:srgbClr val="6B7684"/>
            </a:solidFill>
            <a:prstDash val="dash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498080" y="28163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/ SPI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914400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9144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Module 3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12MP — visual target detection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20440" y="1257300"/>
            <a:ext cx="1188720" cy="1065276"/>
          </a:xfrm>
          <a:prstGeom prst="line">
            <a:avLst/>
          </a:prstGeom>
          <a:noFill/>
          <a:ln w="15875">
            <a:solidFill>
              <a:srgbClr val="6B768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" y="1920240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192024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TF-Luna LiDAR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to target (0.2–8 m)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20440" y="2263140"/>
            <a:ext cx="1188720" cy="59436"/>
          </a:xfrm>
          <a:prstGeom prst="line">
            <a:avLst/>
          </a:prstGeom>
          <a:noFill/>
          <a:ln w="15875">
            <a:solidFill>
              <a:srgbClr val="6B7684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" y="2926080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92608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Break-Beam Sensor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ring exit / feed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20440" y="3268980"/>
            <a:ext cx="1188720" cy="333756"/>
          </a:xfrm>
          <a:prstGeom prst="line">
            <a:avLst/>
          </a:prstGeom>
          <a:noFill/>
          <a:ln w="15875">
            <a:solidFill>
              <a:srgbClr val="6B768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7200" y="3931920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319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Encoders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 RPM feedback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flipV="1">
            <a:off x="3520440" y="3602736"/>
            <a:ext cx="1188720" cy="672084"/>
          </a:xfrm>
          <a:prstGeom prst="line">
            <a:avLst/>
          </a:prstGeom>
          <a:noFill/>
          <a:ln w="15875">
            <a:solidFill>
              <a:srgbClr val="6B7684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7200" y="4937760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FBEDE6"/>
          </a:solidFill>
          <a:ln w="15875">
            <a:solidFill>
              <a:srgbClr val="B554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93776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Tripwire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interlock sensor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 flipV="1">
            <a:off x="3520440" y="3602736"/>
            <a:ext cx="1188720" cy="1677924"/>
          </a:xfrm>
          <a:prstGeom prst="line">
            <a:avLst/>
          </a:prstGeom>
          <a:noFill/>
          <a:ln w="22225">
            <a:solidFill>
              <a:srgbClr val="B5542B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641080" y="1371600"/>
            <a:ext cx="3063240" cy="822960"/>
          </a:xfrm>
          <a:prstGeom prst="roundRect">
            <a:avLst>
              <a:gd name="adj" fmla="val 6667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32520" y="13716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 Launch Motors (×2)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Brushless DC + 30A ESC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 flipV="1">
            <a:off x="7452360" y="1783080"/>
            <a:ext cx="1188720" cy="1819656"/>
          </a:xfrm>
          <a:prstGeom prst="line">
            <a:avLst/>
          </a:prstGeom>
          <a:noFill/>
          <a:ln w="15875">
            <a:solidFill>
              <a:srgbClr val="3E7CB1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641080" y="2926080"/>
            <a:ext cx="3063240" cy="822960"/>
          </a:xfrm>
          <a:prstGeom prst="roundRect">
            <a:avLst>
              <a:gd name="adj" fmla="val 6667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32520" y="29260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Pan-Tilt Gimbal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NEMA17 Stepper + Driver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 flipV="1">
            <a:off x="7452360" y="3337560"/>
            <a:ext cx="1188720" cy="265176"/>
          </a:xfrm>
          <a:prstGeom prst="line">
            <a:avLst/>
          </a:prstGeom>
          <a:noFill/>
          <a:ln w="15875">
            <a:solidFill>
              <a:srgbClr val="3E7CB1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641080" y="4480560"/>
            <a:ext cx="3063240" cy="822960"/>
          </a:xfrm>
          <a:prstGeom prst="roundRect">
            <a:avLst>
              <a:gd name="adj" fmla="val 6667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32520" y="44805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Feeder Servo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MG996R — feeds one ring per shot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52360" y="3602736"/>
            <a:ext cx="1188720" cy="1289304"/>
          </a:xfrm>
          <a:prstGeom prst="line">
            <a:avLst/>
          </a:prstGeom>
          <a:noFill/>
          <a:ln w="15875">
            <a:solidFill>
              <a:srgbClr val="3E7CB1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641080" y="6062472"/>
            <a:ext cx="457200" cy="0"/>
          </a:xfrm>
          <a:prstGeom prst="line">
            <a:avLst/>
          </a:prstGeom>
          <a:noFill/>
          <a:ln w="1905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9189720" y="5916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control signal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641080" y="6336792"/>
            <a:ext cx="457200" cy="0"/>
          </a:xfrm>
          <a:prstGeom prst="line">
            <a:avLst/>
          </a:prstGeom>
          <a:noFill/>
          <a:ln w="19050">
            <a:solidFill>
              <a:srgbClr val="6B7684"/>
            </a:solidFill>
            <a:prstDash val="dash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9189720" y="6190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supply line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power-on to power-off — one complete firing cycle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457200" cy="457200"/>
          </a:xfrm>
          <a:prstGeom prst="ellipse">
            <a:avLst/>
          </a:prstGeom>
          <a:solidFill>
            <a:srgbClr val="1E2A3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51560" y="1417320"/>
            <a:ext cx="4800600" cy="786384"/>
          </a:xfrm>
          <a:prstGeom prst="roundRect">
            <a:avLst>
              <a:gd name="adj" fmla="val 5814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417320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ON 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engaged; PDB initialises regulated rails; ESP32 and Pi 5 boot.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203704"/>
            <a:ext cx="0" cy="146304"/>
          </a:xfrm>
          <a:prstGeom prst="line">
            <a:avLst/>
          </a:prstGeom>
          <a:noFill/>
          <a:ln w="15875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514600"/>
            <a:ext cx="457200" cy="457200"/>
          </a:xfrm>
          <a:prstGeom prst="ellipse">
            <a:avLst/>
          </a:prstGeom>
          <a:solidFill>
            <a:srgbClr val="1E2A3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51560" y="2350008"/>
            <a:ext cx="4800600" cy="786384"/>
          </a:xfrm>
          <a:prstGeom prst="roundRect">
            <a:avLst>
              <a:gd name="adj" fmla="val 5814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350008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runs sensor &amp; motor diagnostics; safety tripwire armed.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136392"/>
            <a:ext cx="0" cy="146304"/>
          </a:xfrm>
          <a:prstGeom prst="line">
            <a:avLst/>
          </a:prstGeom>
          <a:noFill/>
          <a:ln w="15875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3447288"/>
            <a:ext cx="457200" cy="457200"/>
          </a:xfrm>
          <a:prstGeom prst="ellipse">
            <a:avLst/>
          </a:prstGeom>
          <a:solidFill>
            <a:srgbClr val="1E2A3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051560" y="3282696"/>
            <a:ext cx="4800600" cy="786384"/>
          </a:xfrm>
          <a:prstGeom prst="roundRect">
            <a:avLst>
              <a:gd name="adj" fmla="val 5814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282696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 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chooses Autonomous or Manual mode on the dashboard.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069080"/>
            <a:ext cx="0" cy="146304"/>
          </a:xfrm>
          <a:prstGeom prst="line">
            <a:avLst/>
          </a:prstGeom>
          <a:noFill/>
          <a:ln w="15875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4379976"/>
            <a:ext cx="457200" cy="457200"/>
          </a:xfrm>
          <a:prstGeom prst="ellipse">
            <a:avLst/>
          </a:prstGeom>
          <a:solidFill>
            <a:srgbClr val="1E2A3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1560" y="4215384"/>
            <a:ext cx="4800600" cy="786384"/>
          </a:xfrm>
          <a:prstGeom prst="roundRect">
            <a:avLst>
              <a:gd name="adj" fmla="val 5814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4215384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Acquisition 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LiDAR locate the peg (Auto) or operator aims manually.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5001768"/>
            <a:ext cx="0" cy="146304"/>
          </a:xfrm>
          <a:prstGeom prst="line">
            <a:avLst/>
          </a:prstGeom>
          <a:noFill/>
          <a:ln w="15875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" y="5312664"/>
            <a:ext cx="457200" cy="457200"/>
          </a:xfrm>
          <a:prstGeom prst="ellipse">
            <a:avLst/>
          </a:prstGeom>
          <a:solidFill>
            <a:srgbClr val="1E2A38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51560" y="5148072"/>
            <a:ext cx="4800600" cy="786384"/>
          </a:xfrm>
          <a:prstGeom prst="roundRect">
            <a:avLst>
              <a:gd name="adj" fmla="val 5814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5148072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 Calc. 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computes required flywheel RPM and tilt angle.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1581912"/>
            <a:ext cx="457200" cy="457200"/>
          </a:xfrm>
          <a:prstGeom prst="ellipse">
            <a:avLst/>
          </a:prstGeom>
          <a:solidFill>
            <a:srgbClr val="1E2A38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949440" y="1417320"/>
            <a:ext cx="4800600" cy="786384"/>
          </a:xfrm>
          <a:prstGeom prst="roundRect">
            <a:avLst>
              <a:gd name="adj" fmla="val 5814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1417320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Pan-tilt gimbal rotates to the calculated bearing and elevation.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83680" y="2203704"/>
            <a:ext cx="0" cy="146304"/>
          </a:xfrm>
          <a:prstGeom prst="line">
            <a:avLst/>
          </a:prstGeom>
          <a:noFill/>
          <a:ln w="15875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355080" y="2514600"/>
            <a:ext cx="457200" cy="457200"/>
          </a:xfrm>
          <a:prstGeom prst="ellipse">
            <a:avLst/>
          </a:prstGeom>
          <a:solidFill>
            <a:srgbClr val="1E2A38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949440" y="2350008"/>
            <a:ext cx="4800600" cy="786384"/>
          </a:xfrm>
          <a:prstGeom prst="roundRect">
            <a:avLst>
              <a:gd name="adj" fmla="val 5814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0" y="2350008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Spin-Up 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 motors reach target RPM, confirmed by encoder feedback.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583680" y="3136392"/>
            <a:ext cx="0" cy="146304"/>
          </a:xfrm>
          <a:prstGeom prst="line">
            <a:avLst/>
          </a:prstGeom>
          <a:noFill/>
          <a:ln w="15875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355080" y="3447288"/>
            <a:ext cx="457200" cy="457200"/>
          </a:xfrm>
          <a:prstGeom prst="ellipse">
            <a:avLst/>
          </a:prstGeom>
          <a:solidFill>
            <a:srgbClr val="1E2A38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949440" y="3282696"/>
            <a:ext cx="4800600" cy="786384"/>
          </a:xfrm>
          <a:prstGeom prst="roundRect">
            <a:avLst>
              <a:gd name="adj" fmla="val 5814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0" y="3282696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&amp; Fire 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Feeder servo pushes a ring in; IR sensor confirms ring exit.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583680" y="4069080"/>
            <a:ext cx="0" cy="146304"/>
          </a:xfrm>
          <a:prstGeom prst="line">
            <a:avLst/>
          </a:prstGeom>
          <a:noFill/>
          <a:ln w="15875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355080" y="4379976"/>
            <a:ext cx="457200" cy="457200"/>
          </a:xfrm>
          <a:prstGeom prst="ellipse">
            <a:avLst/>
          </a:prstGeom>
          <a:solidFill>
            <a:srgbClr val="1E2A38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949440" y="4215384"/>
            <a:ext cx="4800600" cy="786384"/>
          </a:xfrm>
          <a:prstGeom prst="roundRect">
            <a:avLst>
              <a:gd name="adj" fmla="val 5814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32320" y="4215384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Update 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count, RPM and battery level sent to the dashboard.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6583680" y="5001768"/>
            <a:ext cx="0" cy="146304"/>
          </a:xfrm>
          <a:prstGeom prst="line">
            <a:avLst/>
          </a:prstGeom>
          <a:noFill/>
          <a:ln w="15875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355080" y="5312664"/>
            <a:ext cx="457200" cy="457200"/>
          </a:xfrm>
          <a:prstGeom prst="ellipse">
            <a:avLst/>
          </a:prstGeom>
          <a:solidFill>
            <a:srgbClr val="1E2A38"/>
          </a:solidFill>
          <a:ln/>
        </p:spPr>
      </p:sp>
      <p:sp>
        <p:nvSpPr>
          <p:cNvPr id="49" name="Text 47"/>
          <p:cNvSpPr/>
          <p:nvPr/>
        </p:nvSpPr>
        <p:spPr>
          <a:xfrm>
            <a:off x="6355080" y="5312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949440" y="5148072"/>
            <a:ext cx="4800600" cy="786384"/>
          </a:xfrm>
          <a:prstGeom prst="roundRect">
            <a:avLst>
              <a:gd name="adj" fmla="val 5814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2320" y="5148072"/>
            <a:ext cx="4480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/ Power OFF  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to Step 3 for the next shot, or shut down safely.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85800" y="5934456"/>
            <a:ext cx="5897880" cy="0"/>
          </a:xfrm>
          <a:prstGeom prst="line">
            <a:avLst/>
          </a:prstGeom>
          <a:noFill/>
          <a:ln w="15875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457200" y="5989320"/>
            <a:ext cx="11277295" cy="566928"/>
          </a:xfrm>
          <a:prstGeom prst="roundRect">
            <a:avLst>
              <a:gd name="adj" fmla="val 9677"/>
            </a:avLst>
          </a:prstGeom>
          <a:solidFill>
            <a:srgbClr val="1E2A38"/>
          </a:solidFill>
          <a:ln/>
        </p:spPr>
      </p:sp>
      <p:sp>
        <p:nvSpPr>
          <p:cNvPr id="54" name="Text 52"/>
          <p:cNvSpPr/>
          <p:nvPr/>
        </p:nvSpPr>
        <p:spPr>
          <a:xfrm>
            <a:off x="731520" y="5989320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detected at 2.4 m  →  tilt angle 18°  →  flywheel speed 3,200 RPM  →  ring launched  →  lands within 10 cm of the peg.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Hand-Drawn System Sketch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sketch — to be inserted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543032" cy="4892040"/>
          </a:xfrm>
          <a:prstGeom prst="roundRect">
            <a:avLst>
              <a:gd name="adj" fmla="val 1495"/>
            </a:avLst>
          </a:prstGeom>
          <a:solidFill>
            <a:srgbClr val="F6F7F9"/>
          </a:solidFill>
          <a:ln w="19050">
            <a:solidFill>
              <a:srgbClr val="D7DBE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" y="35661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hand-drawn sketch here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Components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bill of hardware used in the system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7455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743200"/>
                <a:gridCol w="822960"/>
                <a:gridCol w="4142232"/>
              </a:tblGrid>
              <a:tr h="2587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5 (8GB)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Companion computer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computer vision &amp; AI targeting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Dev 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Dual-core MCU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motor &amp; sensor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Camera Module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12MP, autofocus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target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TF-Luna LiDAR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Single-point ToF, 0.2–8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measurement to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Brushless Outrunner Motor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2200KV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Flywheel ring launching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 Speed Controller (ESC)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Drives flywheel motors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NEMA 17 Stepper Motor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1.5A, 42mm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 &amp; tilt aiming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Stepper Driver (A4988 / TMC2209)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Micro-stepping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Stepper motor control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MG996R Servo Motor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180°, 10kg·cm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 feeding mechanism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Break-Beam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ring exit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Magnetic / optical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Flywheel RPM feedback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Sensor (HC-SR04)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2–400 cm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tripwire interlock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LiPo Battery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4S, ≥5000mAh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power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Distribution PCB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 regulation &amp; protection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 &amp; Emergency Stop Switch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Inline, 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Overcurrent &amp; emergency 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3D-Printed Chassis Parts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 / PETG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housing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8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Acrylic / Aluminium Frame Plates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Components &amp; Technologies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39312" cy="2331720"/>
          </a:xfrm>
          <a:prstGeom prst="roundRect">
            <a:avLst>
              <a:gd name="adj" fmla="val 2353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3639312" cy="502920"/>
          </a:xfrm>
          <a:prstGeom prst="roundRect">
            <a:avLst>
              <a:gd name="adj" fmla="val 10909"/>
            </a:avLst>
          </a:prstGeom>
          <a:solidFill>
            <a:srgbClr val="1E2A3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27632"/>
            <a:ext cx="3639312" cy="246888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 / C++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44144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Arduino / ESP-IDF framework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8254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Closed-loop PID control library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9392" y="1371600"/>
            <a:ext cx="3639312" cy="2331720"/>
          </a:xfrm>
          <a:prstGeom prst="roundRect">
            <a:avLst>
              <a:gd name="adj" fmla="val 2353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9392" y="1371600"/>
            <a:ext cx="3639312" cy="502920"/>
          </a:xfrm>
          <a:prstGeom prst="roundRect">
            <a:avLst>
              <a:gd name="adj" fmla="val 10909"/>
            </a:avLst>
          </a:prstGeom>
          <a:solidFill>
            <a:srgbClr val="1E2A38"/>
          </a:solidFill>
          <a:ln/>
        </p:spPr>
      </p:sp>
      <p:sp>
        <p:nvSpPr>
          <p:cNvPr id="12" name="Shape 10"/>
          <p:cNvSpPr/>
          <p:nvPr/>
        </p:nvSpPr>
        <p:spPr>
          <a:xfrm>
            <a:off x="4279392" y="1627632"/>
            <a:ext cx="3639312" cy="246888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371600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07992" y="205740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07992" y="244144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OpenCV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07992" y="282549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YOLOv8-Nano (Ultralytics)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07992" y="3209544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NumPy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01584" y="1371600"/>
            <a:ext cx="3639312" cy="2331720"/>
          </a:xfrm>
          <a:prstGeom prst="roundRect">
            <a:avLst>
              <a:gd name="adj" fmla="val 2353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1584" y="1371600"/>
            <a:ext cx="3639312" cy="502920"/>
          </a:xfrm>
          <a:prstGeom prst="roundRect">
            <a:avLst>
              <a:gd name="adj" fmla="val 10909"/>
            </a:avLst>
          </a:prstGeom>
          <a:solidFill>
            <a:srgbClr val="1E2A38"/>
          </a:solidFill>
          <a:ln/>
        </p:spPr>
      </p:sp>
      <p:sp>
        <p:nvSpPr>
          <p:cNvPr id="20" name="Shape 18"/>
          <p:cNvSpPr/>
          <p:nvPr/>
        </p:nvSpPr>
        <p:spPr>
          <a:xfrm>
            <a:off x="8101584" y="1627632"/>
            <a:ext cx="3639312" cy="246888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21" name="Text 19"/>
          <p:cNvSpPr/>
          <p:nvPr/>
        </p:nvSpPr>
        <p:spPr>
          <a:xfrm>
            <a:off x="8284464" y="1371600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Computer 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30184" y="205740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Raspberry Pi OS (64-bit)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3639312" cy="2331720"/>
          </a:xfrm>
          <a:prstGeom prst="roundRect">
            <a:avLst>
              <a:gd name="adj" fmla="val 2353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931920"/>
            <a:ext cx="3639312" cy="502920"/>
          </a:xfrm>
          <a:prstGeom prst="roundRect">
            <a:avLst>
              <a:gd name="adj" fmla="val 10909"/>
            </a:avLst>
          </a:prstGeom>
          <a:solidFill>
            <a:srgbClr val="1E2A3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187952"/>
            <a:ext cx="3639312" cy="246888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31920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461772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UART · SPI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5800" y="500176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Wi-Fi · Bluetooth Low Energy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5385816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WebSocket / MQTT telemetry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279392" y="3931920"/>
            <a:ext cx="3639312" cy="2331720"/>
          </a:xfrm>
          <a:prstGeom prst="roundRect">
            <a:avLst>
              <a:gd name="adj" fmla="val 2353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79392" y="3931920"/>
            <a:ext cx="3639312" cy="502920"/>
          </a:xfrm>
          <a:prstGeom prst="roundRect">
            <a:avLst>
              <a:gd name="adj" fmla="val 10909"/>
            </a:avLst>
          </a:prstGeom>
          <a:solidFill>
            <a:srgbClr val="1E2A38"/>
          </a:solidFill>
          <a:ln/>
        </p:spPr>
      </p:sp>
      <p:sp>
        <p:nvSpPr>
          <p:cNvPr id="32" name="Shape 30"/>
          <p:cNvSpPr/>
          <p:nvPr/>
        </p:nvSpPr>
        <p:spPr>
          <a:xfrm>
            <a:off x="4279392" y="4187952"/>
            <a:ext cx="3639312" cy="246888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3" name="Text 31"/>
          <p:cNvSpPr/>
          <p:nvPr/>
        </p:nvSpPr>
        <p:spPr>
          <a:xfrm>
            <a:off x="4462272" y="3931920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Web Dashboard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07992" y="461772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or Flutter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07992" y="500176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Real-time WebSocket telemetry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01584" y="3931920"/>
            <a:ext cx="3639312" cy="2331720"/>
          </a:xfrm>
          <a:prstGeom prst="roundRect">
            <a:avLst>
              <a:gd name="adj" fmla="val 2353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01584" y="3931920"/>
            <a:ext cx="3639312" cy="502920"/>
          </a:xfrm>
          <a:prstGeom prst="roundRect">
            <a:avLst>
              <a:gd name="adj" fmla="val 10909"/>
            </a:avLst>
          </a:prstGeom>
          <a:solidFill>
            <a:srgbClr val="1E2A38"/>
          </a:solidFill>
          <a:ln/>
        </p:spPr>
      </p:sp>
      <p:sp>
        <p:nvSpPr>
          <p:cNvPr id="38" name="Shape 36"/>
          <p:cNvSpPr/>
          <p:nvPr/>
        </p:nvSpPr>
        <p:spPr>
          <a:xfrm>
            <a:off x="8101584" y="4187952"/>
            <a:ext cx="3639312" cy="246888"/>
          </a:xfrm>
          <a:prstGeom prst="rect">
            <a:avLst/>
          </a:prstGeom>
          <a:solidFill>
            <a:srgbClr val="1E2A38"/>
          </a:solidFill>
          <a:ln/>
        </p:spPr>
      </p:sp>
      <p:sp>
        <p:nvSpPr>
          <p:cNvPr id="39" name="Text 37"/>
          <p:cNvSpPr/>
          <p:nvPr/>
        </p:nvSpPr>
        <p:spPr>
          <a:xfrm>
            <a:off x="8284464" y="3931920"/>
            <a:ext cx="3273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Simulation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330184" y="461772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SolidWorks / Fusion 360 (CAD)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330184" y="5001768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— ballistics modelling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robot is powered — from battery to every subsystem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high-discharge LiPo pack supplies the surge current needed by the flywheel motors at launch.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496312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96312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Power Distribution PCB regulates and isolates rails: 5V logic, 3.3V sensors, and raw voltage for motor drivers.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3575304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575304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inline fuse and emergency-stop switch provide overcurrent and manual safety protection.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654296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654296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voltage/current sensor feeds live battery telemetry to the dashboard for continuous monitoring.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0436" y="141732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E2A38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3588" y="141732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LiPo Battery Pack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86116" y="2286000"/>
            <a:ext cx="2560320" cy="457200"/>
          </a:xfrm>
          <a:prstGeom prst="roundRect">
            <a:avLst>
              <a:gd name="adj" fmla="val 12000"/>
            </a:avLst>
          </a:prstGeom>
          <a:solidFill>
            <a:srgbClr val="3A4B5F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59268" y="228600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+ Emergency Stop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94676" y="310896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1E2A38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67828" y="310896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Distribution PCB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66276" y="1920240"/>
            <a:ext cx="0" cy="365760"/>
          </a:xfrm>
          <a:prstGeom prst="line">
            <a:avLst/>
          </a:prstGeom>
          <a:noFill/>
          <a:ln w="1778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66276" y="2743200"/>
            <a:ext cx="0" cy="365760"/>
          </a:xfrm>
          <a:prstGeom prst="line">
            <a:avLst/>
          </a:prstGeom>
          <a:noFill/>
          <a:ln w="17780">
            <a:solidFill>
              <a:srgbClr val="6B7684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00800" y="397764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97764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Regulated Rail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5, logic ICs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 flipH="1">
            <a:off x="7246620" y="3611880"/>
            <a:ext cx="1819656" cy="365760"/>
          </a:xfrm>
          <a:prstGeom prst="line">
            <a:avLst/>
          </a:prstGeom>
          <a:noFill/>
          <a:ln w="17780">
            <a:solidFill>
              <a:srgbClr val="6B7684"/>
            </a:solidFill>
            <a:prstDash val="dash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229600" y="397764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02752" y="397764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Regulated Rail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ESP32, IR / LiDAR / ultrasonic sensors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66276" y="3611880"/>
            <a:ext cx="9144" cy="365760"/>
          </a:xfrm>
          <a:prstGeom prst="line">
            <a:avLst/>
          </a:prstGeom>
          <a:noFill/>
          <a:ln w="17780">
            <a:solidFill>
              <a:srgbClr val="6B7684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058400" y="3977640"/>
            <a:ext cx="1691640" cy="1051560"/>
          </a:xfrm>
          <a:prstGeom prst="roundRect">
            <a:avLst>
              <a:gd name="adj" fmla="val 5217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31552" y="3977640"/>
            <a:ext cx="1545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Battery Rail (via ESC)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 motors, steppers, feeder servo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66276" y="3611880"/>
            <a:ext cx="1837944" cy="365760"/>
          </a:xfrm>
          <a:prstGeom prst="line">
            <a:avLst/>
          </a:prstGeom>
          <a:noFill/>
          <a:ln w="17780">
            <a:solidFill>
              <a:srgbClr val="6B7684"/>
            </a:solidFill>
            <a:prstDash val="dash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Budget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in LKR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  <a:gridCol w="731520"/>
                <a:gridCol w="2286000"/>
                <a:gridCol w="2404872"/>
              </a:tblGrid>
              <a:tr h="2176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 (LKR)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(LKR)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3D-printed parts &amp; filament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Acrylic / aluminium plates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Fasteners &amp; hardware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5 (8GB)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dev board (incl. spare)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Brushless motor 2200KV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 30A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NEMA17 stepper motor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Stepper driver (TMC2209)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MG996R servo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Module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TF-Luna LiDAR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break-beam sensor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encoders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sensor (HC-SR04)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LiPo battery 4S 5000mAh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distribution PCB (fab.)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Fuse + E-stop switch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Wiring &amp; connectors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76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/ Misc.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consumables &amp; misc.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91272" y="5989320"/>
            <a:ext cx="3840480" cy="566928"/>
          </a:xfrm>
          <a:prstGeom prst="roundRect">
            <a:avLst>
              <a:gd name="adj" fmla="val 8065"/>
            </a:avLst>
          </a:prstGeom>
          <a:solidFill>
            <a:srgbClr val="1E2A38"/>
          </a:solidFill>
          <a:ln/>
        </p:spPr>
      </p:sp>
      <p:sp>
        <p:nvSpPr>
          <p:cNvPr id="6" name="Text 3"/>
          <p:cNvSpPr/>
          <p:nvPr/>
        </p:nvSpPr>
        <p:spPr>
          <a:xfrm>
            <a:off x="7891272" y="59893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 142,200  +  Contingency (10%) 14,220   </a:t>
            </a:r>
            <a:pPr algn="ct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156,420 LKR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10-month development plan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60520" y="1143000"/>
            <a:ext cx="757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17643" y="1143000"/>
            <a:ext cx="757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74766" y="1143000"/>
            <a:ext cx="757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31890" y="1143000"/>
            <a:ext cx="757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89013" y="1143000"/>
            <a:ext cx="757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946136" y="1143000"/>
            <a:ext cx="757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703259" y="1143000"/>
            <a:ext cx="757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460382" y="1143000"/>
            <a:ext cx="757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217506" y="1143000"/>
            <a:ext cx="757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4629" y="1143000"/>
            <a:ext cx="7571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1417320"/>
            <a:ext cx="37033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&amp; Research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4160520" y="1597914"/>
            <a:ext cx="7571232" cy="18288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16" name="Shape 14"/>
          <p:cNvSpPr/>
          <p:nvPr/>
        </p:nvSpPr>
        <p:spPr>
          <a:xfrm>
            <a:off x="4178808" y="1472184"/>
            <a:ext cx="720547" cy="269748"/>
          </a:xfrm>
          <a:prstGeom prst="roundRect">
            <a:avLst>
              <a:gd name="adj" fmla="val 13559"/>
            </a:avLst>
          </a:prstGeom>
          <a:solidFill>
            <a:srgbClr val="1E2A3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1796796"/>
            <a:ext cx="37033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Design (CAD) &amp; Ballistics Calc.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4160520" y="1977390"/>
            <a:ext cx="7571232" cy="18288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19" name="Shape 17"/>
          <p:cNvSpPr/>
          <p:nvPr/>
        </p:nvSpPr>
        <p:spPr>
          <a:xfrm>
            <a:off x="4178808" y="1851660"/>
            <a:ext cx="1477670" cy="269748"/>
          </a:xfrm>
          <a:prstGeom prst="roundRect">
            <a:avLst>
              <a:gd name="adj" fmla="val 13559"/>
            </a:avLst>
          </a:prstGeom>
          <a:solidFill>
            <a:srgbClr val="3E7CB1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176272"/>
            <a:ext cx="37033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PCB Design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4160520" y="2356866"/>
            <a:ext cx="7571232" cy="18288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22" name="Shape 20"/>
          <p:cNvSpPr/>
          <p:nvPr/>
        </p:nvSpPr>
        <p:spPr>
          <a:xfrm>
            <a:off x="4935931" y="2231136"/>
            <a:ext cx="1477670" cy="269748"/>
          </a:xfrm>
          <a:prstGeom prst="roundRect">
            <a:avLst>
              <a:gd name="adj" fmla="val 13559"/>
            </a:avLst>
          </a:prstGeom>
          <a:solidFill>
            <a:srgbClr val="1E2A38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555748"/>
            <a:ext cx="37033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Fabrication &amp; Assembly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4160520" y="2736342"/>
            <a:ext cx="7571232" cy="18288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25" name="Shape 23"/>
          <p:cNvSpPr/>
          <p:nvPr/>
        </p:nvSpPr>
        <p:spPr>
          <a:xfrm>
            <a:off x="5693054" y="2610612"/>
            <a:ext cx="1477670" cy="269748"/>
          </a:xfrm>
          <a:prstGeom prst="roundRect">
            <a:avLst>
              <a:gd name="adj" fmla="val 13559"/>
            </a:avLst>
          </a:prstGeom>
          <a:solidFill>
            <a:srgbClr val="3E7CB1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2935224"/>
            <a:ext cx="37033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Development (Motor / PID / Feeder)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4160520" y="3115818"/>
            <a:ext cx="7571232" cy="18288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28" name="Shape 26"/>
          <p:cNvSpPr/>
          <p:nvPr/>
        </p:nvSpPr>
        <p:spPr>
          <a:xfrm>
            <a:off x="5693054" y="2990088"/>
            <a:ext cx="2234794" cy="269748"/>
          </a:xfrm>
          <a:prstGeom prst="roundRect">
            <a:avLst>
              <a:gd name="adj" fmla="val 13559"/>
            </a:avLst>
          </a:prstGeom>
          <a:solidFill>
            <a:srgbClr val="1E2A38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314700"/>
            <a:ext cx="37033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AI Model Training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4160520" y="3495294"/>
            <a:ext cx="7571232" cy="18288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31" name="Shape 29"/>
          <p:cNvSpPr/>
          <p:nvPr/>
        </p:nvSpPr>
        <p:spPr>
          <a:xfrm>
            <a:off x="6450178" y="3369564"/>
            <a:ext cx="2234794" cy="269748"/>
          </a:xfrm>
          <a:prstGeom prst="roundRect">
            <a:avLst>
              <a:gd name="adj" fmla="val 13559"/>
            </a:avLst>
          </a:prstGeom>
          <a:solidFill>
            <a:srgbClr val="3E7CB1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694176"/>
            <a:ext cx="37033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Pan-Tilt &amp; Targeting Integration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4160520" y="3874770"/>
            <a:ext cx="7571232" cy="18288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34" name="Shape 32"/>
          <p:cNvSpPr/>
          <p:nvPr/>
        </p:nvSpPr>
        <p:spPr>
          <a:xfrm>
            <a:off x="7207301" y="3749040"/>
            <a:ext cx="2234794" cy="269748"/>
          </a:xfrm>
          <a:prstGeom prst="roundRect">
            <a:avLst>
              <a:gd name="adj" fmla="val 13559"/>
            </a:avLst>
          </a:prstGeom>
          <a:solidFill>
            <a:srgbClr val="1E2A38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073652"/>
            <a:ext cx="37033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Web Dashboard Development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4160520" y="4254246"/>
            <a:ext cx="7571232" cy="18288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37" name="Shape 35"/>
          <p:cNvSpPr/>
          <p:nvPr/>
        </p:nvSpPr>
        <p:spPr>
          <a:xfrm>
            <a:off x="7207301" y="4128516"/>
            <a:ext cx="1477670" cy="269748"/>
          </a:xfrm>
          <a:prstGeom prst="roundRect">
            <a:avLst>
              <a:gd name="adj" fmla="val 13559"/>
            </a:avLst>
          </a:prstGeom>
          <a:solidFill>
            <a:srgbClr val="3E7CB1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453128"/>
            <a:ext cx="37033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Integration &amp; Safety Testing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4160520" y="4633722"/>
            <a:ext cx="7571232" cy="18288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40" name="Shape 38"/>
          <p:cNvSpPr/>
          <p:nvPr/>
        </p:nvSpPr>
        <p:spPr>
          <a:xfrm>
            <a:off x="8721547" y="4507992"/>
            <a:ext cx="1477670" cy="269748"/>
          </a:xfrm>
          <a:prstGeom prst="roundRect">
            <a:avLst>
              <a:gd name="adj" fmla="val 13559"/>
            </a:avLst>
          </a:prstGeom>
          <a:solidFill>
            <a:srgbClr val="1E2A38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832604"/>
            <a:ext cx="37033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Testing &amp; Calibration</a:t>
            </a:r>
            <a:endParaRPr lang="en-US" sz="970" dirty="0"/>
          </a:p>
        </p:txBody>
      </p:sp>
      <p:sp>
        <p:nvSpPr>
          <p:cNvPr id="42" name="Shape 40"/>
          <p:cNvSpPr/>
          <p:nvPr/>
        </p:nvSpPr>
        <p:spPr>
          <a:xfrm>
            <a:off x="4160520" y="5013198"/>
            <a:ext cx="7571232" cy="18288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43" name="Shape 41"/>
          <p:cNvSpPr/>
          <p:nvPr/>
        </p:nvSpPr>
        <p:spPr>
          <a:xfrm>
            <a:off x="9478670" y="4887468"/>
            <a:ext cx="1477670" cy="269748"/>
          </a:xfrm>
          <a:prstGeom prst="roundRect">
            <a:avLst>
              <a:gd name="adj" fmla="val 13559"/>
            </a:avLst>
          </a:prstGeom>
          <a:solidFill>
            <a:srgbClr val="3E7CB1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5212080"/>
            <a:ext cx="37033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Final Report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4160520" y="5392674"/>
            <a:ext cx="7571232" cy="18288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46" name="Shape 44"/>
          <p:cNvSpPr/>
          <p:nvPr/>
        </p:nvSpPr>
        <p:spPr>
          <a:xfrm>
            <a:off x="10235794" y="5266944"/>
            <a:ext cx="1477670" cy="269748"/>
          </a:xfrm>
          <a:prstGeom prst="roundRect">
            <a:avLst>
              <a:gd name="adj" fmla="val 13559"/>
            </a:avLst>
          </a:prstGeom>
          <a:solidFill>
            <a:srgbClr val="1E2A38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5591556"/>
            <a:ext cx="37033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Demonstration &amp; Viva</a:t>
            </a:r>
            <a:endParaRPr lang="en-US" sz="970" dirty="0"/>
          </a:p>
        </p:txBody>
      </p:sp>
      <p:sp>
        <p:nvSpPr>
          <p:cNvPr id="48" name="Shape 46"/>
          <p:cNvSpPr/>
          <p:nvPr/>
        </p:nvSpPr>
        <p:spPr>
          <a:xfrm>
            <a:off x="4160520" y="5772150"/>
            <a:ext cx="7571232" cy="18288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49" name="Shape 47"/>
          <p:cNvSpPr/>
          <p:nvPr/>
        </p:nvSpPr>
        <p:spPr>
          <a:xfrm>
            <a:off x="10992917" y="5646420"/>
            <a:ext cx="720547" cy="269748"/>
          </a:xfrm>
          <a:prstGeom prst="roundRect">
            <a:avLst>
              <a:gd name="adj" fmla="val 13559"/>
            </a:avLst>
          </a:prstGeom>
          <a:solidFill>
            <a:srgbClr val="3E7CB1"/>
          </a:solidFill>
          <a:ln/>
        </p:spPr>
      </p:sp>
      <p:sp>
        <p:nvSpPr>
          <p:cNvPr id="50" name="Shape 48"/>
          <p:cNvSpPr/>
          <p:nvPr/>
        </p:nvSpPr>
        <p:spPr>
          <a:xfrm>
            <a:off x="4160520" y="1371600"/>
            <a:ext cx="0" cy="4599432"/>
          </a:xfrm>
          <a:prstGeom prst="line">
            <a:avLst/>
          </a:prstGeom>
          <a:noFill/>
          <a:ln w="9525">
            <a:solidFill>
              <a:srgbClr val="F0F1F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17643" y="1371600"/>
            <a:ext cx="0" cy="4599432"/>
          </a:xfrm>
          <a:prstGeom prst="line">
            <a:avLst/>
          </a:prstGeom>
          <a:noFill/>
          <a:ln w="9525">
            <a:solidFill>
              <a:srgbClr val="F0F1F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74766" y="1371600"/>
            <a:ext cx="0" cy="4599432"/>
          </a:xfrm>
          <a:prstGeom prst="line">
            <a:avLst/>
          </a:prstGeom>
          <a:noFill/>
          <a:ln w="9525">
            <a:solidFill>
              <a:srgbClr val="F0F1F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31890" y="1371600"/>
            <a:ext cx="0" cy="4599432"/>
          </a:xfrm>
          <a:prstGeom prst="line">
            <a:avLst/>
          </a:prstGeom>
          <a:noFill/>
          <a:ln w="9525">
            <a:solidFill>
              <a:srgbClr val="F0F1F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89013" y="1371600"/>
            <a:ext cx="0" cy="4599432"/>
          </a:xfrm>
          <a:prstGeom prst="line">
            <a:avLst/>
          </a:prstGeom>
          <a:noFill/>
          <a:ln w="9525">
            <a:solidFill>
              <a:srgbClr val="F0F1F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946136" y="1371600"/>
            <a:ext cx="0" cy="4599432"/>
          </a:xfrm>
          <a:prstGeom prst="line">
            <a:avLst/>
          </a:prstGeom>
          <a:noFill/>
          <a:ln w="9525">
            <a:solidFill>
              <a:srgbClr val="F0F1F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03259" y="1371600"/>
            <a:ext cx="0" cy="4599432"/>
          </a:xfrm>
          <a:prstGeom prst="line">
            <a:avLst/>
          </a:prstGeom>
          <a:noFill/>
          <a:ln w="9525">
            <a:solidFill>
              <a:srgbClr val="F0F1F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60382" y="1371600"/>
            <a:ext cx="0" cy="4599432"/>
          </a:xfrm>
          <a:prstGeom prst="line">
            <a:avLst/>
          </a:prstGeom>
          <a:noFill/>
          <a:ln w="9525">
            <a:solidFill>
              <a:srgbClr val="F0F1F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217506" y="1371600"/>
            <a:ext cx="0" cy="4599432"/>
          </a:xfrm>
          <a:prstGeom prst="line">
            <a:avLst/>
          </a:prstGeom>
          <a:noFill/>
          <a:ln w="9525">
            <a:solidFill>
              <a:srgbClr val="F0F1F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74629" y="1371600"/>
            <a:ext cx="0" cy="4599432"/>
          </a:xfrm>
          <a:prstGeom prst="line">
            <a:avLst/>
          </a:prstGeom>
          <a:noFill/>
          <a:ln w="9525">
            <a:solidFill>
              <a:srgbClr val="F0F1F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731752" y="1371600"/>
            <a:ext cx="0" cy="4599432"/>
          </a:xfrm>
          <a:prstGeom prst="line">
            <a:avLst/>
          </a:prstGeom>
          <a:noFill/>
          <a:ln w="9525">
            <a:solidFill>
              <a:srgbClr val="F0F1F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Distribution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owns at least one sensor and one hardware module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005840"/>
                <a:gridCol w="2148840"/>
                <a:gridCol w="2606040"/>
                <a:gridCol w="318211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Sensor(s)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Assigned Hardware Module(s)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3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Chamidya J.A.S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Ring-Exit Sensor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Flywheel housing &amp; feeder mechanism (chassis)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Silva P.S.S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 / Power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 &amp; current 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distribution PCB, battery, fuse / E-stop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Omesh N.A.N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Embedded Firmware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encoders (RPM feedback)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control board, ESC &amp; motor driver wiring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Kalansooriya O.K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 Module 3, TF-Luna LiDAR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5 unit, pan-tilt gimbal assembly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Goonatillaka W.A.D.S.S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/ UI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Ultrasonic safety tripwire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/ web dashboard, telemetry 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System Stands Out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3639312" cy="2286000"/>
          </a:xfrm>
          <a:prstGeom prst="roundRect">
            <a:avLst>
              <a:gd name="adj" fmla="val 2800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17320"/>
            <a:ext cx="64008" cy="2286000"/>
          </a:xfrm>
          <a:prstGeom prst="rect">
            <a:avLst/>
          </a:prstGeom>
          <a:solidFill>
            <a:srgbClr val="3E7CB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618488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Targeting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13232" y="2194560"/>
            <a:ext cx="31821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computer vision + LiDAR depth sensing locate the target without human aim.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79392" y="1417320"/>
            <a:ext cx="3639312" cy="2286000"/>
          </a:xfrm>
          <a:prstGeom prst="roundRect">
            <a:avLst>
              <a:gd name="adj" fmla="val 2800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79392" y="1417320"/>
            <a:ext cx="64008" cy="2286000"/>
          </a:xfrm>
          <a:prstGeom prst="rect">
            <a:avLst/>
          </a:prstGeom>
          <a:solidFill>
            <a:srgbClr val="3E7CB1"/>
          </a:solidFill>
          <a:ln/>
        </p:spPr>
      </p:sp>
      <p:sp>
        <p:nvSpPr>
          <p:cNvPr id="9" name="Text 7"/>
          <p:cNvSpPr/>
          <p:nvPr/>
        </p:nvSpPr>
        <p:spPr>
          <a:xfrm>
            <a:off x="4535424" y="1618488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Accuracy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35424" y="2194560"/>
            <a:ext cx="31821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PID control guarantees repeatable shots — not open-loop like typical toys.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01584" y="1417320"/>
            <a:ext cx="3639312" cy="2286000"/>
          </a:xfrm>
          <a:prstGeom prst="roundRect">
            <a:avLst>
              <a:gd name="adj" fmla="val 2800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01584" y="1417320"/>
            <a:ext cx="64008" cy="2286000"/>
          </a:xfrm>
          <a:prstGeom prst="rect">
            <a:avLst/>
          </a:prstGeom>
          <a:solidFill>
            <a:srgbClr val="3E7CB1"/>
          </a:solidFill>
          <a:ln/>
        </p:spPr>
      </p:sp>
      <p:sp>
        <p:nvSpPr>
          <p:cNvPr id="13" name="Text 11"/>
          <p:cNvSpPr/>
          <p:nvPr/>
        </p:nvSpPr>
        <p:spPr>
          <a:xfrm>
            <a:off x="8357616" y="1618488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Safety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57616" y="2194560"/>
            <a:ext cx="31821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tripwire interlock automatically disables launch power if the firing path is obstructed.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3639312" cy="2286000"/>
          </a:xfrm>
          <a:prstGeom prst="roundRect">
            <a:avLst>
              <a:gd name="adj" fmla="val 2800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931920"/>
            <a:ext cx="64008" cy="2286000"/>
          </a:xfrm>
          <a:prstGeom prst="rect">
            <a:avLst/>
          </a:prstGeom>
          <a:solidFill>
            <a:srgbClr val="3E7CB1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133088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Dual-Mode Operation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13232" y="4709160"/>
            <a:ext cx="31821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switching between autonomous AI targeting and manual joystick control.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79392" y="3931920"/>
            <a:ext cx="3639312" cy="2286000"/>
          </a:xfrm>
          <a:prstGeom prst="roundRect">
            <a:avLst>
              <a:gd name="adj" fmla="val 2800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79392" y="3931920"/>
            <a:ext cx="64008" cy="2286000"/>
          </a:xfrm>
          <a:prstGeom prst="rect">
            <a:avLst/>
          </a:prstGeom>
          <a:solidFill>
            <a:srgbClr val="3E7CB1"/>
          </a:solidFill>
          <a:ln/>
        </p:spPr>
      </p:sp>
      <p:sp>
        <p:nvSpPr>
          <p:cNvPr id="21" name="Text 19"/>
          <p:cNvSpPr/>
          <p:nvPr/>
        </p:nvSpPr>
        <p:spPr>
          <a:xfrm>
            <a:off x="4535424" y="4133088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Telemetry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535424" y="4709160"/>
            <a:ext cx="31821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tracks battery level, flywheel RPM, and shot count.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01584" y="3931920"/>
            <a:ext cx="3639312" cy="2286000"/>
          </a:xfrm>
          <a:prstGeom prst="roundRect">
            <a:avLst>
              <a:gd name="adj" fmla="val 2800"/>
            </a:avLst>
          </a:prstGeom>
          <a:solidFill>
            <a:srgbClr val="F6F7F9"/>
          </a:solidFill>
          <a:ln w="12700">
            <a:solidFill>
              <a:srgbClr val="D7DB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01584" y="3931920"/>
            <a:ext cx="64008" cy="2286000"/>
          </a:xfrm>
          <a:prstGeom prst="rect">
            <a:avLst/>
          </a:prstGeom>
          <a:solidFill>
            <a:srgbClr val="3E7CB1"/>
          </a:solidFill>
          <a:ln/>
        </p:spPr>
      </p:sp>
      <p:sp>
        <p:nvSpPr>
          <p:cNvPr id="25" name="Text 23"/>
          <p:cNvSpPr/>
          <p:nvPr/>
        </p:nvSpPr>
        <p:spPr>
          <a:xfrm>
            <a:off x="8357616" y="4133088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 IoT Architecture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57616" y="4709160"/>
            <a:ext cx="31821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sensors, ML models, or targets can be added without redesigning the system.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2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" y="14630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Bradski, G. (2000). The OpenCV Library. Dr. Dobb's Journal of Software Tools.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Jocher, G., Chaurasia, A., &amp; Qiu, J. (2023). Ultralytics YOLOv8. GitHub repository. https://github.com/ultralytics/ultralytics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Foundation. (2024). Raspberry Pi 5 Documentation. https://www.raspberrypi.com/documentation/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9718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 Systems. (2023). ESP32 Series Technical Reference Manual. https://www.espressif.com/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34747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Ogata, K. (2010). Modern Control Engineering (5th ed.). Prentice Hall.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3977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Instruments. (2022). Brushless DC Motor Fundamentals. Application Note.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4805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Trinamic / Analog Devices. (2023). TMC2209 Datasheet — Stepper Motor Driver.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983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983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2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Benet-Sole (TF-Luna). (2022). TF-Luna LiDAR Module Product Manual.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84648" y="4160520"/>
            <a:ext cx="1828800" cy="0"/>
          </a:xfrm>
          <a:prstGeom prst="line">
            <a:avLst/>
          </a:prstGeom>
          <a:noFill/>
          <a:ln w="12700">
            <a:solidFill>
              <a:srgbClr val="3A4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Ring Toss Launcher Robot — B25 FIT Level 01 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2026-07-11T13:57:26Z</dcterms:created>
  <dcterms:modified xsi:type="dcterms:W3CDTF">2026-07-11T13:57:26Z</dcterms:modified>
</cp:coreProperties>
</file>
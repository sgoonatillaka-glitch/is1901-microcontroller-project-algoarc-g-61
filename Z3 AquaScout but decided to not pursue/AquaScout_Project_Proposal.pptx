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054303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 FIT LEVEL 01 PROJECT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AquaScout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IoT-Enabled Underwater Exploration Drone (ROV)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10543032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3611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254037B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CHAMIDYA J.A.S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0" y="3611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377440" y="39410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254048J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39410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P.S.S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38160" y="39410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77440" y="42702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255078H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4270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OMESH N.A.N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38160" y="4270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(ITM)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377440" y="4599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254101R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45994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KALANSOORIYA O.K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38160" y="45994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377440" y="4928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255027D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492861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GOONATILLAKA W.A.D.S.S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92861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(ITM)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532120"/>
            <a:ext cx="10543032" cy="0"/>
          </a:xfrm>
          <a:prstGeom prst="line">
            <a:avLst/>
          </a:prstGeom>
          <a:noFill/>
          <a:ln w="12700">
            <a:solidFill>
              <a:srgbClr val="2C4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66928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Programme:  BSc (Hons) in Information Technology / Information Technology Management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2960" y="6016752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[Supervisor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context for the proposed underwater drone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Oceans, lakes, reservoirs, and industrial water tanks remain some of the least accessible environments for direct human inspection. Diving is costly, time-limited, and hazardous, while existing commercial ROVs (Remotely Operated Vehicles) are often too expensive for small-scale research, education, or local inspection needs.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33756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an affordable, tethered, IoT-enabled underwater drone capable of live video streaming, depth and orientation sensing, and remote piloting from a surface control station — built using accessible microcontrollers, sensors, and off-the-shelf components.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41732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13448" y="1472184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19476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8196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signals do not propagate through water — a tethered link is required for reliable control and data transfer.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0" y="28620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7340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exploration supports marine research, pipeline/hull inspection, and search-and-recovery tasks.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37764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36484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low-cost, modular drone makes underwater robotics accessible for academic and community 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4690872"/>
            <a:ext cx="73152" cy="7315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456285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embedded sensing (IoT) with real-time telemetry creates a safer, data-driven piloting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sets out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7218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low-cost, tethered, IoT-enabled underwater drone that can be remotely piloted to capture live video and environmental telemetry while maintaining stable depth and orientation.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27889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waterproof, neutrally-buoyant hull and frame capable of withstanding shallow-water pressure.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17336" y="27889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278892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40296" y="286207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propulsion (thrusters + ESCs) for controlled forward, lateral, and vertical movement.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959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99592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25880" y="4069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embedded sensing (IMU, depth, leak) with a PID-based stabilisation algorithm.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17336" y="3995928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3995928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40296" y="40690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reliable wired (RS-485) communication link over a 20–50 m tether.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52029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520293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5276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surface control station with a joystick interface and live video/telemetry GUI.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17336" y="5202936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5202936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527608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calibrate, and validate the complete system in a controlled water environment.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Proposed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accessible underwater inspection, and how we address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72184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2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1929384"/>
            <a:ext cx="82296" cy="8229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80136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diving for inspection or exploration is expensive, physically risky, and time-restricted.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98064"/>
            <a:ext cx="82296" cy="8229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7004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Radio-based (Wi-Fi/Bluetooth) drones fail underwater since radio waves do not propagate through water.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666744"/>
            <a:ext cx="82296" cy="8229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53872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ROVs (e.g., Blue Robotics-class systems) are costly and inaccessible for small teams.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535424"/>
            <a:ext cx="82296" cy="8229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4074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piloting without sensor feedback makes it difficult to hold a stable depth or heading.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5404104"/>
            <a:ext cx="82296" cy="82296"/>
          </a:xfrm>
          <a:prstGeom prst="ellipse">
            <a:avLst/>
          </a:prstGeom>
          <a:solidFill>
            <a:srgbClr val="B23A2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27608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budget builds often lack integrated safety features such as leak detection or fail-safes.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468112" cy="4709160"/>
          </a:xfrm>
          <a:prstGeom prst="roundRect">
            <a:avLst>
              <a:gd name="adj" fmla="val 1553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472184"/>
            <a:ext cx="524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929384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8013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tethered underwater drone using a Cat5e/Cat6 + RS-485 link for reliable control at 20–50 m depth/range.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2798064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67004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low-cost hardware build using an ESP32/Arduino Mega, DIY-viable thrusters, and 3D-printed parts.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3666744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53872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IMU + depth sensor with a PID stabilisation loop for automatic depth/orientation hold.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4535424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40740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 GUI with live video and telemetry (depth, heading, battery, leak status) for informed piloting.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92240" y="5404104"/>
            <a:ext cx="82296" cy="8229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52760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leak detection and a positive-buoyancy fail-safe so the drone surfaces automatically on fault.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— Block Diagram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sensor, module, and signal/power path, from the submersible unit to the surface station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537960" cy="4892040"/>
          </a:xfrm>
          <a:prstGeom prst="roundRect">
            <a:avLst>
              <a:gd name="adj" fmla="val 1869"/>
            </a:avLst>
          </a:prstGeom>
          <a:solidFill>
            <a:srgbClr val="F5F9FA"/>
          </a:solidFill>
          <a:ln w="19050">
            <a:solidFill>
              <a:srgbClr val="0B4F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2618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0B4F6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61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SUBMERSIBLE UNIT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3E4"/>
          </a:solidFill>
          <a:ln w="15875">
            <a:solidFill>
              <a:srgbClr val="E8871E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1920240"/>
            <a:ext cx="1362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(3S / 4S)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94460" y="2487168"/>
            <a:ext cx="0" cy="22860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271576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3E4"/>
          </a:solidFill>
          <a:ln w="15875">
            <a:solidFill>
              <a:srgbClr val="E8871E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" y="271576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(PDB)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94460" y="3218688"/>
            <a:ext cx="0" cy="228600"/>
          </a:xfrm>
          <a:prstGeom prst="line">
            <a:avLst/>
          </a:prstGeom>
          <a:noFill/>
          <a:ln w="1905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3447288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3E4"/>
          </a:solidFill>
          <a:ln w="15875">
            <a:solidFill>
              <a:srgbClr val="E8871E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447288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Kill Switch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0325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2971800"/>
            <a:ext cx="868680" cy="0"/>
          </a:xfrm>
          <a:prstGeom prst="line">
            <a:avLst/>
          </a:prstGeom>
          <a:noFill/>
          <a:ln w="15875">
            <a:solidFill>
              <a:srgbClr val="E8871E"/>
            </a:solidFill>
            <a:prstDash val="dash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31720" y="1920240"/>
            <a:ext cx="1012698" cy="566928"/>
          </a:xfrm>
          <a:prstGeom prst="roundRect">
            <a:avLst>
              <a:gd name="adj" fmla="val 9677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359152" y="1920240"/>
            <a:ext cx="957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(MPU6050)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2434" y="1920240"/>
            <a:ext cx="1012698" cy="566928"/>
          </a:xfrm>
          <a:prstGeom prst="roundRect">
            <a:avLst>
              <a:gd name="adj" fmla="val 9677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99866" y="1920240"/>
            <a:ext cx="957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Pressure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(MS5837)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3148" y="1920240"/>
            <a:ext cx="1012698" cy="566928"/>
          </a:xfrm>
          <a:prstGeom prst="roundRect">
            <a:avLst>
              <a:gd name="adj" fmla="val 9677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40580" y="1920240"/>
            <a:ext cx="957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53862" y="1920240"/>
            <a:ext cx="1012698" cy="566928"/>
          </a:xfrm>
          <a:prstGeom prst="roundRect">
            <a:avLst>
              <a:gd name="adj" fmla="val 9677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81294" y="1920240"/>
            <a:ext cx="9578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(FPV / USB)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8069" y="2487168"/>
            <a:ext cx="0" cy="14630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8783" y="2487168"/>
            <a:ext cx="0" cy="14630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19497" y="2487168"/>
            <a:ext cx="0" cy="14630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0211" y="2487168"/>
            <a:ext cx="0" cy="146304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8069" y="2633472"/>
            <a:ext cx="3422142" cy="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49140" y="2633472"/>
            <a:ext cx="0" cy="8229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331720" y="2715768"/>
            <a:ext cx="4434840" cy="566928"/>
          </a:xfrm>
          <a:prstGeom prst="roundRect">
            <a:avLst>
              <a:gd name="adj" fmla="val 9677"/>
            </a:avLst>
          </a:prstGeom>
          <a:solidFill>
            <a:srgbClr val="0B4F6C"/>
          </a:solidFill>
          <a:ln w="15875">
            <a:solidFill>
              <a:srgbClr val="0B4F6C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359152" y="2715768"/>
            <a:ext cx="4379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 — ESP32 / Arduino Mega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(Central Processing Unit)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26180" y="3282696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20740" y="3282696"/>
            <a:ext cx="0" cy="2286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331720" y="3511296"/>
            <a:ext cx="2788920" cy="1481328"/>
          </a:xfrm>
          <a:prstGeom prst="roundRect">
            <a:avLst>
              <a:gd name="adj" fmla="val 4938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41448" y="3566160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14600" y="3877056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542032" y="3877056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x ESC (Electronic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Controllers)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26180" y="4334256"/>
            <a:ext cx="0" cy="164592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514600" y="4498848"/>
            <a:ext cx="2423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42032" y="4498848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x Brushless Thrusters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Horizontal + 2 Vertical)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03120" y="3703320"/>
            <a:ext cx="365760" cy="402336"/>
          </a:xfrm>
          <a:prstGeom prst="line">
            <a:avLst/>
          </a:prstGeom>
          <a:noFill/>
          <a:ln w="15875">
            <a:solidFill>
              <a:srgbClr val="E8871E"/>
            </a:solidFill>
            <a:prstDash val="dash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74920" y="3511296"/>
            <a:ext cx="1691640" cy="548640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5875">
            <a:solidFill>
              <a:srgbClr val="E8871E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102352" y="3511296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Transceiver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(MAX485)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flipV="1">
            <a:off x="2103120" y="1920240"/>
            <a:ext cx="3016377" cy="283464"/>
          </a:xfrm>
          <a:prstGeom prst="line">
            <a:avLst/>
          </a:prstGeom>
          <a:noFill/>
          <a:ln w="12700">
            <a:solidFill>
              <a:srgbClr val="E8871E"/>
            </a:solidFill>
            <a:prstDash val="dash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66560" y="3785616"/>
            <a:ext cx="228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85800" y="5925312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regulates and fuses power from the battery to every module; the kill switch cuts all power instantly.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068312" y="3785616"/>
            <a:ext cx="1362456" cy="0"/>
          </a:xfrm>
          <a:prstGeom prst="line">
            <a:avLst/>
          </a:prstGeom>
          <a:noFill/>
          <a:ln w="28575">
            <a:solidFill>
              <a:srgbClr val="0B4F6C"/>
            </a:solidFill>
            <a:prstDash val="solid"/>
            <a:headEnd type="triangl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858000" y="3008376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Cat5e/Cat6, 20–50 m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Data + Power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503920" y="1417320"/>
            <a:ext cx="3230575" cy="4892040"/>
          </a:xfrm>
          <a:prstGeom prst="roundRect">
            <a:avLst>
              <a:gd name="adj" fmla="val 2830"/>
            </a:avLst>
          </a:prstGeom>
          <a:solidFill>
            <a:srgbClr val="F5F9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50528" y="126187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3" name="Text 51"/>
          <p:cNvSpPr/>
          <p:nvPr/>
        </p:nvSpPr>
        <p:spPr>
          <a:xfrm>
            <a:off x="9250528" y="12618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STATION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778240" y="1874520"/>
            <a:ext cx="2681935" cy="502920"/>
          </a:xfrm>
          <a:prstGeom prst="roundRect">
            <a:avLst>
              <a:gd name="adj" fmla="val 10909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8805672" y="1874520"/>
            <a:ext cx="262707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/ Controller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119208" y="2377440"/>
            <a:ext cx="0" cy="21031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8778240" y="2587752"/>
            <a:ext cx="2681935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 w="15875">
            <a:solidFill>
              <a:srgbClr val="0B4F6C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805672" y="2587752"/>
            <a:ext cx="26270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Laptop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+ Telemetry GUI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(depth, heading, battery, leak alerts)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10119208" y="3364992"/>
            <a:ext cx="0" cy="14630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8778240" y="3511296"/>
            <a:ext cx="2681935" cy="548640"/>
          </a:xfrm>
          <a:prstGeom prst="roundRect">
            <a:avLst>
              <a:gd name="adj" fmla="val 10000"/>
            </a:avLst>
          </a:prstGeom>
          <a:solidFill>
            <a:srgbClr val="FDEBD3"/>
          </a:solidFill>
          <a:ln w="15875">
            <a:solidFill>
              <a:srgbClr val="E8871E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8805672" y="3511296"/>
            <a:ext cx="26270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Transceiver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(MAX485)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778240" y="5650992"/>
            <a:ext cx="2681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laptop GUI both sends pilot commands down the tether and receives live sensor/video telemetry back.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6556248"/>
            <a:ext cx="3657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14400" y="6419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Sensor Data Signal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023360" y="6556248"/>
            <a:ext cx="365760" cy="0"/>
          </a:xfrm>
          <a:prstGeom prst="line">
            <a:avLst/>
          </a:prstGeom>
          <a:noFill/>
          <a:ln w="19050">
            <a:solidFill>
              <a:srgbClr val="E8871E"/>
            </a:solidFill>
            <a:prstDash val="dash"/>
          </a:ln>
        </p:spPr>
      </p:sp>
      <p:sp>
        <p:nvSpPr>
          <p:cNvPr id="66" name="Text 64"/>
          <p:cNvSpPr/>
          <p:nvPr/>
        </p:nvSpPr>
        <p:spPr>
          <a:xfrm>
            <a:off x="4480560" y="6419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Line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309360" y="6556248"/>
            <a:ext cx="365760" cy="0"/>
          </a:xfrm>
          <a:prstGeom prst="line">
            <a:avLst/>
          </a:prstGeom>
          <a:noFill/>
          <a:ln w="28575">
            <a:solidFill>
              <a:srgbClr val="0B4F6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6419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Tether Link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power-on to power-off — how the system behaves during a dive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417320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4712" y="1709928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station and drone battery are activated; kill switch engaged.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2761488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4712" y="225856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Initialisation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24712" y="255117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boots and calibrates the IMU, depth sensor, and leak sensor.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02736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309981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Handshake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4712" y="339242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link is established between surface and drone over the tether.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4443984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39410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" y="4233672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moves the joystick on the surface control station.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4828032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24712" y="478231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Transmission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24712" y="5074920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commands travel down the tether to the onboard MCU.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537960" y="1920240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1417320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Actuation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31152" y="1709928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drives the ESCs via PWM; thrusters move the drone (fwd/lateral/vertical).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230428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2761488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25856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Loop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31152" y="2551176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+ depth data feed a PID loop that auto-holds depth and orientation.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3145536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537960" y="3602736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309981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Feedback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31152" y="3392424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telemetry (depth, battery, leak) stream back to the surface GUI.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3986784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37960" y="4443984"/>
            <a:ext cx="0" cy="338328"/>
          </a:xfrm>
          <a:prstGeom prst="line">
            <a:avLst/>
          </a:prstGeom>
          <a:noFill/>
          <a:ln w="19050">
            <a:solidFill>
              <a:srgbClr val="C7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31152" y="394106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31152" y="4233672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Leak/battery faults trigger an automatic ascent to the surface.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309360" y="4828032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0" name="Text 48"/>
          <p:cNvSpPr/>
          <p:nvPr/>
        </p:nvSpPr>
        <p:spPr>
          <a:xfrm>
            <a:off x="63093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931152" y="478231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OFF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31152" y="5074920"/>
            <a:ext cx="4864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ends the session; kill switch cuts power and the drone floats up.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562356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" y="567842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SCENARIO — PIPELINE INSPECTION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drone descends to 5 m and automatically holds that depth. The operator pans the camera to inspect a submerged pipeline, then commands ascent; the drone surfaces safely and power is switched off.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Hand-Drawn Concept Sketch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— original sketch to be inserted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554480"/>
            <a:ext cx="9628632" cy="4663440"/>
          </a:xfrm>
          <a:prstGeom prst="roundRect">
            <a:avLst>
              <a:gd name="adj" fmla="val 1176"/>
            </a:avLst>
          </a:prstGeom>
          <a:solidFill>
            <a:srgbClr val="F5F9FA"/>
          </a:solidFill>
          <a:ln w="19050">
            <a:solidFill>
              <a:srgbClr val="C7DCE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280160" y="3566160"/>
            <a:ext cx="9628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hand-drawn concept sketch image here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Stands 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that differentiate this build from typical low-budget ROVs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Depth &amp; Orientation Hold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7510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+ pressure sensor feed a PID loop, so the pilot doesn't have to fight drift manually.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17336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45936" y="1591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Long-Tether Communication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5936" y="197510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RS-485 over Cat5e/Cat6 stays stable at 20–50 m, where radio-based control would fail entirely.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3580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63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Fail-Safes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478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and a positive-buoyancy hull mean the drone surfaces on its own if something goes wrong.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303580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5936" y="3163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Live Telemetry Overlay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35478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Depth, heading, battery, and leak status are shown alongside the video feed for informed piloting.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608576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Modular 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components (ESP32/Arduino, DIY-viable thrusters, 3D-printed brackets) keep cost far below commercial ROVs.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17336" y="4608576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by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45936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removable internal electronics sled lets the team reprogram or repair the drone without re-sealing the hull each time.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parts list across the submersible unit and surface station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Arduino Mega (main microcontroller)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3500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22311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MAX485 RS-485 transceiver modules (x2)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06824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16552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71416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 (orientation)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71416" y="23500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311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MS5837 depth / pressure sensor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1416" y="28072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6883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probe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71416" y="3264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3145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FPV / USB camera module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10728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waterproof brushless thrusters (or bilge-pump DIY equivalents)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5320" y="23500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22311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Electronic Speed Controllers (ESCs)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13816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3S/4S LiPo battery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" y="48646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" y="4745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 Board (PDB)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" y="5321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" y="5202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fuse + master kill switch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06824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71416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4617720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Acrylic pressure tube + dome (main hull)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71416" y="48646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4745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1/2" PVC / 3D-printed frame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71416" y="5321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5202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O-rings, cable penetrators, marine epoxy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10728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0456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TETHER &amp; SURFACE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275320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6" name="Text 44"/>
          <p:cNvSpPr/>
          <p:nvPr/>
        </p:nvSpPr>
        <p:spPr>
          <a:xfrm>
            <a:off x="8421624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 Cat5e/Cat6 tether cable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75320" y="48646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8421624" y="47457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laptop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75320" y="5321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8421624" y="5202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Joystick / controller box (Arduino-based or USB)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energy is supplied, regulated, and protected across the drone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880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5F9FA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288036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(3S / 4S)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3268980"/>
            <a:ext cx="50292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91840" y="2880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5F9FA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288036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&amp; Kill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3268980"/>
            <a:ext cx="50292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288036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0B4F6C"/>
          </a:solidFill>
          <a:ln w="15875">
            <a:solidFill>
              <a:srgbClr val="0B4F6C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08192" y="2880360"/>
            <a:ext cx="2231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(PDB)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3657600"/>
            <a:ext cx="0" cy="32004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49640" y="3977640"/>
            <a:ext cx="310896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3977640"/>
            <a:ext cx="0" cy="22860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1658600" y="3977640"/>
            <a:ext cx="0" cy="22860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80960" y="42062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08392" y="420624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Regulated Rail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MCU, IMU, Depth &amp; Leak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Camera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469880" y="420624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E7F1F6"/>
          </a:solidFill>
          <a:ln w="15875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5400000">
              <a:srgbClr val="1B2B36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497312" y="4206240"/>
            <a:ext cx="25968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11.1V / 14.8V Motor Rail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ESCs → Brushless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141732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147218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SUBMERSIBLE POWER (INSIDE THE HULL)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3S/4S LiPo battery sits inside the sealed hull, kept low in the frame for stability. Power passes through an inline fuse and a manual kill switch before reaching the PDB, which regulates and splits the supply into a 5V logic rail for the microcontroller and sensors, and a higher-voltage motor rail feeding the ESCs and thrusters directly.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5F9FA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5678424"/>
            <a:ext cx="1096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SURFACE-SIDE POWER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92531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laptop runs on its own battery or a wall adapter; the joystick / surface controller box is powered separately via USB or its own battery pack — fully decoupled from the drone's onboard power so a surface fault can never affect the submersible unit.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&amp; Technologies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firmware, protocols, and tools that bring the hardware to life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FIRMWARE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7512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 (Arduino IDE or PlatformIO)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" y="24597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813816" y="2340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ESP32 / Arduino Mega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" y="30266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" y="2907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drivers for MPU6050 &amp; MS5837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ALGORITHM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71416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stabilisation loop for depth &amp; orientation hold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71416" y="24597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40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signal generation for ESCs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71416" y="30266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907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Leak-triggered emergency ascent routine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10728" y="14173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14721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PROTOCOL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18928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17739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data over RS-485 (MAX485)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75320" y="24597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23408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custom packet framing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75320" y="30266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421624" y="29077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+ telemetry channels over one tether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CONTROL SOFTWARE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13816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(Tkinter / PyQt) desktop GUI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" y="49743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813816" y="4855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 handling via OpenCV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55412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813816" y="5422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telemetry dashboard (depth, battery, leak)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06824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6552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 TOOLS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71416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Fritzing / KiCad for circuit design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71416" y="49743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4855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for hull &amp; frame modelling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71416" y="55412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4617720" y="5422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for version control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10728" y="393192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0456" y="398678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CALIBRATION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75320" y="4407408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8421624" y="4288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calibration scripts (IMU offset, depth zero)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75320" y="4974336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0" name="Text 48"/>
          <p:cNvSpPr/>
          <p:nvPr/>
        </p:nvSpPr>
        <p:spPr>
          <a:xfrm>
            <a:off x="8421624" y="48554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+ pool test logging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75320" y="5541264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8421624" y="542239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/ logic analyser for debugging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Budget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breakdown (LKR)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955280" cy="489204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  <a:gridCol w="1737360"/>
                <a:gridCol w="1737360"/>
              </a:tblGrid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(LKR)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(LKR)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/ Arduino Mega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Waterproof brushless thrusters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Speed Controllers (ESC)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IMU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MS5837 depth / pressure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FPV / USB camera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battery (3S/4S)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Distribution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RS-485 (MAX485) modules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Cat5e/Cat6 tether cable (30 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hull tube &amp; dome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PVC frame &amp; 3D-printed brackets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O-rings, epoxy, cable glands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Fuses, kill switch &amp; wiring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/ controller box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(~10%)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417320"/>
            <a:ext cx="2999232" cy="2286000"/>
          </a:xfrm>
          <a:prstGeom prst="roundRect">
            <a:avLst>
              <a:gd name="adj" fmla="val 3200"/>
            </a:avLst>
          </a:prstGeom>
          <a:solidFill>
            <a:srgbClr val="0B4F6C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96528" y="147218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0" y="187452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LKR 97,750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823960" y="2560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cost for one full prototype build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686800" y="3931920"/>
            <a:ext cx="2999232" cy="2377440"/>
          </a:xfrm>
          <a:prstGeom prst="roundRect">
            <a:avLst>
              <a:gd name="adj" fmla="val 3077"/>
            </a:avLst>
          </a:prstGeom>
          <a:solidFill>
            <a:srgbClr val="EAF3F6"/>
          </a:solidFill>
          <a:ln w="12700">
            <a:solidFill>
              <a:srgbClr val="C7DC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96528" y="398678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NOTES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887968" y="4279392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Prices are indicative market estimates and may vary by supplier.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Thrusters can be substituted with DIY bilge-pump conversions to reduce cost.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Contingency covers shipping, rework, and spares.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10-month development plan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63240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22776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22776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82312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41848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41848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01384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0456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79992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39528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39528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99064" y="122529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799064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58600" y="1554480"/>
            <a:ext cx="0" cy="4535424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55448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Requirements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063240" y="1554480"/>
            <a:ext cx="859536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090672" y="1664208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212140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Procurement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50208" y="223113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68833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 Fabrication &amp; Waterproofing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063240" y="2688336"/>
            <a:ext cx="859536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9744" y="2798064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255264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 (power, propulsion, sensors)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3364992"/>
            <a:ext cx="2523744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82219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&amp; Stabilisation (PID)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63240" y="3822192"/>
            <a:ext cx="859536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38" name="Shape 36"/>
          <p:cNvSpPr/>
          <p:nvPr/>
        </p:nvSpPr>
        <p:spPr>
          <a:xfrm>
            <a:off x="6528816" y="3931920"/>
            <a:ext cx="2523744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438912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Surface GUI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88352" y="4498848"/>
            <a:ext cx="2523744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495604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Calibration &amp; Pool Trials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063240" y="4956048"/>
            <a:ext cx="8595360" cy="566928"/>
          </a:xfrm>
          <a:prstGeom prst="rect">
            <a:avLst/>
          </a:prstGeom>
          <a:solidFill>
            <a:srgbClr val="F5F9FA"/>
          </a:solidFill>
          <a:ln/>
        </p:spPr>
      </p:sp>
      <p:sp>
        <p:nvSpPr>
          <p:cNvPr id="43" name="Shape 41"/>
          <p:cNvSpPr/>
          <p:nvPr/>
        </p:nvSpPr>
        <p:spPr>
          <a:xfrm>
            <a:off x="9107424" y="506577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55229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Presentation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966960" y="5632704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46" name="Shape 44"/>
          <p:cNvSpPr/>
          <p:nvPr/>
        </p:nvSpPr>
        <p:spPr>
          <a:xfrm>
            <a:off x="3063240" y="1554480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2121408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63240" y="2688336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63240" y="3255264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63240" y="3822192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63240" y="4389120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63240" y="4956048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5522976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63240" y="6089904"/>
            <a:ext cx="859536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02920" y="1554480"/>
            <a:ext cx="1115568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2920" y="6089904"/>
            <a:ext cx="11155680" cy="0"/>
          </a:xfrm>
          <a:prstGeom prst="line">
            <a:avLst/>
          </a:prstGeom>
          <a:noFill/>
          <a:ln w="9525">
            <a:solidFill>
              <a:srgbClr val="C7DC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6318504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documentation phases overlap deliberately with development to surface integration issues early.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a role, at least one sensor, and a set of hardware modules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11457432" cy="4480560"/>
        </p:xfrm>
        <a:graphic>
          <a:graphicData uri="http://schemas.openxmlformats.org/drawingml/2006/table">
            <a:tbl>
              <a:tblPr/>
              <a:tblGrid>
                <a:gridCol w="2148840"/>
                <a:gridCol w="1005840"/>
                <a:gridCol w="2286000"/>
                <a:gridCol w="3364992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Modules Owned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Owned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254037B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Design &amp; Waterproofing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Hull tube, frame, buoyancy/ballast, cable penetrators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 Detection Sensor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254048J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Propulsion &amp; Power Electronics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battery, PDB, ESCs, thrusters, fuse &amp; kill switch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Voltage/Current Sensor (INA219)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255078H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Coding &amp; Stabilisation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 (ESP32/Arduino Mega), firmware, PID loop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(MPU6050)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254101R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&amp; Video (Tether)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RS-485 modules, tether cable, strain relief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(FPV/USB video sensor)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255027D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Station &amp; UI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 controller, surface Arduino/laptop GUI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Depth/Pressure Sensor (MS5837) — calibration &amp; live readout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6053328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is directly responsible for at least one onboard sensor and its integration with the IoT/hardware stack.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consulted during research and design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Buddies. (n.d.). Build an underwater robot (ROV). Science Buddies. https://www.sciencebuddies.org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2140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Robotics. (n.d.). T200 thruster documentation. Blue Robotics. https://bluerobotics.com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88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6883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Robotics. (n.d.). MS5837 pressure/depth sensor datasheet. Blue Robotics. https://bluerobotics.com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Arduino. (n.d.). Choosing a microcontroller for robotics projects. Arduino Blog. https://blog.arduino.cc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22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8221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Zbotic. (n.d.). DIY underwater ROV component guide. Zbotic. https://zbotic.in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389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Instructables. (n.d.). Building a surface control station for ROVs. Instructables. https://www.instructables.com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956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 Integrated / Analog Devices. (n.d.). MAX485 RS-485 transceiver datasheet.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552297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52297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InvenSense / TDK. (n.d.). MPU6050 six-axis IMU datasheet.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480560" y="4206240"/>
            <a:ext cx="3227832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348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AquaScout — B25 FIT Level 01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2026-07-11T04:41:42Z</dcterms:created>
  <dcterms:modified xsi:type="dcterms:W3CDTF">2026-07-11T04:41:42Z</dcterms:modified>
</cp:coreProperties>
</file>